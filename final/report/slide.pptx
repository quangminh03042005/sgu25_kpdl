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9"/>
  </p:notesMasterIdLst>
  <p:sldIdLst>
    <p:sldId id="256" r:id="rId2"/>
    <p:sldId id="258" r:id="rId3"/>
    <p:sldId id="260" r:id="rId4"/>
    <p:sldId id="304" r:id="rId5"/>
    <p:sldId id="305" r:id="rId6"/>
    <p:sldId id="306" r:id="rId7"/>
    <p:sldId id="308" r:id="rId8"/>
    <p:sldId id="309" r:id="rId9"/>
    <p:sldId id="307" r:id="rId10"/>
    <p:sldId id="312" r:id="rId11"/>
    <p:sldId id="313" r:id="rId12"/>
    <p:sldId id="314" r:id="rId13"/>
    <p:sldId id="311" r:id="rId14"/>
    <p:sldId id="315" r:id="rId15"/>
    <p:sldId id="327" r:id="rId16"/>
    <p:sldId id="328" r:id="rId17"/>
    <p:sldId id="317" r:id="rId18"/>
    <p:sldId id="318" r:id="rId19"/>
    <p:sldId id="319" r:id="rId20"/>
    <p:sldId id="320" r:id="rId21"/>
    <p:sldId id="321" r:id="rId22"/>
    <p:sldId id="322" r:id="rId23"/>
    <p:sldId id="323" r:id="rId24"/>
    <p:sldId id="324" r:id="rId25"/>
    <p:sldId id="325" r:id="rId26"/>
    <p:sldId id="280" r:id="rId27"/>
    <p:sldId id="326" r:id="rId28"/>
  </p:sldIdLst>
  <p:sldSz cx="9144000" cy="5143500" type="screen16x9"/>
  <p:notesSz cx="6858000" cy="9144000"/>
  <p:embeddedFontLst>
    <p:embeddedFont>
      <p:font typeface="Bebas Neue" panose="020B0604020202020204" charset="0"/>
      <p:regular r:id="rId30"/>
    </p:embeddedFont>
    <p:embeddedFont>
      <p:font typeface="Mulish" panose="020B0604020202020204" charset="0"/>
      <p:regular r:id="rId31"/>
      <p:bold r:id="rId32"/>
      <p:italic r:id="rId33"/>
      <p:boldItalic r:id="rId34"/>
    </p:embeddedFont>
    <p:embeddedFont>
      <p:font typeface="Quicksand" panose="020B0604020202020204" charset="0"/>
      <p:regular r:id="rId35"/>
      <p:bold r:id="rId36"/>
    </p:embeddedFont>
    <p:embeddedFont>
      <p:font typeface="The Serif Hand Light" panose="03070302030502020204" pitchFamily="66" charset="0"/>
      <p:regular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3F3389-5C36-44B8-A13D-955918D0DD01}">
  <a:tblStyle styleId="{AE3F3389-5C36-44B8-A13D-955918D0DD0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5" autoAdjust="0"/>
    <p:restoredTop sz="94660"/>
  </p:normalViewPr>
  <p:slideViewPr>
    <p:cSldViewPr snapToGrid="0">
      <p:cViewPr varScale="1">
        <p:scale>
          <a:sx n="107" d="100"/>
          <a:sy n="107" d="100"/>
        </p:scale>
        <p:origin x="90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9533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4907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4570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8691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3544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4559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3515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5619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4946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1938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6797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3309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4572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9235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9380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7684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2133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93209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900035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6801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8239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68802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990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09200" y="1424875"/>
            <a:ext cx="5925600" cy="2079300"/>
          </a:xfrm>
          <a:prstGeom prst="rect">
            <a:avLst/>
          </a:prstGeom>
          <a:noFill/>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7200" b="0">
                <a:latin typeface="Times New Roman" panose="02020603050405020304" pitchFamily="18" charset="0"/>
                <a:cs typeface="Times New Roman" panose="02020603050405020304" pitchFamily="18"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dirty="0"/>
          </a:p>
        </p:txBody>
      </p:sp>
      <p:sp>
        <p:nvSpPr>
          <p:cNvPr id="12" name="Google Shape;12;p2"/>
          <p:cNvSpPr txBox="1">
            <a:spLocks noGrp="1"/>
          </p:cNvSpPr>
          <p:nvPr>
            <p:ph type="subTitle" idx="1"/>
          </p:nvPr>
        </p:nvSpPr>
        <p:spPr>
          <a:xfrm>
            <a:off x="1609200" y="3573775"/>
            <a:ext cx="59427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latin typeface="Times New Roman" panose="02020603050405020304" pitchFamily="18" charset="0"/>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79" name="Google Shape;79;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atin typeface="Times New Roman" panose="02020603050405020304" pitchFamily="18" charset="0"/>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5"/>
        <p:cNvGrpSpPr/>
        <p:nvPr/>
      </p:nvGrpSpPr>
      <p:grpSpPr>
        <a:xfrm>
          <a:off x="0" y="0"/>
          <a:ext cx="0" cy="0"/>
          <a:chOff x="0" y="0"/>
          <a:chExt cx="0" cy="0"/>
        </a:xfrm>
      </p:grpSpPr>
      <p:sp>
        <p:nvSpPr>
          <p:cNvPr id="96" name="Google Shape;96;p1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98" name="Google Shape;98;p13"/>
          <p:cNvSpPr txBox="1">
            <a:spLocks noGrp="1"/>
          </p:cNvSpPr>
          <p:nvPr>
            <p:ph type="subTitle" idx="1"/>
          </p:nvPr>
        </p:nvSpPr>
        <p:spPr>
          <a:xfrm>
            <a:off x="713225" y="20181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99" name="Google Shape;99;p13"/>
          <p:cNvSpPr txBox="1">
            <a:spLocks noGrp="1"/>
          </p:cNvSpPr>
          <p:nvPr>
            <p:ph type="subTitle" idx="2"/>
          </p:nvPr>
        </p:nvSpPr>
        <p:spPr>
          <a:xfrm>
            <a:off x="713225" y="3870728"/>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100" name="Google Shape;100;p13"/>
          <p:cNvSpPr txBox="1">
            <a:spLocks noGrp="1"/>
          </p:cNvSpPr>
          <p:nvPr>
            <p:ph type="subTitle" idx="3"/>
          </p:nvPr>
        </p:nvSpPr>
        <p:spPr>
          <a:xfrm>
            <a:off x="3359125"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101" name="Google Shape;101;p13"/>
          <p:cNvSpPr txBox="1">
            <a:spLocks noGrp="1"/>
          </p:cNvSpPr>
          <p:nvPr>
            <p:ph type="subTitle" idx="4"/>
          </p:nvPr>
        </p:nvSpPr>
        <p:spPr>
          <a:xfrm>
            <a:off x="3359125"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102" name="Google Shape;102;p13"/>
          <p:cNvSpPr txBox="1">
            <a:spLocks noGrp="1"/>
          </p:cNvSpPr>
          <p:nvPr>
            <p:ph type="title" idx="5" hasCustomPrompt="1"/>
          </p:nvPr>
        </p:nvSpPr>
        <p:spPr>
          <a:xfrm>
            <a:off x="713225" y="1141288"/>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103" name="Google Shape;103;p13"/>
          <p:cNvSpPr txBox="1">
            <a:spLocks noGrp="1"/>
          </p:cNvSpPr>
          <p:nvPr>
            <p:ph type="title" idx="6" hasCustomPrompt="1"/>
          </p:nvPr>
        </p:nvSpPr>
        <p:spPr>
          <a:xfrm>
            <a:off x="33591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104" name="Google Shape;104;p13"/>
          <p:cNvSpPr txBox="1">
            <a:spLocks noGrp="1"/>
          </p:cNvSpPr>
          <p:nvPr>
            <p:ph type="title" idx="7" hasCustomPrompt="1"/>
          </p:nvPr>
        </p:nvSpPr>
        <p:spPr>
          <a:xfrm>
            <a:off x="7132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105" name="Google Shape;105;p13"/>
          <p:cNvSpPr txBox="1">
            <a:spLocks noGrp="1"/>
          </p:cNvSpPr>
          <p:nvPr>
            <p:ph type="title" idx="8" hasCustomPrompt="1"/>
          </p:nvPr>
        </p:nvSpPr>
        <p:spPr>
          <a:xfrm>
            <a:off x="3359125"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106" name="Google Shape;106;p13"/>
          <p:cNvSpPr txBox="1">
            <a:spLocks noGrp="1"/>
          </p:cNvSpPr>
          <p:nvPr>
            <p:ph type="subTitle" idx="9"/>
          </p:nvPr>
        </p:nvSpPr>
        <p:spPr>
          <a:xfrm>
            <a:off x="5997638"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107" name="Google Shape;107;p13"/>
          <p:cNvSpPr txBox="1">
            <a:spLocks noGrp="1"/>
          </p:cNvSpPr>
          <p:nvPr>
            <p:ph type="subTitle" idx="13"/>
          </p:nvPr>
        </p:nvSpPr>
        <p:spPr>
          <a:xfrm>
            <a:off x="5997638"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108" name="Google Shape;108;p13"/>
          <p:cNvSpPr txBox="1">
            <a:spLocks noGrp="1"/>
          </p:cNvSpPr>
          <p:nvPr>
            <p:ph type="title" idx="14" hasCustomPrompt="1"/>
          </p:nvPr>
        </p:nvSpPr>
        <p:spPr>
          <a:xfrm>
            <a:off x="5997638"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109" name="Google Shape;109;p13"/>
          <p:cNvSpPr txBox="1">
            <a:spLocks noGrp="1"/>
          </p:cNvSpPr>
          <p:nvPr>
            <p:ph type="title" idx="15" hasCustomPrompt="1"/>
          </p:nvPr>
        </p:nvSpPr>
        <p:spPr>
          <a:xfrm>
            <a:off x="5997638"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110" name="Google Shape;110;p13"/>
          <p:cNvSpPr txBox="1">
            <a:spLocks noGrp="1"/>
          </p:cNvSpPr>
          <p:nvPr>
            <p:ph type="subTitle" idx="16"/>
          </p:nvPr>
        </p:nvSpPr>
        <p:spPr>
          <a:xfrm>
            <a:off x="7132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111" name="Google Shape;111;p13"/>
          <p:cNvSpPr txBox="1">
            <a:spLocks noGrp="1"/>
          </p:cNvSpPr>
          <p:nvPr>
            <p:ph type="subTitle" idx="17"/>
          </p:nvPr>
        </p:nvSpPr>
        <p:spPr>
          <a:xfrm>
            <a:off x="713225" y="3447136"/>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112" name="Google Shape;112;p13"/>
          <p:cNvSpPr txBox="1">
            <a:spLocks noGrp="1"/>
          </p:cNvSpPr>
          <p:nvPr>
            <p:ph type="subTitle" idx="18"/>
          </p:nvPr>
        </p:nvSpPr>
        <p:spPr>
          <a:xfrm>
            <a:off x="3359125"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113" name="Google Shape;113;p13"/>
          <p:cNvSpPr txBox="1">
            <a:spLocks noGrp="1"/>
          </p:cNvSpPr>
          <p:nvPr>
            <p:ph type="subTitle" idx="19"/>
          </p:nvPr>
        </p:nvSpPr>
        <p:spPr>
          <a:xfrm>
            <a:off x="33591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114" name="Google Shape;114;p13"/>
          <p:cNvSpPr txBox="1">
            <a:spLocks noGrp="1"/>
          </p:cNvSpPr>
          <p:nvPr>
            <p:ph type="subTitle" idx="20"/>
          </p:nvPr>
        </p:nvSpPr>
        <p:spPr>
          <a:xfrm>
            <a:off x="5997638"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115" name="Google Shape;115;p13"/>
          <p:cNvSpPr txBox="1">
            <a:spLocks noGrp="1"/>
          </p:cNvSpPr>
          <p:nvPr>
            <p:ph type="subTitle" idx="21"/>
          </p:nvPr>
        </p:nvSpPr>
        <p:spPr>
          <a:xfrm>
            <a:off x="5997638"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cxnSp>
        <p:nvCxnSpPr>
          <p:cNvPr id="116" name="Google Shape;116;p1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17" name="Google Shape;117;p1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8" name="Google Shape;118;p1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19" name="Google Shape;119;p1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0" name="Google Shape;120;p1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21" name="Google Shape;121;p1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18"/>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71" name="Google Shape;171;p18"/>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18"/>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73" name="Google Shape;173;p18"/>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74" name="Google Shape;174;p1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75" name="Google Shape;175;p18"/>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76" name="Google Shape;1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177" name="Google Shape;177;p18"/>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dirty="0"/>
          </a:p>
        </p:txBody>
      </p:sp>
      <p:sp>
        <p:nvSpPr>
          <p:cNvPr id="178" name="Google Shape;178;p18"/>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dirty="0"/>
          </a:p>
        </p:txBody>
      </p:sp>
      <p:sp>
        <p:nvSpPr>
          <p:cNvPr id="179" name="Google Shape;179;p18"/>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atin typeface="Times New Roman" panose="02020603050405020304" pitchFamily="18" charset="0"/>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dirty="0"/>
          </a:p>
        </p:txBody>
      </p:sp>
      <p:sp>
        <p:nvSpPr>
          <p:cNvPr id="180" name="Google Shape;180;p18"/>
          <p:cNvSpPr txBox="1">
            <a:spLocks noGrp="1"/>
          </p:cNvSpPr>
          <p:nvPr>
            <p:ph type="subTitle" idx="4"/>
          </p:nvPr>
        </p:nvSpPr>
        <p:spPr>
          <a:xfrm>
            <a:off x="720025" y="1241274"/>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181" name="Google Shape;181;p18"/>
          <p:cNvSpPr txBox="1">
            <a:spLocks noGrp="1"/>
          </p:cNvSpPr>
          <p:nvPr>
            <p:ph type="subTitle" idx="5"/>
          </p:nvPr>
        </p:nvSpPr>
        <p:spPr>
          <a:xfrm>
            <a:off x="720025" y="23501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182" name="Google Shape;182;p18"/>
          <p:cNvSpPr txBox="1">
            <a:spLocks noGrp="1"/>
          </p:cNvSpPr>
          <p:nvPr>
            <p:ph type="subTitle" idx="6"/>
          </p:nvPr>
        </p:nvSpPr>
        <p:spPr>
          <a:xfrm>
            <a:off x="720025" y="34706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98"/>
        <p:cNvGrpSpPr/>
        <p:nvPr/>
      </p:nvGrpSpPr>
      <p:grpSpPr>
        <a:xfrm>
          <a:off x="0" y="0"/>
          <a:ext cx="0" cy="0"/>
          <a:chOff x="0" y="0"/>
          <a:chExt cx="0" cy="0"/>
        </a:xfrm>
      </p:grpSpPr>
      <p:sp>
        <p:nvSpPr>
          <p:cNvPr id="199" name="Google Shape;199;p20"/>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 name="Google Shape;200;p20"/>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01" name="Google Shape;201;p20"/>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2" name="Google Shape;202;p20"/>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03" name="Google Shape;203;p20"/>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04" name="Google Shape;204;p20"/>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205" name="Google Shape;205;p20"/>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206" name="Google Shape;206;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atin typeface="Times New Roman" panose="02020603050405020304" pitchFamily="18" charset="0"/>
                <a:cs typeface="Times New Roman" panose="02020603050405020304" pitchFamily="18"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207" name="Google Shape;207;p20"/>
          <p:cNvSpPr txBox="1">
            <a:spLocks noGrp="1"/>
          </p:cNvSpPr>
          <p:nvPr>
            <p:ph type="subTitle" idx="1"/>
          </p:nvPr>
        </p:nvSpPr>
        <p:spPr>
          <a:xfrm>
            <a:off x="1545775" y="1975263"/>
            <a:ext cx="2556900" cy="91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208" name="Google Shape;208;p20"/>
          <p:cNvSpPr txBox="1">
            <a:spLocks noGrp="1"/>
          </p:cNvSpPr>
          <p:nvPr>
            <p:ph type="subTitle" idx="2"/>
          </p:nvPr>
        </p:nvSpPr>
        <p:spPr>
          <a:xfrm>
            <a:off x="5041325" y="1975263"/>
            <a:ext cx="2556900" cy="91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209" name="Google Shape;209;p20"/>
          <p:cNvSpPr txBox="1">
            <a:spLocks noGrp="1"/>
          </p:cNvSpPr>
          <p:nvPr>
            <p:ph type="subTitle" idx="3"/>
          </p:nvPr>
        </p:nvSpPr>
        <p:spPr>
          <a:xfrm>
            <a:off x="1545775" y="3691500"/>
            <a:ext cx="2556900" cy="91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210" name="Google Shape;210;p20"/>
          <p:cNvSpPr txBox="1">
            <a:spLocks noGrp="1"/>
          </p:cNvSpPr>
          <p:nvPr>
            <p:ph type="subTitle" idx="4"/>
          </p:nvPr>
        </p:nvSpPr>
        <p:spPr>
          <a:xfrm>
            <a:off x="5041325" y="3691500"/>
            <a:ext cx="2556900" cy="91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atin typeface="Times New Roman" panose="02020603050405020304" pitchFamily="18" charset="0"/>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dirty="0"/>
          </a:p>
        </p:txBody>
      </p:sp>
      <p:sp>
        <p:nvSpPr>
          <p:cNvPr id="211" name="Google Shape;211;p20"/>
          <p:cNvSpPr txBox="1">
            <a:spLocks noGrp="1"/>
          </p:cNvSpPr>
          <p:nvPr>
            <p:ph type="subTitle" idx="5"/>
          </p:nvPr>
        </p:nvSpPr>
        <p:spPr>
          <a:xfrm>
            <a:off x="1545775" y="1670463"/>
            <a:ext cx="2556900" cy="354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Bebas Neue"/>
              <a:buNone/>
              <a:defRPr sz="2000" b="1">
                <a:solidFill>
                  <a:schemeClr val="dk2"/>
                </a:solidFill>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212" name="Google Shape;212;p20"/>
          <p:cNvSpPr txBox="1">
            <a:spLocks noGrp="1"/>
          </p:cNvSpPr>
          <p:nvPr>
            <p:ph type="subTitle" idx="6"/>
          </p:nvPr>
        </p:nvSpPr>
        <p:spPr>
          <a:xfrm>
            <a:off x="5041325" y="1670463"/>
            <a:ext cx="2556900" cy="354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Bebas Neue"/>
              <a:buNone/>
              <a:defRPr sz="2000" b="1">
                <a:solidFill>
                  <a:schemeClr val="dk2"/>
                </a:solidFill>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213" name="Google Shape;213;p20"/>
          <p:cNvSpPr txBox="1">
            <a:spLocks noGrp="1"/>
          </p:cNvSpPr>
          <p:nvPr>
            <p:ph type="subTitle" idx="7"/>
          </p:nvPr>
        </p:nvSpPr>
        <p:spPr>
          <a:xfrm>
            <a:off x="1545775" y="3386700"/>
            <a:ext cx="2556900" cy="354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Bebas Neue"/>
              <a:buNone/>
              <a:defRPr sz="2000" b="1">
                <a:solidFill>
                  <a:schemeClr val="dk2"/>
                </a:solidFill>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
        <p:nvSpPr>
          <p:cNvPr id="214" name="Google Shape;214;p20"/>
          <p:cNvSpPr txBox="1">
            <a:spLocks noGrp="1"/>
          </p:cNvSpPr>
          <p:nvPr>
            <p:ph type="subTitle" idx="8"/>
          </p:nvPr>
        </p:nvSpPr>
        <p:spPr>
          <a:xfrm>
            <a:off x="5041325" y="3386700"/>
            <a:ext cx="2556900" cy="354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Bebas Neue"/>
              <a:buNone/>
              <a:defRPr sz="2000" b="1">
                <a:solidFill>
                  <a:schemeClr val="dk2"/>
                </a:solidFill>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62" name="Google Shape;262;p2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63" name="Google Shape;263;p2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4" name="Google Shape;264;p2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65" name="Google Shape;265;p2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66" name="Google Shape;266;p24"/>
          <p:cNvSpPr txBox="1">
            <a:spLocks noGrp="1"/>
          </p:cNvSpPr>
          <p:nvPr>
            <p:ph type="sldNum" idx="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lt1"/>
                </a:solidFill>
              </a:defRPr>
            </a:lvl1pPr>
            <a:lvl2pPr lvl="1" algn="ctr" rtl="0">
              <a:buNone/>
              <a:defRPr>
                <a:solidFill>
                  <a:schemeClr val="lt1"/>
                </a:solidFill>
              </a:defRPr>
            </a:lvl2pPr>
            <a:lvl3pPr lvl="2" algn="ctr" rtl="0">
              <a:buNone/>
              <a:defRPr>
                <a:solidFill>
                  <a:schemeClr val="lt1"/>
                </a:solidFill>
              </a:defRPr>
            </a:lvl3pPr>
            <a:lvl4pPr lvl="3" algn="ctr" rtl="0">
              <a:buNone/>
              <a:defRPr>
                <a:solidFill>
                  <a:schemeClr val="lt1"/>
                </a:solidFill>
              </a:defRPr>
            </a:lvl4pPr>
            <a:lvl5pPr lvl="4" algn="ctr" rtl="0">
              <a:buNone/>
              <a:defRPr>
                <a:solidFill>
                  <a:schemeClr val="lt1"/>
                </a:solidFill>
              </a:defRPr>
            </a:lvl5pPr>
            <a:lvl6pPr lvl="5" algn="ctr" rtl="0">
              <a:buNone/>
              <a:defRPr>
                <a:solidFill>
                  <a:schemeClr val="lt1"/>
                </a:solidFill>
              </a:defRPr>
            </a:lvl6pPr>
            <a:lvl7pPr lvl="6" algn="ctr" rtl="0">
              <a:buNone/>
              <a:defRPr>
                <a:solidFill>
                  <a:schemeClr val="lt1"/>
                </a:solidFill>
              </a:defRPr>
            </a:lvl7pPr>
            <a:lvl8pPr lvl="7" algn="ctr" rtl="0">
              <a:buNone/>
              <a:defRPr>
                <a:solidFill>
                  <a:schemeClr val="lt1"/>
                </a:solidFill>
              </a:defRPr>
            </a:lvl8pPr>
            <a:lvl9pPr lvl="8" algn="ctr" rtl="0">
              <a:buNone/>
              <a:defRPr>
                <a:solidFill>
                  <a:schemeClr val="lt1"/>
                </a:solidFill>
              </a:defRPr>
            </a:lvl9pPr>
          </a:lstStyle>
          <a:p>
            <a:pPr marL="0" lvl="0" indent="0" algn="ctr" rtl="0">
              <a:spcBef>
                <a:spcPts val="0"/>
              </a:spcBef>
              <a:spcAft>
                <a:spcPts val="0"/>
              </a:spcAft>
              <a:buNone/>
            </a:pPr>
            <a:fld id="{00000000-1234-1234-1234-123412341234}" type="slidenum">
              <a:rPr lang="en"/>
              <a:t>‹#›</a:t>
            </a:fld>
            <a:endParaRPr/>
          </a:p>
        </p:txBody>
      </p:sp>
      <p:cxnSp>
        <p:nvCxnSpPr>
          <p:cNvPr id="267" name="Google Shape;267;p2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68"/>
        <p:cNvGrpSpPr/>
        <p:nvPr/>
      </p:nvGrpSpPr>
      <p:grpSpPr>
        <a:xfrm>
          <a:off x="0" y="0"/>
          <a:ext cx="0" cy="0"/>
          <a:chOff x="0" y="0"/>
          <a:chExt cx="0" cy="0"/>
        </a:xfrm>
      </p:grpSpPr>
      <p:sp>
        <p:nvSpPr>
          <p:cNvPr id="269" name="Google Shape;26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70" name="Google Shape;270;p2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72" name="Google Shape;272;p2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2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74" name="Google Shape;274;p25"/>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dirty="0"/>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dirty="0"/>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fld id="{00000000-1234-1234-1234-123412341234}" type="slidenum">
              <a:rPr lang="en" smtClean="0"/>
              <a:pPr/>
              <a:t>‹#›</a:t>
            </a:fld>
            <a:endParaRPr lang="en" dirty="0"/>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9" r:id="rId3"/>
    <p:sldLayoutId id="2147483664" r:id="rId4"/>
    <p:sldLayoutId id="2147483666" r:id="rId5"/>
    <p:sldLayoutId id="2147483670" r:id="rId6"/>
    <p:sldLayoutId id="2147483671"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he Serif Hand Light" panose="020B0604020202020204" pitchFamily="66" charset="0"/>
          <a:ea typeface="The Serif Hand Light" panose="020B0604020202020204" pitchFamily="66"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1600599" y="214744"/>
            <a:ext cx="5925600" cy="207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2000" dirty="0">
                <a:solidFill>
                  <a:schemeClr val="dk2"/>
                </a:solidFill>
                <a:latin typeface="+mj-lt"/>
              </a:rPr>
              <a:t>KHAI PHÁ DỮ LIỆU TUYỂN DỤNG LINKEDIN</a:t>
            </a:r>
            <a:br>
              <a:rPr lang="vi-VN" sz="2000" dirty="0">
                <a:solidFill>
                  <a:schemeClr val="dk2"/>
                </a:solidFill>
                <a:latin typeface="+mj-lt"/>
              </a:rPr>
            </a:br>
            <a:br>
              <a:rPr lang="en-US" sz="2000" dirty="0">
                <a:solidFill>
                  <a:schemeClr val="dk2"/>
                </a:solidFill>
                <a:latin typeface="+mj-lt"/>
              </a:rPr>
            </a:br>
            <a:r>
              <a:rPr lang="vi-VN" sz="2000" dirty="0">
                <a:solidFill>
                  <a:schemeClr val="dk2"/>
                </a:solidFill>
                <a:latin typeface="+mj-lt"/>
              </a:rPr>
              <a:t>PHÂN TÍCH CẤU TRÚC MÔ TẢ CÔNG VIỆC, KỸ NĂNG VÀ MỨC LƯƠNG</a:t>
            </a:r>
            <a:endParaRPr sz="2000" dirty="0">
              <a:solidFill>
                <a:schemeClr val="dk2"/>
              </a:solidFill>
              <a:latin typeface="+mj-lt"/>
            </a:endParaRPr>
          </a:p>
        </p:txBody>
      </p:sp>
      <p:sp>
        <p:nvSpPr>
          <p:cNvPr id="286" name="Google Shape;286;p29"/>
          <p:cNvSpPr txBox="1">
            <a:spLocks noGrp="1"/>
          </p:cNvSpPr>
          <p:nvPr>
            <p:ph type="subTitle" idx="1"/>
          </p:nvPr>
        </p:nvSpPr>
        <p:spPr>
          <a:xfrm>
            <a:off x="1583498" y="2575489"/>
            <a:ext cx="6807595" cy="16936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Sinh</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viên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thực</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hiện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Giảng</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viên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hướng</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dẫn</a:t>
            </a:r>
            <a:r>
              <a:rPr lang="en-US" sz="1200" b="1" dirty="0">
                <a:latin typeface="Times New Roman" panose="02020603050405020304" pitchFamily="18" charset="0"/>
                <a:cs typeface="Times New Roman" panose="02020603050405020304" pitchFamily="18" charset="0"/>
              </a:rPr>
              <a:t>: </a:t>
            </a:r>
          </a:p>
          <a:p>
            <a:pPr marL="0" lvl="0" indent="0" algn="l" rtl="0">
              <a:spcBef>
                <a:spcPts val="0"/>
              </a:spcBef>
              <a:spcAft>
                <a:spcPts val="0"/>
              </a:spcAft>
              <a:buNone/>
            </a:pPr>
            <a:r>
              <a:rPr lang="en-US" sz="1200" b="1" dirty="0">
                <a:latin typeface="Times New Roman" panose="02020603050405020304" pitchFamily="18" charset="0"/>
                <a:cs typeface="Times New Roman" panose="02020603050405020304" pitchFamily="18" charset="0"/>
              </a:rPr>
              <a:t>	</a:t>
            </a:r>
            <a:r>
              <a:rPr lang="vi-VN" sz="1200" b="1" dirty="0">
                <a:latin typeface="Times New Roman" panose="02020603050405020304" pitchFamily="18" charset="0"/>
                <a:cs typeface="Times New Roman" panose="02020603050405020304" pitchFamily="18" charset="0"/>
              </a:rPr>
              <a:t>Đinh Quang Minh (3123580024)</a:t>
            </a:r>
            <a:r>
              <a:rPr lang="en-US" sz="1200" b="1" dirty="0">
                <a:latin typeface="Times New Roman" panose="02020603050405020304" pitchFamily="18" charset="0"/>
                <a:cs typeface="Times New Roman" panose="02020603050405020304" pitchFamily="18" charset="0"/>
              </a:rPr>
              <a:t>			</a:t>
            </a:r>
            <a:r>
              <a:rPr lang="vi-VN" sz="1200" b="1" i="1" dirty="0">
                <a:latin typeface="Times New Roman" panose="02020603050405020304" pitchFamily="18" charset="0"/>
                <a:cs typeface="Times New Roman" panose="02020603050405020304" pitchFamily="18" charset="0"/>
              </a:rPr>
              <a:t>TS. Đỗ Như Tài</a:t>
            </a:r>
          </a:p>
          <a:p>
            <a:pPr marL="0" lvl="0" indent="0" algn="l" rtl="0">
              <a:spcBef>
                <a:spcPts val="0"/>
              </a:spcBef>
              <a:spcAft>
                <a:spcPts val="0"/>
              </a:spcAft>
              <a:buNone/>
            </a:pPr>
            <a:r>
              <a:rPr lang="en-US" sz="1200" b="1" dirty="0">
                <a:latin typeface="Times New Roman" panose="02020603050405020304" pitchFamily="18" charset="0"/>
                <a:cs typeface="Times New Roman" panose="02020603050405020304" pitchFamily="18" charset="0"/>
              </a:rPr>
              <a:t>	L</a:t>
            </a:r>
            <a:r>
              <a:rPr lang="vi-VN" sz="1200" b="1" dirty="0">
                <a:latin typeface="Times New Roman" panose="02020603050405020304" pitchFamily="18" charset="0"/>
                <a:cs typeface="Times New Roman" panose="02020603050405020304" pitchFamily="18" charset="0"/>
              </a:rPr>
              <a:t>ê Thành Duy (3123580007)</a:t>
            </a:r>
          </a:p>
          <a:p>
            <a:pPr marL="0" lvl="0" indent="0" algn="l" rtl="0">
              <a:spcBef>
                <a:spcPts val="0"/>
              </a:spcBef>
              <a:spcAft>
                <a:spcPts val="0"/>
              </a:spcAft>
              <a:buNone/>
            </a:pPr>
            <a:r>
              <a:rPr lang="en-US" sz="1200" b="1" dirty="0">
                <a:latin typeface="Times New Roman" panose="02020603050405020304" pitchFamily="18" charset="0"/>
                <a:cs typeface="Times New Roman" panose="02020603050405020304" pitchFamily="18" charset="0"/>
              </a:rPr>
              <a:t>	</a:t>
            </a:r>
            <a:r>
              <a:rPr lang="vi-VN" sz="1200" b="1" dirty="0">
                <a:latin typeface="Times New Roman" panose="02020603050405020304" pitchFamily="18" charset="0"/>
                <a:cs typeface="Times New Roman" panose="02020603050405020304" pitchFamily="18" charset="0"/>
              </a:rPr>
              <a:t>Dương Tấn Cường (3123580004)</a:t>
            </a:r>
            <a:endParaRPr lang="en-US" sz="1200" b="1"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200" dirty="0">
                <a:latin typeface="Times New Roman" panose="02020603050405020304" pitchFamily="18" charset="0"/>
                <a:cs typeface="Times New Roman" panose="02020603050405020304" pitchFamily="18" charset="0"/>
              </a:rPr>
              <a:t>	</a:t>
            </a:r>
          </a:p>
          <a:p>
            <a:pPr marL="0" lvl="0" indent="0" algn="l" rtl="0">
              <a:spcBef>
                <a:spcPts val="0"/>
              </a:spcBef>
              <a:spcAft>
                <a:spcPts val="0"/>
              </a:spcAft>
              <a:buNone/>
            </a:pPr>
            <a:r>
              <a:rPr lang="en-US" sz="1200" b="1">
                <a:latin typeface="Times New Roman" panose="02020603050405020304" pitchFamily="18" charset="0"/>
                <a:cs typeface="Times New Roman" panose="02020603050405020304" pitchFamily="18" charset="0"/>
              </a:rPr>
              <a:t>Môn : Khai phá d</a:t>
            </a:r>
            <a:r>
              <a:rPr lang="en-US" sz="1200" b="1">
                <a:cs typeface="Times New Roman" panose="02020603050405020304" pitchFamily="18" charset="0"/>
              </a:rPr>
              <a:t>ữ liệu</a:t>
            </a:r>
            <a:endParaRPr lang="en-US" sz="1200" b="1"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en-US" sz="12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en-US" sz="12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200" b="1" dirty="0" err="1">
                <a:latin typeface="Times New Roman" panose="02020603050405020304" pitchFamily="18" charset="0"/>
                <a:cs typeface="Times New Roman" panose="02020603050405020304" pitchFamily="18" charset="0"/>
              </a:rPr>
              <a:t>Nhóm</a:t>
            </a:r>
            <a:r>
              <a:rPr lang="en-US" sz="1200" b="1" dirty="0">
                <a:latin typeface="Times New Roman" panose="02020603050405020304" pitchFamily="18" charset="0"/>
                <a:cs typeface="Times New Roman" panose="02020603050405020304" pitchFamily="18" charset="0"/>
              </a:rPr>
              <a:t> 5</a:t>
            </a:r>
            <a:endParaRPr sz="1200" b="1" dirty="0">
              <a:latin typeface="Times New Roman" panose="02020603050405020304" pitchFamily="18" charset="0"/>
              <a:cs typeface="Times New Roman" panose="02020603050405020304" pitchFamily="18" charset="0"/>
            </a:endParaRPr>
          </a:p>
        </p:txBody>
      </p:sp>
      <p:cxnSp>
        <p:nvCxnSpPr>
          <p:cNvPr id="287" name="Google Shape;287;p29"/>
          <p:cNvCxnSpPr/>
          <p:nvPr/>
        </p:nvCxnSpPr>
        <p:spPr>
          <a:xfrm rot="10800000" flipH="1">
            <a:off x="1583499" y="4444389"/>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288" name="Google Shape;288;p29"/>
          <p:cNvCxnSpPr/>
          <p:nvPr/>
        </p:nvCxnSpPr>
        <p:spPr>
          <a:xfrm rot="10800000" flipH="1">
            <a:off x="1600599" y="2379516"/>
            <a:ext cx="5942700" cy="6600"/>
          </a:xfrm>
          <a:prstGeom prst="straightConnector1">
            <a:avLst/>
          </a:prstGeom>
          <a:noFill/>
          <a:ln w="19050" cap="flat" cmpd="sng">
            <a:solidFill>
              <a:schemeClr val="lt1"/>
            </a:solidFill>
            <a:prstDash val="solid"/>
            <a:round/>
            <a:headEnd type="oval" w="med" len="med"/>
            <a:tailEnd type="oval" w="med" len="med"/>
          </a:ln>
        </p:spPr>
      </p:cxnSp>
      <p:sp>
        <p:nvSpPr>
          <p:cNvPr id="289" name="Google Shape;289;p29"/>
          <p:cNvSpPr/>
          <p:nvPr/>
        </p:nvSpPr>
        <p:spPr>
          <a:xfrm>
            <a:off x="2422825" y="186552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6733600" y="186552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MỤC LỤC</a:t>
            </a:r>
            <a:endParaRPr dirty="0">
              <a:latin typeface="Times New Roman" panose="02020603050405020304" pitchFamily="18" charset="0"/>
              <a:cs typeface="Times New Roman" panose="02020603050405020304" pitchFamily="18" charset="0"/>
            </a:endParaRPr>
          </a:p>
        </p:txBody>
      </p:sp>
      <p:sp>
        <p:nvSpPr>
          <p:cNvPr id="307" name="Google Shape;307;p31"/>
          <p:cNvSpPr txBox="1">
            <a:spLocks noGrp="1"/>
          </p:cNvSpPr>
          <p:nvPr>
            <p:ph type="subTitle" idx="1"/>
          </p:nvPr>
        </p:nvSpPr>
        <p:spPr>
          <a:xfrm>
            <a:off x="6325688" y="471800"/>
            <a:ext cx="2426100" cy="5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08" name="Google Shape;308;p31"/>
          <p:cNvSpPr txBox="1">
            <a:spLocks noGrp="1"/>
          </p:cNvSpPr>
          <p:nvPr>
            <p:ph type="subTitle" idx="2"/>
          </p:nvPr>
        </p:nvSpPr>
        <p:spPr>
          <a:xfrm>
            <a:off x="6313099" y="478502"/>
            <a:ext cx="2426100" cy="5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06" name="Google Shape;306;p31"/>
          <p:cNvSpPr txBox="1">
            <a:spLocks noGrp="1"/>
          </p:cNvSpPr>
          <p:nvPr>
            <p:ph type="subTitle" idx="3"/>
          </p:nvPr>
        </p:nvSpPr>
        <p:spPr>
          <a:xfrm>
            <a:off x="6319296" y="511979"/>
            <a:ext cx="2426100" cy="5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600" dirty="0"/>
          </a:p>
        </p:txBody>
      </p:sp>
      <p:sp>
        <p:nvSpPr>
          <p:cNvPr id="309" name="Google Shape;309;p31"/>
          <p:cNvSpPr txBox="1">
            <a:spLocks noGrp="1"/>
          </p:cNvSpPr>
          <p:nvPr>
            <p:ph type="subTitle" idx="4"/>
          </p:nvPr>
        </p:nvSpPr>
        <p:spPr>
          <a:xfrm>
            <a:off x="6321534" y="467653"/>
            <a:ext cx="2426100" cy="5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0" name="Google Shape;310;p31"/>
          <p:cNvSpPr txBox="1">
            <a:spLocks noGrp="1"/>
          </p:cNvSpPr>
          <p:nvPr>
            <p:ph type="title" idx="5"/>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311" name="Google Shape;311;p31"/>
          <p:cNvSpPr txBox="1">
            <a:spLocks noGrp="1"/>
          </p:cNvSpPr>
          <p:nvPr>
            <p:ph type="title" idx="6"/>
          </p:nvPr>
        </p:nvSpPr>
        <p:spPr>
          <a:xfrm>
            <a:off x="3359125" y="2298780"/>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312" name="Google Shape;312;p31"/>
          <p:cNvSpPr txBox="1">
            <a:spLocks noGrp="1"/>
          </p:cNvSpPr>
          <p:nvPr>
            <p:ph type="title" idx="7"/>
          </p:nvPr>
        </p:nvSpPr>
        <p:spPr>
          <a:xfrm>
            <a:off x="720399" y="2298780"/>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313" name="Google Shape;313;p31"/>
          <p:cNvSpPr txBox="1">
            <a:spLocks noGrp="1"/>
          </p:cNvSpPr>
          <p:nvPr>
            <p:ph type="title" idx="8"/>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314" name="Google Shape;314;p31"/>
          <p:cNvSpPr txBox="1">
            <a:spLocks noGrp="1"/>
          </p:cNvSpPr>
          <p:nvPr>
            <p:ph type="subTitle" idx="9"/>
          </p:nvPr>
        </p:nvSpPr>
        <p:spPr>
          <a:xfrm>
            <a:off x="6333996" y="445025"/>
            <a:ext cx="2426100" cy="5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5" name="Google Shape;315;p31"/>
          <p:cNvSpPr txBox="1">
            <a:spLocks noGrp="1"/>
          </p:cNvSpPr>
          <p:nvPr>
            <p:ph type="subTitle" idx="13"/>
          </p:nvPr>
        </p:nvSpPr>
        <p:spPr>
          <a:xfrm>
            <a:off x="6329842" y="475151"/>
            <a:ext cx="2426100" cy="5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7" name="Google Shape;317;p31"/>
          <p:cNvSpPr txBox="1">
            <a:spLocks noGrp="1"/>
          </p:cNvSpPr>
          <p:nvPr>
            <p:ph type="title" idx="15"/>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18" name="Google Shape;318;p31"/>
          <p:cNvSpPr txBox="1">
            <a:spLocks noGrp="1"/>
          </p:cNvSpPr>
          <p:nvPr>
            <p:ph type="subTitle" idx="16"/>
          </p:nvPr>
        </p:nvSpPr>
        <p:spPr>
          <a:xfrm>
            <a:off x="3356389" y="1599825"/>
            <a:ext cx="2423100" cy="43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latin typeface="Times New Roman" panose="02020603050405020304" pitchFamily="18" charset="0"/>
                <a:cs typeface="Times New Roman" panose="02020603050405020304" pitchFamily="18" charset="0"/>
              </a:rPr>
              <a:t>Cơ sở lý thuyết</a:t>
            </a:r>
            <a:endParaRPr sz="1400" dirty="0">
              <a:latin typeface="Times New Roman" panose="02020603050405020304" pitchFamily="18" charset="0"/>
              <a:cs typeface="Times New Roman" panose="02020603050405020304" pitchFamily="18" charset="0"/>
            </a:endParaRPr>
          </a:p>
        </p:txBody>
      </p:sp>
      <p:sp>
        <p:nvSpPr>
          <p:cNvPr id="319" name="Google Shape;319;p31"/>
          <p:cNvSpPr txBox="1">
            <a:spLocks noGrp="1"/>
          </p:cNvSpPr>
          <p:nvPr>
            <p:ph type="subTitle" idx="17"/>
          </p:nvPr>
        </p:nvSpPr>
        <p:spPr>
          <a:xfrm>
            <a:off x="713225" y="2734623"/>
            <a:ext cx="2423100" cy="42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400" dirty="0" err="1"/>
              <a:t>Kết</a:t>
            </a:r>
            <a:r>
              <a:rPr lang="en-US" sz="1400" dirty="0"/>
              <a:t> </a:t>
            </a:r>
            <a:r>
              <a:rPr lang="en-US" sz="1400" dirty="0" err="1"/>
              <a:t>quả</a:t>
            </a:r>
            <a:r>
              <a:rPr lang="en-US" sz="1400" dirty="0"/>
              <a:t> </a:t>
            </a:r>
            <a:r>
              <a:rPr lang="en-US" sz="1400" dirty="0" err="1"/>
              <a:t>thực</a:t>
            </a:r>
            <a:r>
              <a:rPr lang="en-US" sz="1400" dirty="0"/>
              <a:t> </a:t>
            </a:r>
            <a:r>
              <a:rPr lang="en-US" sz="1400" dirty="0" err="1"/>
              <a:t>nghiệm</a:t>
            </a:r>
            <a:r>
              <a:rPr lang="en-US" sz="1400" dirty="0"/>
              <a:t> </a:t>
            </a:r>
            <a:r>
              <a:rPr lang="en-US" sz="1400" dirty="0" err="1"/>
              <a:t>và</a:t>
            </a:r>
            <a:r>
              <a:rPr lang="en-US" sz="1400" dirty="0"/>
              <a:t> </a:t>
            </a:r>
            <a:r>
              <a:rPr lang="en-US" sz="1400" dirty="0" err="1"/>
              <a:t>phân</a:t>
            </a:r>
            <a:r>
              <a:rPr lang="en-US" sz="1400" dirty="0"/>
              <a:t> </a:t>
            </a:r>
            <a:r>
              <a:rPr lang="en-US" sz="1400" dirty="0" err="1"/>
              <a:t>tích</a:t>
            </a:r>
            <a:endParaRPr sz="1400" dirty="0"/>
          </a:p>
        </p:txBody>
      </p:sp>
      <p:sp>
        <p:nvSpPr>
          <p:cNvPr id="320" name="Google Shape;320;p31"/>
          <p:cNvSpPr txBox="1">
            <a:spLocks noGrp="1"/>
          </p:cNvSpPr>
          <p:nvPr>
            <p:ph type="subTitle" idx="18"/>
          </p:nvPr>
        </p:nvSpPr>
        <p:spPr>
          <a:xfrm>
            <a:off x="3356389" y="2743061"/>
            <a:ext cx="2423100" cy="42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400" dirty="0" err="1"/>
              <a:t>Kết</a:t>
            </a:r>
            <a:r>
              <a:rPr lang="en-US" sz="1400" dirty="0"/>
              <a:t> </a:t>
            </a:r>
            <a:r>
              <a:rPr lang="en-US" sz="1400" dirty="0" err="1"/>
              <a:t>Luận</a:t>
            </a:r>
            <a:r>
              <a:rPr lang="en-US" sz="1400" dirty="0"/>
              <a:t> </a:t>
            </a:r>
            <a:endParaRPr sz="1400" dirty="0"/>
          </a:p>
        </p:txBody>
      </p:sp>
      <p:sp>
        <p:nvSpPr>
          <p:cNvPr id="321" name="Google Shape;321;p31"/>
          <p:cNvSpPr txBox="1">
            <a:spLocks noGrp="1"/>
          </p:cNvSpPr>
          <p:nvPr>
            <p:ph type="subTitle" idx="19"/>
          </p:nvPr>
        </p:nvSpPr>
        <p:spPr>
          <a:xfrm>
            <a:off x="5969828" y="1599825"/>
            <a:ext cx="2423100" cy="43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latin typeface="Times New Roman" panose="02020603050405020304" pitchFamily="18" charset="0"/>
                <a:cs typeface="Times New Roman" panose="02020603050405020304" pitchFamily="18" charset="0"/>
              </a:rPr>
              <a:t>Dữ liệu và phương pháp</a:t>
            </a:r>
            <a:endParaRPr sz="1400" dirty="0">
              <a:latin typeface="Times New Roman" panose="02020603050405020304" pitchFamily="18" charset="0"/>
              <a:cs typeface="Times New Roman" panose="02020603050405020304" pitchFamily="18" charset="0"/>
            </a:endParaRPr>
          </a:p>
        </p:txBody>
      </p:sp>
      <p:sp>
        <p:nvSpPr>
          <p:cNvPr id="324" name="Google Shape;324;p31"/>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
        <p:nvSpPr>
          <p:cNvPr id="22" name="Google Shape;319;p31">
            <a:extLst>
              <a:ext uri="{FF2B5EF4-FFF2-40B4-BE49-F238E27FC236}">
                <a16:creationId xmlns:a16="http://schemas.microsoft.com/office/drawing/2014/main" id="{4777B2E3-F752-47E9-A7F0-18F5D1554DC3}"/>
              </a:ext>
            </a:extLst>
          </p:cNvPr>
          <p:cNvSpPr txBox="1">
            <a:spLocks/>
          </p:cNvSpPr>
          <p:nvPr/>
        </p:nvSpPr>
        <p:spPr>
          <a:xfrm>
            <a:off x="742950" y="1599825"/>
            <a:ext cx="2423100" cy="4284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000" b="1"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Quicksand"/>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160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160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160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160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160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160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1600"/>
              </a:spcBef>
              <a:spcAft>
                <a:spcPts val="160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ctr"/>
            <a:r>
              <a:rPr lang="en-US" sz="1400" dirty="0" err="1"/>
              <a:t>Giới</a:t>
            </a:r>
            <a:r>
              <a:rPr lang="en-US" sz="1400" dirty="0"/>
              <a:t> </a:t>
            </a:r>
            <a:r>
              <a:rPr lang="en-US" sz="1400" dirty="0" err="1"/>
              <a:t>thiệu</a:t>
            </a:r>
            <a:r>
              <a:rPr lang="en-US" sz="1400" dirty="0"/>
              <a:t> </a:t>
            </a:r>
            <a:r>
              <a:rPr lang="en-US" sz="1400" dirty="0" err="1"/>
              <a:t>tổng</a:t>
            </a:r>
            <a:r>
              <a:rPr lang="en-US" sz="1400" dirty="0"/>
              <a:t> </a:t>
            </a:r>
            <a:r>
              <a:rPr lang="en-US" sz="1400" dirty="0" err="1"/>
              <a:t>quan</a:t>
            </a:r>
            <a:endParaRPr lang="vi-V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a:t>
            </a:fld>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 Giới thiệu</a:t>
            </a:r>
            <a:endParaRPr dirty="0"/>
          </a:p>
        </p:txBody>
      </p:sp>
      <p:sp>
        <p:nvSpPr>
          <p:cNvPr id="342" name="Google Shape;342;p33"/>
          <p:cNvSpPr txBox="1">
            <a:spLocks noGrp="1"/>
          </p:cNvSpPr>
          <p:nvPr>
            <p:ph type="subTitle" idx="1"/>
          </p:nvPr>
        </p:nvSpPr>
        <p:spPr>
          <a:xfrm>
            <a:off x="720000" y="1595476"/>
            <a:ext cx="7704000" cy="1067596"/>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Tx/>
              <a:buChar char="-"/>
            </a:pPr>
            <a:r>
              <a:rPr lang="vi-VN" dirty="0"/>
              <a:t>Thị trường lao động đang thay đổi</a:t>
            </a:r>
            <a:r>
              <a:rPr lang="en-US" dirty="0"/>
              <a:t> </a:t>
            </a:r>
            <a:r>
              <a:rPr lang="vi-VN" dirty="0"/>
              <a:t>nhanh chóng cả về cơ cấu ngành nghề lẫn yêu cầu kỹ năng đối với người lao động.</a:t>
            </a:r>
          </a:p>
          <a:p>
            <a:pPr marL="285750" lvl="0" indent="-285750" algn="l" rtl="0">
              <a:spcBef>
                <a:spcPts val="0"/>
              </a:spcBef>
              <a:spcAft>
                <a:spcPts val="0"/>
              </a:spcAft>
              <a:buFontTx/>
              <a:buChar char="-"/>
            </a:pPr>
            <a:r>
              <a:rPr lang="vi-VN" dirty="0"/>
              <a:t>Sự phát triển</a:t>
            </a:r>
            <a:r>
              <a:rPr lang="en-US" dirty="0"/>
              <a:t> </a:t>
            </a:r>
            <a:r>
              <a:rPr lang="vi-VN" dirty="0"/>
              <a:t>của các nền tảng tuyển dụng trực tuyến đã làm gia tăng đáng kể quy mô và mức độ đa dạng của</a:t>
            </a:r>
            <a:r>
              <a:rPr lang="en-US" dirty="0"/>
              <a:t> </a:t>
            </a:r>
            <a:r>
              <a:rPr lang="vi-VN" dirty="0"/>
              <a:t>dữ liệu tuyển dụng</a:t>
            </a:r>
            <a:r>
              <a:rPr lang="en-US" dirty="0"/>
              <a:t>.</a:t>
            </a:r>
          </a:p>
          <a:p>
            <a:pPr marL="285750" lvl="0" indent="-285750" algn="l" rtl="0">
              <a:spcBef>
                <a:spcPts val="0"/>
              </a:spcBef>
              <a:spcAft>
                <a:spcPts val="0"/>
              </a:spcAft>
              <a:buFontTx/>
              <a:buChar char="-"/>
            </a:pPr>
            <a:endParaRPr lang="vi-VN" dirty="0"/>
          </a:p>
          <a:p>
            <a:pPr marL="0" lvl="0" indent="0" algn="l" rtl="0">
              <a:spcBef>
                <a:spcPts val="0"/>
              </a:spcBef>
              <a:spcAft>
                <a:spcPts val="0"/>
              </a:spcAft>
            </a:pPr>
            <a:endParaRPr lang="vi-VN" dirty="0"/>
          </a:p>
          <a:p>
            <a:pPr marL="0" lvl="0" indent="0" algn="l" rtl="0">
              <a:spcBef>
                <a:spcPts val="0"/>
              </a:spcBef>
              <a:spcAft>
                <a:spcPts val="0"/>
              </a:spcAft>
            </a:pPr>
            <a:endParaRPr lang="vi-VN"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720000" y="3185934"/>
            <a:ext cx="7704000" cy="1338932"/>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Tx/>
              <a:buChar char="-"/>
            </a:pPr>
            <a:r>
              <a:rPr lang="en-US" dirty="0"/>
              <a:t>H</a:t>
            </a:r>
            <a:r>
              <a:rPr lang="vi-VN" dirty="0"/>
              <a:t>iện nay, LinkedIn được xem là một trong những hệ sinh thái</a:t>
            </a:r>
            <a:r>
              <a:rPr lang="en-US" dirty="0"/>
              <a:t> </a:t>
            </a:r>
            <a:r>
              <a:rPr lang="vi-VN" dirty="0"/>
              <a:t>nghề nghiệp lớn nhất thế giới</a:t>
            </a:r>
            <a:r>
              <a:rPr lang="en-US" dirty="0"/>
              <a:t>.</a:t>
            </a:r>
          </a:p>
          <a:p>
            <a:pPr marL="285750" lvl="0" indent="-285750" algn="l" rtl="0">
              <a:spcBef>
                <a:spcPts val="0"/>
              </a:spcBef>
              <a:spcAft>
                <a:spcPts val="0"/>
              </a:spcAft>
              <a:buFontTx/>
              <a:buChar char="-"/>
            </a:pPr>
            <a:r>
              <a:rPr lang="vi-VN" dirty="0"/>
              <a:t>Bộ dữ liệu LinkedIn Job Postings cung cấp thông tin phong phú về mô tả công việc,</a:t>
            </a:r>
            <a:r>
              <a:rPr lang="en-US" dirty="0"/>
              <a:t> </a:t>
            </a:r>
            <a:r>
              <a:rPr lang="vi-VN" dirty="0"/>
              <a:t>kỹ năng, hình</a:t>
            </a:r>
            <a:r>
              <a:rPr lang="en-US" dirty="0"/>
              <a:t> </a:t>
            </a:r>
            <a:r>
              <a:rPr lang="vi-VN" dirty="0"/>
              <a:t>thức làm việc và mức lương, tạo điều kiện thuận lợi cho việc nghiên cứu thị trường</a:t>
            </a:r>
            <a:r>
              <a:rPr lang="en-US" dirty="0"/>
              <a:t> </a:t>
            </a:r>
            <a:r>
              <a:rPr lang="vi-VN" dirty="0"/>
              <a:t>lao động ở quy mô lớn.</a:t>
            </a:r>
          </a:p>
          <a:p>
            <a:pPr marL="0" lvl="0" indent="0" algn="l" rtl="0">
              <a:spcBef>
                <a:spcPts val="0"/>
              </a:spcBef>
              <a:spcAft>
                <a:spcPts val="0"/>
              </a:spcAft>
              <a:buNone/>
            </a:pPr>
            <a:endParaRPr lang="vi-VN" dirty="0"/>
          </a:p>
          <a:p>
            <a:pPr marL="742950" lvl="1" indent="-285750">
              <a:buFontTx/>
              <a:buChar char="-"/>
            </a:pPr>
            <a:endParaRPr lang="en-US" dirty="0"/>
          </a:p>
          <a:p>
            <a:pPr marL="285750" lvl="0" indent="-285750" algn="l" rtl="0">
              <a:spcBef>
                <a:spcPts val="0"/>
              </a:spcBef>
              <a:spcAft>
                <a:spcPts val="0"/>
              </a:spcAft>
              <a:buFontTx/>
              <a:buChar char="-"/>
            </a:pPr>
            <a:endParaRPr dirty="0"/>
          </a:p>
        </p:txBody>
      </p:sp>
      <p:sp>
        <p:nvSpPr>
          <p:cNvPr id="345" name="Google Shape;345;p33"/>
          <p:cNvSpPr txBox="1">
            <a:spLocks noGrp="1"/>
          </p:cNvSpPr>
          <p:nvPr>
            <p:ph type="subTitle" idx="4"/>
          </p:nvPr>
        </p:nvSpPr>
        <p:spPr>
          <a:xfrm>
            <a:off x="720000" y="1151720"/>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Tổng quan về đề tài</a:t>
            </a:r>
            <a:endParaRPr dirty="0"/>
          </a:p>
        </p:txBody>
      </p:sp>
      <p:sp>
        <p:nvSpPr>
          <p:cNvPr id="347" name="Google Shape;347;p33"/>
          <p:cNvSpPr txBox="1">
            <a:spLocks noGrp="1"/>
          </p:cNvSpPr>
          <p:nvPr>
            <p:ph type="subTitle" idx="6"/>
          </p:nvPr>
        </p:nvSpPr>
        <p:spPr>
          <a:xfrm>
            <a:off x="720000" y="2721378"/>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Giới</a:t>
            </a:r>
            <a:r>
              <a:rPr lang="en-US" dirty="0"/>
              <a:t> </a:t>
            </a:r>
            <a:r>
              <a:rPr lang="en-US" dirty="0" err="1"/>
              <a:t>thiệu</a:t>
            </a:r>
            <a:r>
              <a:rPr lang="en-US" dirty="0"/>
              <a:t> </a:t>
            </a:r>
            <a:r>
              <a:rPr lang="en-US" dirty="0" err="1"/>
              <a:t>về</a:t>
            </a:r>
            <a:r>
              <a:rPr lang="en-US" dirty="0"/>
              <a:t> LinkedIn </a:t>
            </a:r>
            <a:r>
              <a:rPr lang="en-US" dirty="0" err="1"/>
              <a:t>và</a:t>
            </a:r>
            <a:r>
              <a:rPr lang="en-US" dirty="0"/>
              <a:t> </a:t>
            </a:r>
            <a:r>
              <a:rPr lang="en-US" dirty="0" err="1"/>
              <a:t>bộ</a:t>
            </a:r>
            <a:r>
              <a:rPr lang="en-US" dirty="0"/>
              <a:t> </a:t>
            </a:r>
            <a:r>
              <a:rPr lang="en-US" dirty="0" err="1"/>
              <a:t>dữ</a:t>
            </a:r>
            <a:r>
              <a:rPr lang="en-US" dirty="0"/>
              <a:t> </a:t>
            </a:r>
            <a:r>
              <a:rPr lang="en-US" dirty="0" err="1"/>
              <a:t>liệu</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 Giới thiệu</a:t>
            </a:r>
            <a:endParaRPr dirty="0"/>
          </a:p>
        </p:txBody>
      </p:sp>
      <p:sp>
        <p:nvSpPr>
          <p:cNvPr id="342" name="Google Shape;342;p33"/>
          <p:cNvSpPr txBox="1">
            <a:spLocks noGrp="1"/>
          </p:cNvSpPr>
          <p:nvPr>
            <p:ph type="subTitle" idx="1"/>
          </p:nvPr>
        </p:nvSpPr>
        <p:spPr>
          <a:xfrm>
            <a:off x="720000" y="1595476"/>
            <a:ext cx="7704000" cy="1067596"/>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vi-VN" dirty="0"/>
              <a:t>Sự bùng nổ dữ liệu: Các nền tảng như LinkedIn cung cấp dữ liệu khổng lồ, phản ánh nhu cầu nhân lực theo thời gian thực</a:t>
            </a:r>
            <a:r>
              <a:rPr lang="en-US" dirty="0"/>
              <a:t>.</a:t>
            </a:r>
            <a:endParaRPr lang="vi-VN"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720000" y="3185934"/>
            <a:ext cx="7704000" cy="1338932"/>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vi-VN" dirty="0"/>
              <a:t>Dữ liệu tuyển dụng là dữ liệu thô, phi cấu trúc. Cần kỹ thuật Data Mining để chuyển hóa thành tri thức giá trị hỗ trợ</a:t>
            </a:r>
            <a:r>
              <a:rPr lang="en-US" dirty="0"/>
              <a:t> </a:t>
            </a:r>
            <a:r>
              <a:rPr lang="vi-VN" dirty="0"/>
              <a:t>khai thác hiệu quả bộ</a:t>
            </a:r>
            <a:r>
              <a:rPr lang="en-US" dirty="0"/>
              <a:t> </a:t>
            </a:r>
            <a:r>
              <a:rPr lang="vi-VN" dirty="0"/>
              <a:t>dữ liệu tuyển dụng quy mô lớn từ nền tảng LinkedIn.</a:t>
            </a:r>
            <a:endParaRPr dirty="0"/>
          </a:p>
        </p:txBody>
      </p:sp>
      <p:sp>
        <p:nvSpPr>
          <p:cNvPr id="345" name="Google Shape;345;p33"/>
          <p:cNvSpPr txBox="1">
            <a:spLocks noGrp="1"/>
          </p:cNvSpPr>
          <p:nvPr>
            <p:ph type="subTitle" idx="4"/>
          </p:nvPr>
        </p:nvSpPr>
        <p:spPr>
          <a:xfrm>
            <a:off x="720000" y="1151720"/>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Động</a:t>
            </a:r>
            <a:r>
              <a:rPr lang="en-US" dirty="0"/>
              <a:t> </a:t>
            </a:r>
            <a:r>
              <a:rPr lang="en-US" dirty="0" err="1"/>
              <a:t>lực</a:t>
            </a:r>
            <a:r>
              <a:rPr lang="en-US" dirty="0"/>
              <a:t> </a:t>
            </a:r>
            <a:r>
              <a:rPr lang="en-US" dirty="0" err="1"/>
              <a:t>nghiên</a:t>
            </a:r>
            <a:r>
              <a:rPr lang="en-US" dirty="0"/>
              <a:t> </a:t>
            </a:r>
            <a:r>
              <a:rPr lang="en-US" dirty="0" err="1"/>
              <a:t>cứu</a:t>
            </a:r>
            <a:endParaRPr dirty="0"/>
          </a:p>
        </p:txBody>
      </p:sp>
      <p:sp>
        <p:nvSpPr>
          <p:cNvPr id="347" name="Google Shape;347;p33"/>
          <p:cNvSpPr txBox="1">
            <a:spLocks noGrp="1"/>
          </p:cNvSpPr>
          <p:nvPr>
            <p:ph type="subTitle" idx="6"/>
          </p:nvPr>
        </p:nvSpPr>
        <p:spPr>
          <a:xfrm>
            <a:off x="720000" y="2721378"/>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Thách</a:t>
            </a:r>
            <a:r>
              <a:rPr lang="en-US" dirty="0"/>
              <a:t> </a:t>
            </a:r>
            <a:r>
              <a:rPr lang="en-US" dirty="0" err="1"/>
              <a:t>thức</a:t>
            </a:r>
            <a:r>
              <a:rPr lang="en-US" dirty="0"/>
              <a:t> </a:t>
            </a:r>
            <a:r>
              <a:rPr lang="en-US" dirty="0" err="1"/>
              <a:t>phân</a:t>
            </a:r>
            <a:r>
              <a:rPr lang="en-US" dirty="0"/>
              <a:t> </a:t>
            </a:r>
            <a:r>
              <a:rPr lang="en-US" dirty="0" err="1"/>
              <a:t>tích</a:t>
            </a:r>
            <a:endParaRPr dirty="0"/>
          </a:p>
        </p:txBody>
      </p:sp>
    </p:spTree>
    <p:extLst>
      <p:ext uri="{BB962C8B-B14F-4D97-AF65-F5344CB8AC3E}">
        <p14:creationId xmlns:p14="http://schemas.microsoft.com/office/powerpoint/2010/main" val="4012662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 Giới thiệu</a:t>
            </a:r>
            <a:endParaRPr dirty="0"/>
          </a:p>
        </p:txBody>
      </p:sp>
      <p:sp>
        <p:nvSpPr>
          <p:cNvPr id="342" name="Google Shape;342;p33"/>
          <p:cNvSpPr txBox="1">
            <a:spLocks noGrp="1"/>
          </p:cNvSpPr>
          <p:nvPr>
            <p:ph type="subTitle" idx="1"/>
          </p:nvPr>
        </p:nvSpPr>
        <p:spPr>
          <a:xfrm>
            <a:off x="720000" y="1595476"/>
            <a:ext cx="7704000" cy="2816268"/>
          </a:xfrm>
          <a:prstGeom prst="rect">
            <a:avLst/>
          </a:prstGeom>
        </p:spPr>
        <p:txBody>
          <a:bodyPr spcFirstLastPara="1" wrap="square" lIns="91425" tIns="91425" rIns="91425" bIns="91425" anchor="t" anchorCtr="0">
            <a:noAutofit/>
          </a:bodyPr>
          <a:lstStyle/>
          <a:p>
            <a:pPr marL="425450" indent="-285750">
              <a:buFont typeface="Arial" panose="020B0604020202020204" pitchFamily="34" charset="0"/>
              <a:buChar char="•"/>
            </a:pPr>
            <a:r>
              <a:rPr lang="vi-VN" b="1" dirty="0"/>
              <a:t>Khám phá cấu trúc nội dung:</a:t>
            </a:r>
            <a:r>
              <a:rPr lang="en-US" b="1" dirty="0"/>
              <a:t> </a:t>
            </a:r>
            <a:r>
              <a:rPr lang="vi-VN" dirty="0"/>
              <a:t>Sử dụng phân cụm không giám sát (Unsupervised clustering)Nhận diện các nhóm chủ đề tự nhiên trong mô tả công việc (không dựa trên nhãn có sẵn).</a:t>
            </a:r>
          </a:p>
          <a:p>
            <a:pPr marL="139700" indent="0"/>
            <a:endParaRPr lang="en-US" b="1" dirty="0"/>
          </a:p>
          <a:p>
            <a:pPr marL="425450" indent="-285750">
              <a:buFont typeface="Arial" panose="020B0604020202020204" pitchFamily="34" charset="0"/>
              <a:buChar char="•"/>
            </a:pPr>
            <a:r>
              <a:rPr lang="vi-VN" b="1" dirty="0"/>
              <a:t>Khai phá nhóm kỹ năng (Skill Bundles):</a:t>
            </a:r>
            <a:r>
              <a:rPr lang="en-US" b="1" dirty="0"/>
              <a:t> </a:t>
            </a:r>
            <a:r>
              <a:rPr lang="vi-VN" dirty="0"/>
              <a:t>Phân tích mẫu đồng xuất hiện của các kỹ năng.</a:t>
            </a:r>
            <a:r>
              <a:rPr lang="en-US" dirty="0"/>
              <a:t> </a:t>
            </a:r>
            <a:r>
              <a:rPr lang="vi-VN" dirty="0"/>
              <a:t>Xác định các nhóm kỹ năng đặc trưng cho từng lĩnh vực/vai trò.</a:t>
            </a:r>
            <a:endParaRPr lang="en-US" dirty="0"/>
          </a:p>
          <a:p>
            <a:pPr marL="139700" indent="0"/>
            <a:endParaRPr lang="en-US" b="1" dirty="0"/>
          </a:p>
          <a:p>
            <a:pPr marL="425450" indent="-285750">
              <a:buFont typeface="Arial" panose="020B0604020202020204" pitchFamily="34" charset="0"/>
              <a:buChar char="•"/>
            </a:pPr>
            <a:r>
              <a:rPr lang="vi-VN" b="1" dirty="0"/>
              <a:t>Phân tích &amp; Dự báo lương:</a:t>
            </a:r>
            <a:r>
              <a:rPr lang="en-US" b="1" dirty="0"/>
              <a:t> </a:t>
            </a:r>
            <a:r>
              <a:rPr lang="vi-VN" dirty="0"/>
              <a:t>Đánh giá tác động của các yếu tố: Kỹ năng, kinh nghiệm, địa lý, doanh nghiệp.</a:t>
            </a:r>
            <a:r>
              <a:rPr lang="en-US" dirty="0"/>
              <a:t> </a:t>
            </a:r>
            <a:r>
              <a:rPr lang="vi-VN" dirty="0"/>
              <a:t>Giải thích các yếu tố quyết định giá trị của vị trí việc làm.</a:t>
            </a:r>
          </a:p>
          <a:p>
            <a:pPr marL="0" lvl="0" indent="0" algn="l" rtl="0">
              <a:spcBef>
                <a:spcPts val="0"/>
              </a:spcBef>
              <a:spcAft>
                <a:spcPts val="0"/>
              </a:spcAft>
            </a:pPr>
            <a:endParaRPr lang="vi-VN"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720000" y="1151720"/>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Mục</a:t>
            </a:r>
            <a:r>
              <a:rPr lang="en-US" dirty="0"/>
              <a:t> </a:t>
            </a:r>
            <a:r>
              <a:rPr lang="en-US" dirty="0" err="1"/>
              <a:t>tiêu</a:t>
            </a:r>
            <a:r>
              <a:rPr lang="en-US" dirty="0"/>
              <a:t> </a:t>
            </a:r>
            <a:r>
              <a:rPr lang="en-US" dirty="0" err="1"/>
              <a:t>nghiên</a:t>
            </a:r>
            <a:r>
              <a:rPr lang="en-US" dirty="0"/>
              <a:t> </a:t>
            </a:r>
            <a:r>
              <a:rPr lang="en-US" dirty="0" err="1"/>
              <a:t>cứu</a:t>
            </a:r>
            <a:endParaRPr dirty="0"/>
          </a:p>
        </p:txBody>
      </p:sp>
    </p:spTree>
    <p:extLst>
      <p:ext uri="{BB962C8B-B14F-4D97-AF65-F5344CB8AC3E}">
        <p14:creationId xmlns:p14="http://schemas.microsoft.com/office/powerpoint/2010/main" val="409492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6</a:t>
            </a:fld>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 Giới thiệu</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720000" y="1151720"/>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Câu</a:t>
            </a:r>
            <a:r>
              <a:rPr lang="en-US" dirty="0"/>
              <a:t> </a:t>
            </a:r>
            <a:r>
              <a:rPr lang="en-US" dirty="0" err="1"/>
              <a:t>hỏi</a:t>
            </a:r>
            <a:r>
              <a:rPr lang="en-US" dirty="0"/>
              <a:t> </a:t>
            </a:r>
            <a:r>
              <a:rPr lang="en-US" dirty="0" err="1"/>
              <a:t>nghiên</a:t>
            </a:r>
            <a:r>
              <a:rPr lang="en-US" dirty="0"/>
              <a:t> </a:t>
            </a:r>
            <a:r>
              <a:rPr lang="en-US" dirty="0" err="1"/>
              <a:t>cứu</a:t>
            </a:r>
            <a:endParaRPr dirty="0"/>
          </a:p>
        </p:txBody>
      </p:sp>
      <p:sp>
        <p:nvSpPr>
          <p:cNvPr id="2" name="Subtitle 1">
            <a:extLst>
              <a:ext uri="{FF2B5EF4-FFF2-40B4-BE49-F238E27FC236}">
                <a16:creationId xmlns:a16="http://schemas.microsoft.com/office/drawing/2014/main" id="{BB0EC1EC-7B39-4F92-91EF-F9CD5606980F}"/>
              </a:ext>
            </a:extLst>
          </p:cNvPr>
          <p:cNvSpPr>
            <a:spLocks noGrp="1" noChangeArrowheads="1"/>
          </p:cNvSpPr>
          <p:nvPr>
            <p:ph type="subTitle" idx="1"/>
          </p:nvPr>
        </p:nvSpPr>
        <p:spPr bwMode="auto">
          <a:xfrm>
            <a:off x="720001" y="1545320"/>
            <a:ext cx="770399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00000"/>
              </a:lnSpc>
              <a:spcBef>
                <a:spcPct val="0"/>
              </a:spcBef>
              <a:spcAft>
                <a:spcPct val="0"/>
              </a:spcAft>
              <a:buClrTx/>
              <a:buSzTx/>
              <a:buFont typeface="Arial" panose="020B0604020202020204" pitchFamily="34" charset="0"/>
              <a:buChar char="•"/>
            </a:pPr>
            <a:r>
              <a:rPr kumimoji="0" lang="en-US" altLang="en-US" b="1" i="0" u="none" strike="noStrike" cap="none" normalizeH="0" baseline="0" dirty="0">
                <a:ln>
                  <a:noFill/>
                </a:ln>
                <a:solidFill>
                  <a:schemeClr val="tx1"/>
                </a:solidFill>
                <a:effectLst/>
                <a:latin typeface="+mn-lt"/>
              </a:rPr>
              <a:t>RQ1 </a:t>
            </a:r>
            <a:r>
              <a:rPr kumimoji="0" lang="en-US" altLang="en-US" b="1" i="0" u="none" strike="noStrike" cap="none" normalizeH="0" baseline="0" dirty="0" err="1">
                <a:ln>
                  <a:noFill/>
                </a:ln>
                <a:solidFill>
                  <a:schemeClr val="tx1"/>
                </a:solidFill>
                <a:effectLst/>
                <a:latin typeface="+mn-lt"/>
              </a:rPr>
              <a:t>Nhãn</a:t>
            </a:r>
            <a:r>
              <a:rPr kumimoji="0" lang="en-US" altLang="en-US" b="1" i="0" u="none" strike="noStrike" cap="none" normalizeH="0" baseline="0" dirty="0">
                <a:ln>
                  <a:noFill/>
                </a:ln>
                <a:solidFill>
                  <a:schemeClr val="tx1"/>
                </a:solidFill>
                <a:effectLst/>
                <a:latin typeface="+mn-lt"/>
              </a:rPr>
              <a:t> </a:t>
            </a:r>
            <a:r>
              <a:rPr kumimoji="0" lang="en-US" altLang="en-US" b="1" i="0" u="none" strike="noStrike" cap="none" normalizeH="0" baseline="0" dirty="0" err="1">
                <a:ln>
                  <a:noFill/>
                </a:ln>
                <a:solidFill>
                  <a:schemeClr val="tx1"/>
                </a:solidFill>
                <a:effectLst/>
                <a:latin typeface="+mn-lt"/>
              </a:rPr>
              <a:t>nghề</a:t>
            </a:r>
            <a:r>
              <a:rPr kumimoji="0" lang="en-US" altLang="en-US" b="1" i="0" u="none" strike="noStrike" cap="none" normalizeH="0" baseline="0" dirty="0">
                <a:ln>
                  <a:noFill/>
                </a:ln>
                <a:solidFill>
                  <a:schemeClr val="tx1"/>
                </a:solidFill>
                <a:effectLst/>
                <a:latin typeface="+mn-lt"/>
              </a:rPr>
              <a:t> </a:t>
            </a:r>
            <a:r>
              <a:rPr kumimoji="0" lang="en-US" altLang="en-US" b="1" i="0" u="none" strike="noStrike" cap="none" normalizeH="0" baseline="0" dirty="0" err="1">
                <a:ln>
                  <a:noFill/>
                </a:ln>
                <a:solidFill>
                  <a:schemeClr val="tx1"/>
                </a:solidFill>
                <a:effectLst/>
                <a:latin typeface="+mn-lt"/>
              </a:rPr>
              <a:t>nghiệp</a:t>
            </a:r>
            <a:r>
              <a:rPr kumimoji="0" lang="en-US" altLang="en-US" b="1" i="0" u="none" strike="noStrike" cap="none" normalizeH="0" baseline="0">
                <a:ln>
                  <a:noFill/>
                </a:ln>
                <a:solidFill>
                  <a:schemeClr val="tx1"/>
                </a:solidFill>
                <a:effectLst/>
                <a:latin typeface="+mn-lt"/>
              </a:rPr>
              <a:t>:</a:t>
            </a:r>
            <a:r>
              <a:rPr kumimoji="0" lang="en-US" altLang="en-US" b="0" i="0" u="none" strike="noStrike" cap="none" normalizeH="0" baseline="0">
                <a:ln>
                  <a:noFill/>
                </a:ln>
                <a:solidFill>
                  <a:schemeClr val="tx1"/>
                </a:solidFill>
                <a:effectLst/>
                <a:latin typeface="+mn-lt"/>
              </a:rPr>
              <a:t> </a:t>
            </a:r>
            <a:r>
              <a:rPr lang="en-US" i="1"/>
              <a:t>Các mô tả công việc trên LinkedIn có tự nhiên hình thành những nhóm nội dung (job description themes) khác nhau hay không, khi không sử dụng bất kỳ nhãn nghề nghiệp hoặc danh sách kỹ năng có sẵn nào?</a:t>
            </a:r>
            <a:endParaRPr kumimoji="0" lang="en-US" altLang="en-US" b="0" i="0" u="none" strike="noStrike" cap="none" normalizeH="0" baseline="0" dirty="0">
              <a:ln>
                <a:noFill/>
              </a:ln>
              <a:solidFill>
                <a:schemeClr val="tx1"/>
              </a:solidFill>
              <a:effectLst/>
              <a:latin typeface="+mn-lt"/>
            </a:endParaRP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kumimoji="0" lang="en-US" altLang="en-US" b="1" i="0" u="none" strike="noStrike" cap="none" normalizeH="0" baseline="0" dirty="0">
                <a:ln>
                  <a:noFill/>
                </a:ln>
                <a:solidFill>
                  <a:schemeClr val="tx1"/>
                </a:solidFill>
                <a:effectLst/>
                <a:latin typeface="+mn-lt"/>
              </a:rPr>
              <a:t>RQ2 </a:t>
            </a:r>
            <a:r>
              <a:rPr kumimoji="0" lang="en-US" altLang="en-US" b="1" i="0" u="none" strike="noStrike" cap="none" normalizeH="0" baseline="0" dirty="0" err="1">
                <a:ln>
                  <a:noFill/>
                </a:ln>
                <a:solidFill>
                  <a:schemeClr val="tx1"/>
                </a:solidFill>
                <a:effectLst/>
                <a:latin typeface="+mn-lt"/>
              </a:rPr>
              <a:t>Nhóm</a:t>
            </a:r>
            <a:r>
              <a:rPr kumimoji="0" lang="en-US" altLang="en-US" b="1" i="0" u="none" strike="noStrike" cap="none" normalizeH="0" baseline="0" dirty="0">
                <a:ln>
                  <a:noFill/>
                </a:ln>
                <a:solidFill>
                  <a:schemeClr val="tx1"/>
                </a:solidFill>
                <a:effectLst/>
                <a:latin typeface="+mn-lt"/>
              </a:rPr>
              <a:t> </a:t>
            </a:r>
            <a:r>
              <a:rPr kumimoji="0" lang="en-US" altLang="en-US" b="1" i="0" u="none" strike="noStrike" cap="none" normalizeH="0" baseline="0" dirty="0" err="1">
                <a:ln>
                  <a:noFill/>
                </a:ln>
                <a:solidFill>
                  <a:schemeClr val="tx1"/>
                </a:solidFill>
                <a:effectLst/>
                <a:latin typeface="+mn-lt"/>
              </a:rPr>
              <a:t>kĩ</a:t>
            </a:r>
            <a:r>
              <a:rPr kumimoji="0" lang="en-US" altLang="en-US" b="1" i="0" u="none" strike="noStrike" cap="none" normalizeH="0" baseline="0" dirty="0">
                <a:ln>
                  <a:noFill/>
                </a:ln>
                <a:solidFill>
                  <a:schemeClr val="tx1"/>
                </a:solidFill>
                <a:effectLst/>
                <a:latin typeface="+mn-lt"/>
              </a:rPr>
              <a:t> </a:t>
            </a:r>
            <a:r>
              <a:rPr kumimoji="0" lang="en-US" altLang="en-US" b="1" i="0" u="none" strike="noStrike" cap="none" normalizeH="0" baseline="0" dirty="0" err="1">
                <a:ln>
                  <a:noFill/>
                </a:ln>
                <a:solidFill>
                  <a:schemeClr val="tx1"/>
                </a:solidFill>
                <a:effectLst/>
                <a:latin typeface="+mn-lt"/>
              </a:rPr>
              <a:t>năng</a:t>
            </a:r>
            <a:r>
              <a:rPr kumimoji="0" lang="en-US" altLang="en-US" b="1" i="0" u="none" strike="noStrike" cap="none" normalizeH="0" baseline="0">
                <a:ln>
                  <a:noFill/>
                </a:ln>
                <a:solidFill>
                  <a:schemeClr val="tx1"/>
                </a:solidFill>
                <a:effectLst/>
                <a:latin typeface="+mn-lt"/>
              </a:rPr>
              <a:t>:</a:t>
            </a:r>
            <a:r>
              <a:rPr kumimoji="0" lang="en-US" altLang="en-US" b="0" i="0" u="none" strike="noStrike" cap="none" normalizeH="0" baseline="0">
                <a:ln>
                  <a:noFill/>
                </a:ln>
                <a:solidFill>
                  <a:schemeClr val="tx1"/>
                </a:solidFill>
                <a:effectLst/>
                <a:latin typeface="+mn-lt"/>
              </a:rPr>
              <a:t> </a:t>
            </a:r>
            <a:r>
              <a:rPr lang="en-US" i="1"/>
              <a:t>Các kỹ năng được đề cập trong mô tả công việc có xu hướng đồng xuất hiện theo những mẫu nào, và các mẫu đồng xuất hiện này phản ánh cấu trúc kỹ năng của thị trường lao động ra sao?</a:t>
            </a:r>
            <a:r>
              <a:rPr kumimoji="0" lang="en-US" altLang="en-US" b="0" i="0" u="none" strike="noStrike" cap="none" normalizeH="0" baseline="0">
                <a:ln>
                  <a:noFill/>
                </a:ln>
                <a:solidFill>
                  <a:schemeClr val="tx1"/>
                </a:solidFill>
                <a:effectLst/>
                <a:latin typeface="+mn-lt"/>
              </a:rPr>
              <a:t> </a:t>
            </a:r>
            <a:endParaRPr kumimoji="0" lang="en-US" altLang="en-US" b="0" i="0" u="none" strike="noStrike" cap="none" normalizeH="0" baseline="0" dirty="0">
              <a:ln>
                <a:noFill/>
              </a:ln>
              <a:solidFill>
                <a:schemeClr val="tx1"/>
              </a:solidFill>
              <a:effectLst/>
              <a:latin typeface="+mn-lt"/>
            </a:endParaRP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kumimoji="0" lang="en-US" altLang="en-US" b="1" i="0" u="none" strike="noStrike" cap="none" normalizeH="0" baseline="0" dirty="0">
                <a:ln>
                  <a:noFill/>
                </a:ln>
                <a:solidFill>
                  <a:schemeClr val="tx1"/>
                </a:solidFill>
                <a:effectLst/>
                <a:latin typeface="+mn-lt"/>
              </a:rPr>
              <a:t>RQ3 </a:t>
            </a:r>
            <a:r>
              <a:rPr kumimoji="0" lang="en-US" altLang="en-US" b="1" i="0" u="none" strike="noStrike" cap="none" normalizeH="0" baseline="0" dirty="0" err="1">
                <a:ln>
                  <a:noFill/>
                </a:ln>
                <a:solidFill>
                  <a:schemeClr val="tx1"/>
                </a:solidFill>
                <a:effectLst/>
                <a:latin typeface="+mn-lt"/>
              </a:rPr>
              <a:t>Dự</a:t>
            </a:r>
            <a:r>
              <a:rPr kumimoji="0" lang="en-US" altLang="en-US" b="1" i="0" u="none" strike="noStrike" cap="none" normalizeH="0" baseline="0" dirty="0">
                <a:ln>
                  <a:noFill/>
                </a:ln>
                <a:solidFill>
                  <a:schemeClr val="tx1"/>
                </a:solidFill>
                <a:effectLst/>
                <a:latin typeface="+mn-lt"/>
              </a:rPr>
              <a:t> </a:t>
            </a:r>
            <a:r>
              <a:rPr kumimoji="0" lang="en-US" altLang="en-US" b="1" i="0" u="none" strike="noStrike" cap="none" normalizeH="0" baseline="0" dirty="0" err="1">
                <a:ln>
                  <a:noFill/>
                </a:ln>
                <a:solidFill>
                  <a:schemeClr val="tx1"/>
                </a:solidFill>
                <a:effectLst/>
                <a:latin typeface="+mn-lt"/>
              </a:rPr>
              <a:t>đoán</a:t>
            </a:r>
            <a:r>
              <a:rPr kumimoji="0" lang="en-US" altLang="en-US" b="1" i="0" u="none" strike="noStrike" cap="none" normalizeH="0" baseline="0" dirty="0">
                <a:ln>
                  <a:noFill/>
                </a:ln>
                <a:solidFill>
                  <a:schemeClr val="tx1"/>
                </a:solidFill>
                <a:effectLst/>
                <a:latin typeface="+mn-lt"/>
              </a:rPr>
              <a:t> </a:t>
            </a:r>
            <a:r>
              <a:rPr kumimoji="0" lang="en-US" altLang="en-US" b="1" i="0" u="none" strike="noStrike" cap="none" normalizeH="0" baseline="0" dirty="0" err="1">
                <a:ln>
                  <a:noFill/>
                </a:ln>
                <a:solidFill>
                  <a:schemeClr val="tx1"/>
                </a:solidFill>
                <a:effectLst/>
                <a:latin typeface="+mn-lt"/>
              </a:rPr>
              <a:t>lương</a:t>
            </a:r>
            <a:r>
              <a:rPr kumimoji="0" lang="en-US" altLang="en-US" b="1" i="0" u="none" strike="noStrike" cap="none" normalizeH="0" baseline="0">
                <a:ln>
                  <a:noFill/>
                </a:ln>
                <a:solidFill>
                  <a:schemeClr val="tx1"/>
                </a:solidFill>
                <a:effectLst/>
                <a:latin typeface="+mn-lt"/>
              </a:rPr>
              <a:t>:</a:t>
            </a:r>
            <a:r>
              <a:rPr kumimoji="0" lang="en-US" altLang="en-US" b="0" i="0" u="none" strike="noStrike" cap="none" normalizeH="0" baseline="0">
                <a:ln>
                  <a:noFill/>
                </a:ln>
                <a:solidFill>
                  <a:schemeClr val="tx1"/>
                </a:solidFill>
                <a:effectLst/>
                <a:latin typeface="+mn-lt"/>
              </a:rPr>
              <a:t> </a:t>
            </a:r>
            <a:r>
              <a:rPr lang="en-US" i="1"/>
              <a:t>Những yếu tố nào trong thông tin tuyển dụng (nội dung công việc, kỹ năng, kinh nghiệm, vị trí địa lý và đặc điểm doanh nghiệp) có ảnh hưởng đáng kể đến mức lương được công bố, và mức độ dự đoán lương từ các yếu tố này đến đâu?</a:t>
            </a:r>
            <a:endParaRPr kumimoji="0" lang="en-US" altLang="en-US"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344734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a:t>
            </a:fld>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2. Cơ sở lý thuyết</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720000" y="1091078"/>
            <a:ext cx="3314672"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a:t>	</a:t>
            </a:r>
            <a:endParaRPr sz="1400" dirty="0"/>
          </a:p>
        </p:txBody>
      </p:sp>
      <p:sp>
        <p:nvSpPr>
          <p:cNvPr id="2" name="Subtitle 1">
            <a:extLst>
              <a:ext uri="{FF2B5EF4-FFF2-40B4-BE49-F238E27FC236}">
                <a16:creationId xmlns:a16="http://schemas.microsoft.com/office/drawing/2014/main" id="{BB0EC1EC-7B39-4F92-91EF-F9CD5606980F}"/>
              </a:ext>
            </a:extLst>
          </p:cNvPr>
          <p:cNvSpPr>
            <a:spLocks noGrp="1" noChangeArrowheads="1"/>
          </p:cNvSpPr>
          <p:nvPr>
            <p:ph type="subTitle" idx="1"/>
          </p:nvPr>
        </p:nvSpPr>
        <p:spPr bwMode="auto">
          <a:xfrm>
            <a:off x="720000" y="1461649"/>
            <a:ext cx="385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err="1">
                <a:ln>
                  <a:noFill/>
                </a:ln>
                <a:solidFill>
                  <a:schemeClr val="tx1"/>
                </a:solidFill>
                <a:effectLst/>
                <a:latin typeface="+mj-lt"/>
              </a:rPr>
              <a:t>Khai</a:t>
            </a:r>
            <a:r>
              <a:rPr kumimoji="0" lang="en-US" altLang="en-US" sz="1400" b="1"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phá</a:t>
            </a:r>
            <a:r>
              <a:rPr kumimoji="0" lang="en-US" altLang="en-US" sz="1400" b="1"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dữ</a:t>
            </a:r>
            <a:r>
              <a:rPr kumimoji="0" lang="en-US" altLang="en-US" sz="1400" b="1"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liệu</a:t>
            </a:r>
            <a:r>
              <a:rPr kumimoji="0" lang="en-US" altLang="en-US" sz="1400" b="1" i="0" u="none" strike="noStrike" cap="none" normalizeH="0" baseline="0" dirty="0">
                <a:ln>
                  <a:noFill/>
                </a:ln>
                <a:solidFill>
                  <a:schemeClr val="tx1"/>
                </a:solidFill>
                <a:effectLst/>
                <a:latin typeface="+mj-lt"/>
              </a:rPr>
              <a:t> (Data Mining)</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và</a:t>
            </a:r>
            <a:r>
              <a:rPr kumimoji="0" lang="en-US" altLang="en-US" sz="1400" b="0"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Phân</a:t>
            </a:r>
            <a:r>
              <a:rPr kumimoji="0" lang="en-US" altLang="en-US" sz="1400" b="1"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tích</a:t>
            </a:r>
            <a:r>
              <a:rPr kumimoji="0" lang="en-US" altLang="en-US" sz="1400" b="1"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khám</a:t>
            </a:r>
            <a:r>
              <a:rPr kumimoji="0" lang="en-US" altLang="en-US" sz="1400" b="1"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phá</a:t>
            </a:r>
            <a:r>
              <a:rPr kumimoji="0" lang="en-US" altLang="en-US" sz="1400" b="1"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dữ</a:t>
            </a:r>
            <a:r>
              <a:rPr kumimoji="0" lang="en-US" altLang="en-US" sz="1400" b="1" i="0" u="none" strike="noStrike" cap="none" normalizeH="0" baseline="0" dirty="0">
                <a:ln>
                  <a:noFill/>
                </a:ln>
                <a:solidFill>
                  <a:schemeClr val="tx1"/>
                </a:solidFill>
                <a:effectLst/>
                <a:latin typeface="+mj-lt"/>
              </a:rPr>
              <a:t> </a:t>
            </a:r>
            <a:r>
              <a:rPr kumimoji="0" lang="en-US" altLang="en-US" sz="1400" b="1" i="0" u="none" strike="noStrike" cap="none" normalizeH="0" baseline="0" dirty="0" err="1">
                <a:ln>
                  <a:noFill/>
                </a:ln>
                <a:solidFill>
                  <a:schemeClr val="tx1"/>
                </a:solidFill>
                <a:effectLst/>
                <a:latin typeface="+mj-lt"/>
              </a:rPr>
              <a:t>liệu</a:t>
            </a:r>
            <a:r>
              <a:rPr kumimoji="0" lang="en-US" altLang="en-US" sz="1400" b="1" i="0" u="none" strike="noStrike" cap="none" normalizeH="0" baseline="0" dirty="0">
                <a:ln>
                  <a:noFill/>
                </a:ln>
                <a:solidFill>
                  <a:schemeClr val="tx1"/>
                </a:solidFill>
                <a:effectLst/>
                <a:latin typeface="+mj-lt"/>
              </a:rPr>
              <a:t> (EDA)</a:t>
            </a:r>
            <a:br>
              <a:rPr kumimoji="0" lang="en-US" altLang="en-US" sz="1400" b="0" i="0" u="none" strike="noStrike" cap="none" normalizeH="0" baseline="0" dirty="0">
                <a:ln>
                  <a:noFill/>
                </a:ln>
                <a:solidFill>
                  <a:schemeClr val="tx1"/>
                </a:solidFill>
                <a:effectLst/>
                <a:latin typeface="+mj-lt"/>
              </a:rPr>
            </a:br>
            <a:r>
              <a:rPr lang="en-US" altLang="en-US" sz="1400" dirty="0">
                <a:solidFill>
                  <a:schemeClr val="tx1"/>
                </a:solidFill>
                <a:latin typeface="+mj-lt"/>
              </a:rPr>
              <a:t>- </a:t>
            </a:r>
            <a:r>
              <a:rPr kumimoji="0" lang="en-US" altLang="en-US" sz="1400" b="0" i="0" u="none" strike="noStrike" cap="none" normalizeH="0" baseline="0" dirty="0" err="1">
                <a:ln>
                  <a:noFill/>
                </a:ln>
                <a:solidFill>
                  <a:schemeClr val="tx1"/>
                </a:solidFill>
                <a:effectLst/>
                <a:latin typeface="+mj-lt"/>
              </a:rPr>
              <a:t>Khám</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phá</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cấu</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trúc</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và</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khuynh</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hướng</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tiềm</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ẩn</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trong</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dữ</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liệu</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tuyển</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dụng</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quy</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mô</a:t>
            </a:r>
            <a:r>
              <a:rPr kumimoji="0" lang="en-US" altLang="en-US" sz="1400" b="0" i="0" u="none" strike="noStrike" cap="none" normalizeH="0" baseline="0" dirty="0">
                <a:ln>
                  <a:noFill/>
                </a:ln>
                <a:solidFill>
                  <a:schemeClr val="tx1"/>
                </a:solidFill>
                <a:effectLst/>
                <a:latin typeface="+mj-lt"/>
              </a:rPr>
              <a:t> </a:t>
            </a:r>
            <a:r>
              <a:rPr kumimoji="0" lang="en-US" altLang="en-US" sz="1400" b="0" i="0" u="none" strike="noStrike" cap="none" normalizeH="0" baseline="0" dirty="0" err="1">
                <a:ln>
                  <a:noFill/>
                </a:ln>
                <a:solidFill>
                  <a:schemeClr val="tx1"/>
                </a:solidFill>
                <a:effectLst/>
                <a:latin typeface="+mj-lt"/>
              </a:rPr>
              <a:t>lớn</a:t>
            </a:r>
            <a:endParaRPr kumimoji="0" lang="en-US" altLang="en-US" b="0" i="0" u="none" strike="noStrike" cap="none" normalizeH="0" baseline="0" dirty="0">
              <a:ln>
                <a:noFill/>
              </a:ln>
              <a:solidFill>
                <a:schemeClr val="tx1"/>
              </a:solidFill>
              <a:effectLst/>
              <a:latin typeface="+mj-lt"/>
            </a:endParaRPr>
          </a:p>
        </p:txBody>
      </p:sp>
      <p:pic>
        <p:nvPicPr>
          <p:cNvPr id="9" name="Picture 8" descr="ffsdfsdfsfsffdf">
            <a:extLst>
              <a:ext uri="{FF2B5EF4-FFF2-40B4-BE49-F238E27FC236}">
                <a16:creationId xmlns:a16="http://schemas.microsoft.com/office/drawing/2014/main" id="{4DFD2496-7B6A-4BC8-B0C5-8AE0DF5DA64F}"/>
              </a:ext>
            </a:extLst>
          </p:cNvPr>
          <p:cNvPicPr>
            <a:picLocks noChangeAspect="1"/>
          </p:cNvPicPr>
          <p:nvPr/>
        </p:nvPicPr>
        <p:blipFill>
          <a:blip r:embed="rId3"/>
          <a:stretch>
            <a:fillRect/>
          </a:stretch>
        </p:blipFill>
        <p:spPr>
          <a:xfrm>
            <a:off x="5170163" y="1017725"/>
            <a:ext cx="2868900" cy="1552222"/>
          </a:xfrm>
          <a:prstGeom prst="rect">
            <a:avLst/>
          </a:prstGeom>
        </p:spPr>
      </p:pic>
      <p:pic>
        <p:nvPicPr>
          <p:cNvPr id="11" name="Picture 10">
            <a:extLst>
              <a:ext uri="{FF2B5EF4-FFF2-40B4-BE49-F238E27FC236}">
                <a16:creationId xmlns:a16="http://schemas.microsoft.com/office/drawing/2014/main" id="{4E44E4F6-BBB9-4F05-AC46-3930A24972DD}"/>
              </a:ext>
            </a:extLst>
          </p:cNvPr>
          <p:cNvPicPr>
            <a:picLocks noChangeAspect="1"/>
          </p:cNvPicPr>
          <p:nvPr/>
        </p:nvPicPr>
        <p:blipFill>
          <a:blip r:embed="rId4"/>
          <a:stretch>
            <a:fillRect/>
          </a:stretch>
        </p:blipFill>
        <p:spPr>
          <a:xfrm>
            <a:off x="5170163" y="2793694"/>
            <a:ext cx="2868900" cy="1650235"/>
          </a:xfrm>
          <a:prstGeom prst="rect">
            <a:avLst/>
          </a:prstGeom>
        </p:spPr>
      </p:pic>
      <p:sp>
        <p:nvSpPr>
          <p:cNvPr id="3" name="TextBox 2">
            <a:extLst>
              <a:ext uri="{FF2B5EF4-FFF2-40B4-BE49-F238E27FC236}">
                <a16:creationId xmlns:a16="http://schemas.microsoft.com/office/drawing/2014/main" id="{FCE08E34-5848-46AE-9473-1C82A107C9C6}"/>
              </a:ext>
            </a:extLst>
          </p:cNvPr>
          <p:cNvSpPr txBox="1"/>
          <p:nvPr/>
        </p:nvSpPr>
        <p:spPr>
          <a:xfrm>
            <a:off x="720000" y="3032262"/>
            <a:ext cx="3852000" cy="954107"/>
          </a:xfrm>
          <a:prstGeom prst="rect">
            <a:avLst/>
          </a:prstGeom>
          <a:noFill/>
        </p:spPr>
        <p:txBody>
          <a:bodyPr wrap="square" rtlCol="0">
            <a:spAutoFit/>
          </a:bodyPr>
          <a:lstStyle/>
          <a:p>
            <a:r>
              <a:rPr kumimoji="0" lang="en-US" altLang="en-US" sz="1400" b="1" i="0" u="none" strike="noStrike" cap="none" normalizeH="0" baseline="0" dirty="0" err="1">
                <a:ln>
                  <a:noFill/>
                </a:ln>
                <a:solidFill>
                  <a:schemeClr val="tx1"/>
                </a:solidFill>
                <a:effectLst/>
                <a:latin typeface="+mn-lt"/>
              </a:rPr>
              <a:t>Khai</a:t>
            </a:r>
            <a:r>
              <a:rPr kumimoji="0" lang="en-US" altLang="en-US" sz="1400" b="1" i="0" u="none" strike="noStrike" cap="none" normalizeH="0" baseline="0" dirty="0">
                <a:ln>
                  <a:noFill/>
                </a:ln>
                <a:solidFill>
                  <a:schemeClr val="tx1"/>
                </a:solidFill>
                <a:effectLst/>
                <a:latin typeface="+mn-lt"/>
              </a:rPr>
              <a:t> </a:t>
            </a:r>
            <a:r>
              <a:rPr kumimoji="0" lang="en-US" altLang="en-US" sz="1400" b="1" i="0" u="none" strike="noStrike" cap="none" normalizeH="0" baseline="0" dirty="0" err="1">
                <a:ln>
                  <a:noFill/>
                </a:ln>
                <a:solidFill>
                  <a:schemeClr val="tx1"/>
                </a:solidFill>
                <a:effectLst/>
                <a:latin typeface="+mn-lt"/>
              </a:rPr>
              <a:t>phá</a:t>
            </a:r>
            <a:r>
              <a:rPr kumimoji="0" lang="en-US" altLang="en-US" sz="1400" b="1" i="0" u="none" strike="noStrike" cap="none" normalizeH="0" baseline="0" dirty="0">
                <a:ln>
                  <a:noFill/>
                </a:ln>
                <a:solidFill>
                  <a:schemeClr val="tx1"/>
                </a:solidFill>
                <a:effectLst/>
                <a:latin typeface="+mn-lt"/>
              </a:rPr>
              <a:t> </a:t>
            </a:r>
            <a:r>
              <a:rPr kumimoji="0" lang="en-US" altLang="en-US" sz="1400" b="1" i="0" u="none" strike="noStrike" cap="none" normalizeH="0" baseline="0" dirty="0" err="1">
                <a:ln>
                  <a:noFill/>
                </a:ln>
                <a:solidFill>
                  <a:schemeClr val="tx1"/>
                </a:solidFill>
                <a:effectLst/>
                <a:latin typeface="+mn-lt"/>
              </a:rPr>
              <a:t>văn</a:t>
            </a:r>
            <a:r>
              <a:rPr kumimoji="0" lang="en-US" altLang="en-US" sz="1400" b="1" i="0" u="none" strike="noStrike" cap="none" normalizeH="0" baseline="0" dirty="0">
                <a:ln>
                  <a:noFill/>
                </a:ln>
                <a:solidFill>
                  <a:schemeClr val="tx1"/>
                </a:solidFill>
                <a:effectLst/>
                <a:latin typeface="+mn-lt"/>
              </a:rPr>
              <a:t> </a:t>
            </a:r>
            <a:r>
              <a:rPr kumimoji="0" lang="en-US" altLang="en-US" sz="1400" b="1" i="0" u="none" strike="noStrike" cap="none" normalizeH="0" baseline="0" dirty="0" err="1">
                <a:ln>
                  <a:noFill/>
                </a:ln>
                <a:solidFill>
                  <a:schemeClr val="tx1"/>
                </a:solidFill>
                <a:effectLst/>
                <a:latin typeface="+mn-lt"/>
              </a:rPr>
              <a:t>bản</a:t>
            </a:r>
            <a:r>
              <a:rPr kumimoji="0" lang="en-US" altLang="en-US" sz="1400" b="1" i="0" u="none" strike="noStrike" cap="none" normalizeH="0" baseline="0" dirty="0">
                <a:ln>
                  <a:noFill/>
                </a:ln>
                <a:solidFill>
                  <a:schemeClr val="tx1"/>
                </a:solidFill>
                <a:effectLst/>
                <a:latin typeface="+mn-lt"/>
              </a:rPr>
              <a:t> (Text Mining)</a:t>
            </a:r>
            <a:br>
              <a:rPr kumimoji="0" lang="en-US" altLang="en-US" sz="1400" b="0" i="0" u="none" strike="noStrike" cap="none" normalizeH="0" baseline="0" dirty="0">
                <a:ln>
                  <a:noFill/>
                </a:ln>
                <a:solidFill>
                  <a:schemeClr val="tx1"/>
                </a:solidFill>
                <a:effectLst/>
                <a:latin typeface="+mn-lt"/>
              </a:rPr>
            </a:br>
            <a:r>
              <a:rPr lang="en-US" altLang="en-US" sz="1400" dirty="0">
                <a:solidFill>
                  <a:schemeClr val="tx1"/>
                </a:solidFill>
                <a:latin typeface="+mn-lt"/>
              </a:rPr>
              <a:t>- </a:t>
            </a:r>
            <a:r>
              <a:rPr kumimoji="0" lang="en-US" altLang="en-US" sz="1400" b="0" i="0" u="none" strike="noStrike" cap="none" normalizeH="0" baseline="0" dirty="0" err="1">
                <a:ln>
                  <a:noFill/>
                </a:ln>
                <a:solidFill>
                  <a:schemeClr val="tx1"/>
                </a:solidFill>
                <a:effectLst/>
                <a:latin typeface="+mn-lt"/>
              </a:rPr>
              <a:t>Biểu</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diễn</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mô</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tả</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công</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việc</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bằng</a:t>
            </a:r>
            <a:r>
              <a:rPr kumimoji="0" lang="en-US" altLang="en-US" sz="1400" b="0" i="0" u="none" strike="noStrike" cap="none" normalizeH="0" baseline="0" dirty="0">
                <a:ln>
                  <a:noFill/>
                </a:ln>
                <a:solidFill>
                  <a:schemeClr val="tx1"/>
                </a:solidFill>
                <a:effectLst/>
                <a:latin typeface="+mn-lt"/>
              </a:rPr>
              <a:t> </a:t>
            </a:r>
            <a:r>
              <a:rPr kumimoji="0" lang="en-US" altLang="en-US" sz="1400" b="1" i="0" u="none" strike="noStrike" cap="none" normalizeH="0" baseline="0" dirty="0">
                <a:ln>
                  <a:noFill/>
                </a:ln>
                <a:solidFill>
                  <a:schemeClr val="tx1"/>
                </a:solidFill>
                <a:effectLst/>
                <a:latin typeface="+mn-lt"/>
              </a:rPr>
              <a:t>TF-IDF</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và</a:t>
            </a:r>
            <a:r>
              <a:rPr kumimoji="0" lang="en-US" altLang="en-US" sz="1400" b="0" i="0" u="none" strike="noStrike" cap="none" normalizeH="0" baseline="0" dirty="0">
                <a:ln>
                  <a:noFill/>
                </a:ln>
                <a:solidFill>
                  <a:schemeClr val="tx1"/>
                </a:solidFill>
                <a:effectLst/>
                <a:latin typeface="+mn-lt"/>
              </a:rPr>
              <a:t> </a:t>
            </a:r>
            <a:r>
              <a:rPr kumimoji="0" lang="en-US" altLang="en-US" sz="1400" b="1" i="0" u="none" strike="noStrike" cap="none" normalizeH="0" baseline="0" dirty="0">
                <a:ln>
                  <a:noFill/>
                </a:ln>
                <a:solidFill>
                  <a:schemeClr val="tx1"/>
                </a:solidFill>
                <a:effectLst/>
                <a:latin typeface="+mn-lt"/>
              </a:rPr>
              <a:t>n-gram</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để</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phân</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tích</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nội</a:t>
            </a:r>
            <a:r>
              <a:rPr kumimoji="0" lang="en-US" altLang="en-US" sz="1400" b="0" i="0" u="none" strike="noStrike" cap="none" normalizeH="0" baseline="0" dirty="0">
                <a:ln>
                  <a:noFill/>
                </a:ln>
                <a:solidFill>
                  <a:schemeClr val="tx1"/>
                </a:solidFill>
                <a:effectLst/>
                <a:latin typeface="+mn-lt"/>
              </a:rPr>
              <a:t> dung.</a:t>
            </a:r>
          </a:p>
          <a:p>
            <a:endParaRPr lang="en-US" dirty="0">
              <a:latin typeface="+mn-lt"/>
            </a:endParaRPr>
          </a:p>
        </p:txBody>
      </p:sp>
      <p:sp>
        <p:nvSpPr>
          <p:cNvPr id="4" name="TextBox 3">
            <a:extLst>
              <a:ext uri="{FF2B5EF4-FFF2-40B4-BE49-F238E27FC236}">
                <a16:creationId xmlns:a16="http://schemas.microsoft.com/office/drawing/2014/main" id="{314B1A8C-A37F-4957-A046-1F919B9510F4}"/>
              </a:ext>
            </a:extLst>
          </p:cNvPr>
          <p:cNvSpPr txBox="1"/>
          <p:nvPr/>
        </p:nvSpPr>
        <p:spPr>
          <a:xfrm>
            <a:off x="5170163" y="2569947"/>
            <a:ext cx="2868899" cy="215444"/>
          </a:xfrm>
          <a:prstGeom prst="rect">
            <a:avLst/>
          </a:prstGeom>
          <a:noFill/>
        </p:spPr>
        <p:txBody>
          <a:bodyPr wrap="square" rtlCol="0">
            <a:spAutoFit/>
          </a:bodyPr>
          <a:lstStyle/>
          <a:p>
            <a:pPr algn="ctr"/>
            <a:r>
              <a:rPr lang="en-US" sz="800" b="1" i="1" dirty="0">
                <a:latin typeface="+mj-lt"/>
              </a:rPr>
              <a:t>Minh </a:t>
            </a:r>
            <a:r>
              <a:rPr lang="en-US" sz="800" b="1" i="1" dirty="0" err="1">
                <a:latin typeface="+mj-lt"/>
              </a:rPr>
              <a:t>họa</a:t>
            </a:r>
            <a:r>
              <a:rPr lang="en-US" sz="800" b="1" i="1" dirty="0">
                <a:latin typeface="+mj-lt"/>
              </a:rPr>
              <a:t> EDA</a:t>
            </a:r>
          </a:p>
        </p:txBody>
      </p:sp>
      <p:sp>
        <p:nvSpPr>
          <p:cNvPr id="14" name="TextBox 13">
            <a:extLst>
              <a:ext uri="{FF2B5EF4-FFF2-40B4-BE49-F238E27FC236}">
                <a16:creationId xmlns:a16="http://schemas.microsoft.com/office/drawing/2014/main" id="{86DFFF55-E893-4A48-BB8F-2FDF2703FA2E}"/>
              </a:ext>
            </a:extLst>
          </p:cNvPr>
          <p:cNvSpPr txBox="1"/>
          <p:nvPr/>
        </p:nvSpPr>
        <p:spPr>
          <a:xfrm>
            <a:off x="5170163" y="4468145"/>
            <a:ext cx="2868900" cy="215444"/>
          </a:xfrm>
          <a:prstGeom prst="rect">
            <a:avLst/>
          </a:prstGeom>
          <a:noFill/>
        </p:spPr>
        <p:txBody>
          <a:bodyPr wrap="square">
            <a:spAutoFit/>
          </a:bodyPr>
          <a:lstStyle/>
          <a:p>
            <a:pPr algn="ctr"/>
            <a:r>
              <a:rPr lang="en-US" sz="800" b="1" i="1" dirty="0">
                <a:latin typeface="+mj-lt"/>
              </a:rPr>
              <a:t>Minh </a:t>
            </a:r>
            <a:r>
              <a:rPr lang="en-US" sz="800" b="1" i="1" dirty="0" err="1">
                <a:latin typeface="+mj-lt"/>
              </a:rPr>
              <a:t>họa</a:t>
            </a:r>
            <a:r>
              <a:rPr lang="en-US" sz="800" b="1" i="1" dirty="0">
                <a:latin typeface="+mj-lt"/>
              </a:rPr>
              <a:t> Text Mining</a:t>
            </a:r>
          </a:p>
        </p:txBody>
      </p:sp>
    </p:spTree>
    <p:extLst>
      <p:ext uri="{BB962C8B-B14F-4D97-AF65-F5344CB8AC3E}">
        <p14:creationId xmlns:p14="http://schemas.microsoft.com/office/powerpoint/2010/main" val="1492421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8</a:t>
            </a:fld>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2. Cơ sở lý thuyết</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720000" y="1091078"/>
            <a:ext cx="3314672"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a:t>	</a:t>
            </a:r>
            <a:endParaRPr sz="1400" dirty="0"/>
          </a:p>
        </p:txBody>
      </p:sp>
      <p:sp>
        <p:nvSpPr>
          <p:cNvPr id="2" name="Subtitle 1">
            <a:extLst>
              <a:ext uri="{FF2B5EF4-FFF2-40B4-BE49-F238E27FC236}">
                <a16:creationId xmlns:a16="http://schemas.microsoft.com/office/drawing/2014/main" id="{BB0EC1EC-7B39-4F92-91EF-F9CD5606980F}"/>
              </a:ext>
            </a:extLst>
          </p:cNvPr>
          <p:cNvSpPr>
            <a:spLocks noGrp="1" noChangeArrowheads="1"/>
          </p:cNvSpPr>
          <p:nvPr>
            <p:ph type="subTitle" idx="1"/>
          </p:nvPr>
        </p:nvSpPr>
        <p:spPr bwMode="auto">
          <a:xfrm>
            <a:off x="720000" y="1461649"/>
            <a:ext cx="385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pPr>
            <a:r>
              <a:rPr lang="en-US" altLang="en-US" sz="1400" b="1" dirty="0" err="1">
                <a:solidFill>
                  <a:schemeClr val="tx1"/>
                </a:solidFill>
                <a:latin typeface="+mj-lt"/>
              </a:rPr>
              <a:t>Phân</a:t>
            </a:r>
            <a:r>
              <a:rPr lang="en-US" altLang="en-US" sz="1400" b="1" dirty="0">
                <a:solidFill>
                  <a:schemeClr val="tx1"/>
                </a:solidFill>
                <a:latin typeface="+mj-lt"/>
              </a:rPr>
              <a:t> </a:t>
            </a:r>
            <a:r>
              <a:rPr lang="en-US" altLang="en-US" sz="1400" b="1" dirty="0" err="1">
                <a:solidFill>
                  <a:schemeClr val="tx1"/>
                </a:solidFill>
                <a:latin typeface="+mj-lt"/>
              </a:rPr>
              <a:t>cụm</a:t>
            </a:r>
            <a:r>
              <a:rPr lang="en-US" altLang="en-US" sz="1400" b="1" dirty="0">
                <a:solidFill>
                  <a:schemeClr val="tx1"/>
                </a:solidFill>
                <a:latin typeface="+mj-lt"/>
              </a:rPr>
              <a:t> &amp; </a:t>
            </a:r>
            <a:r>
              <a:rPr lang="en-US" altLang="en-US" sz="1400" b="1" dirty="0" err="1">
                <a:solidFill>
                  <a:schemeClr val="tx1"/>
                </a:solidFill>
                <a:latin typeface="+mj-lt"/>
              </a:rPr>
              <a:t>Khai</a:t>
            </a:r>
            <a:r>
              <a:rPr lang="en-US" altLang="en-US" sz="1400" b="1" dirty="0">
                <a:solidFill>
                  <a:schemeClr val="tx1"/>
                </a:solidFill>
                <a:latin typeface="+mj-lt"/>
              </a:rPr>
              <a:t> </a:t>
            </a:r>
            <a:r>
              <a:rPr lang="en-US" altLang="en-US" sz="1400" b="1" dirty="0" err="1">
                <a:solidFill>
                  <a:schemeClr val="tx1"/>
                </a:solidFill>
                <a:latin typeface="+mj-lt"/>
              </a:rPr>
              <a:t>phá</a:t>
            </a:r>
            <a:r>
              <a:rPr lang="en-US" altLang="en-US" sz="1400" b="1" dirty="0">
                <a:solidFill>
                  <a:schemeClr val="tx1"/>
                </a:solidFill>
                <a:latin typeface="+mj-lt"/>
              </a:rPr>
              <a:t> </a:t>
            </a:r>
            <a:r>
              <a:rPr lang="en-US" altLang="en-US" sz="1400" b="1" dirty="0" err="1">
                <a:solidFill>
                  <a:schemeClr val="tx1"/>
                </a:solidFill>
                <a:latin typeface="+mj-lt"/>
              </a:rPr>
              <a:t>mẫu</a:t>
            </a:r>
            <a:r>
              <a:rPr lang="en-US" altLang="en-US" sz="1400" b="1" dirty="0">
                <a:solidFill>
                  <a:schemeClr val="tx1"/>
                </a:solidFill>
                <a:latin typeface="+mj-lt"/>
              </a:rPr>
              <a:t> (Clustering &amp; Pattern Mining)</a:t>
            </a:r>
            <a:br>
              <a:rPr lang="en-US" altLang="en-US" sz="1400" dirty="0">
                <a:solidFill>
                  <a:schemeClr val="tx1"/>
                </a:solidFill>
                <a:latin typeface="+mj-lt"/>
              </a:rPr>
            </a:br>
            <a:r>
              <a:rPr lang="en-US" altLang="en-US" sz="1400" dirty="0">
                <a:solidFill>
                  <a:schemeClr val="tx1"/>
                </a:solidFill>
                <a:latin typeface="+mj-lt"/>
              </a:rPr>
              <a:t>- </a:t>
            </a:r>
            <a:r>
              <a:rPr lang="en-US" altLang="en-US" sz="1400" dirty="0" err="1">
                <a:solidFill>
                  <a:schemeClr val="tx1"/>
                </a:solidFill>
                <a:latin typeface="+mj-lt"/>
              </a:rPr>
              <a:t>Phát</a:t>
            </a:r>
            <a:r>
              <a:rPr lang="en-US" altLang="en-US" sz="1400" dirty="0">
                <a:solidFill>
                  <a:schemeClr val="tx1"/>
                </a:solidFill>
                <a:latin typeface="+mj-lt"/>
              </a:rPr>
              <a:t> </a:t>
            </a:r>
            <a:r>
              <a:rPr lang="en-US" altLang="en-US" sz="1400" dirty="0" err="1">
                <a:solidFill>
                  <a:schemeClr val="tx1"/>
                </a:solidFill>
                <a:latin typeface="+mj-lt"/>
              </a:rPr>
              <a:t>hiện</a:t>
            </a:r>
            <a:r>
              <a:rPr lang="en-US" altLang="en-US" sz="1400" dirty="0">
                <a:solidFill>
                  <a:schemeClr val="tx1"/>
                </a:solidFill>
                <a:latin typeface="+mj-lt"/>
              </a:rPr>
              <a:t> </a:t>
            </a:r>
            <a:r>
              <a:rPr lang="en-US" altLang="en-US" sz="1400" b="1" dirty="0" err="1">
                <a:solidFill>
                  <a:schemeClr val="tx1"/>
                </a:solidFill>
                <a:latin typeface="+mj-lt"/>
              </a:rPr>
              <a:t>chủ</a:t>
            </a:r>
            <a:r>
              <a:rPr lang="en-US" altLang="en-US" sz="1400" b="1" dirty="0">
                <a:solidFill>
                  <a:schemeClr val="tx1"/>
                </a:solidFill>
                <a:latin typeface="+mj-lt"/>
              </a:rPr>
              <a:t> </a:t>
            </a:r>
            <a:r>
              <a:rPr lang="en-US" altLang="en-US" sz="1400" b="1" dirty="0" err="1">
                <a:solidFill>
                  <a:schemeClr val="tx1"/>
                </a:solidFill>
                <a:latin typeface="+mj-lt"/>
              </a:rPr>
              <a:t>đề</a:t>
            </a:r>
            <a:r>
              <a:rPr lang="en-US" altLang="en-US" sz="1400" b="1" dirty="0">
                <a:solidFill>
                  <a:schemeClr val="tx1"/>
                </a:solidFill>
                <a:latin typeface="+mj-lt"/>
              </a:rPr>
              <a:t> </a:t>
            </a:r>
            <a:r>
              <a:rPr lang="en-US" altLang="en-US" sz="1400" b="1" dirty="0" err="1">
                <a:solidFill>
                  <a:schemeClr val="tx1"/>
                </a:solidFill>
                <a:latin typeface="+mj-lt"/>
              </a:rPr>
              <a:t>nội</a:t>
            </a:r>
            <a:r>
              <a:rPr lang="en-US" altLang="en-US" sz="1400" b="1" dirty="0">
                <a:solidFill>
                  <a:schemeClr val="tx1"/>
                </a:solidFill>
                <a:latin typeface="+mj-lt"/>
              </a:rPr>
              <a:t> dung JD</a:t>
            </a:r>
            <a:r>
              <a:rPr lang="en-US" altLang="en-US" sz="1400" dirty="0">
                <a:solidFill>
                  <a:schemeClr val="tx1"/>
                </a:solidFill>
                <a:latin typeface="+mj-lt"/>
              </a:rPr>
              <a:t> </a:t>
            </a:r>
            <a:r>
              <a:rPr lang="en-US" altLang="en-US" sz="1400" dirty="0" err="1">
                <a:solidFill>
                  <a:schemeClr val="tx1"/>
                </a:solidFill>
                <a:latin typeface="+mj-lt"/>
              </a:rPr>
              <a:t>và</a:t>
            </a:r>
            <a:r>
              <a:rPr lang="en-US" altLang="en-US" sz="1400" dirty="0">
                <a:solidFill>
                  <a:schemeClr val="tx1"/>
                </a:solidFill>
                <a:latin typeface="+mj-lt"/>
              </a:rPr>
              <a:t> </a:t>
            </a:r>
            <a:r>
              <a:rPr lang="en-US" altLang="en-US" sz="1400" b="1" dirty="0" err="1">
                <a:solidFill>
                  <a:schemeClr val="tx1"/>
                </a:solidFill>
                <a:latin typeface="+mj-lt"/>
              </a:rPr>
              <a:t>các</a:t>
            </a:r>
            <a:r>
              <a:rPr lang="en-US" altLang="en-US" sz="1400" b="1" dirty="0">
                <a:solidFill>
                  <a:schemeClr val="tx1"/>
                </a:solidFill>
                <a:latin typeface="+mj-lt"/>
              </a:rPr>
              <a:t> </a:t>
            </a:r>
            <a:r>
              <a:rPr lang="en-US" altLang="en-US" sz="1400" b="1" dirty="0" err="1">
                <a:solidFill>
                  <a:schemeClr val="tx1"/>
                </a:solidFill>
                <a:latin typeface="+mj-lt"/>
              </a:rPr>
              <a:t>mẫu</a:t>
            </a:r>
            <a:r>
              <a:rPr lang="en-US" altLang="en-US" sz="1400" b="1" dirty="0">
                <a:solidFill>
                  <a:schemeClr val="tx1"/>
                </a:solidFill>
                <a:latin typeface="+mj-lt"/>
              </a:rPr>
              <a:t> </a:t>
            </a:r>
            <a:r>
              <a:rPr lang="en-US" altLang="en-US" sz="1400" b="1" dirty="0" err="1">
                <a:solidFill>
                  <a:schemeClr val="tx1"/>
                </a:solidFill>
                <a:latin typeface="+mj-lt"/>
              </a:rPr>
              <a:t>đồng</a:t>
            </a:r>
            <a:r>
              <a:rPr lang="en-US" altLang="en-US" sz="1400" b="1" dirty="0">
                <a:solidFill>
                  <a:schemeClr val="tx1"/>
                </a:solidFill>
                <a:latin typeface="+mj-lt"/>
              </a:rPr>
              <a:t> </a:t>
            </a:r>
            <a:r>
              <a:rPr lang="en-US" altLang="en-US" sz="1400" b="1" dirty="0" err="1">
                <a:solidFill>
                  <a:schemeClr val="tx1"/>
                </a:solidFill>
                <a:latin typeface="+mj-lt"/>
              </a:rPr>
              <a:t>xuất</a:t>
            </a:r>
            <a:r>
              <a:rPr lang="en-US" altLang="en-US" sz="1400" b="1" dirty="0">
                <a:solidFill>
                  <a:schemeClr val="tx1"/>
                </a:solidFill>
                <a:latin typeface="+mj-lt"/>
              </a:rPr>
              <a:t> </a:t>
            </a:r>
            <a:r>
              <a:rPr lang="en-US" altLang="en-US" sz="1400" b="1" dirty="0" err="1">
                <a:solidFill>
                  <a:schemeClr val="tx1"/>
                </a:solidFill>
                <a:latin typeface="+mj-lt"/>
              </a:rPr>
              <a:t>hiện</a:t>
            </a:r>
            <a:r>
              <a:rPr lang="en-US" altLang="en-US" sz="1400" b="1" dirty="0">
                <a:solidFill>
                  <a:schemeClr val="tx1"/>
                </a:solidFill>
                <a:latin typeface="+mj-lt"/>
              </a:rPr>
              <a:t> </a:t>
            </a:r>
            <a:r>
              <a:rPr lang="en-US" altLang="en-US" sz="1400" b="1" dirty="0" err="1">
                <a:solidFill>
                  <a:schemeClr val="tx1"/>
                </a:solidFill>
                <a:latin typeface="+mj-lt"/>
              </a:rPr>
              <a:t>kỹ</a:t>
            </a:r>
            <a:r>
              <a:rPr lang="en-US" altLang="en-US" sz="1400" b="1" dirty="0">
                <a:solidFill>
                  <a:schemeClr val="tx1"/>
                </a:solidFill>
                <a:latin typeface="+mj-lt"/>
              </a:rPr>
              <a:t> </a:t>
            </a:r>
            <a:r>
              <a:rPr lang="en-US" altLang="en-US" sz="1400" b="1" dirty="0" err="1">
                <a:solidFill>
                  <a:schemeClr val="tx1"/>
                </a:solidFill>
                <a:latin typeface="+mj-lt"/>
              </a:rPr>
              <a:t>năng</a:t>
            </a:r>
            <a:r>
              <a:rPr lang="en-US" altLang="en-US" sz="1400" dirty="0">
                <a:solidFill>
                  <a:schemeClr val="tx1"/>
                </a:solidFill>
                <a:latin typeface="+mj-lt"/>
              </a:rPr>
              <a:t>.</a:t>
            </a:r>
          </a:p>
        </p:txBody>
      </p:sp>
      <p:sp>
        <p:nvSpPr>
          <p:cNvPr id="3" name="TextBox 2">
            <a:extLst>
              <a:ext uri="{FF2B5EF4-FFF2-40B4-BE49-F238E27FC236}">
                <a16:creationId xmlns:a16="http://schemas.microsoft.com/office/drawing/2014/main" id="{FCE08E34-5848-46AE-9473-1C82A107C9C6}"/>
              </a:ext>
            </a:extLst>
          </p:cNvPr>
          <p:cNvSpPr txBox="1"/>
          <p:nvPr/>
        </p:nvSpPr>
        <p:spPr>
          <a:xfrm>
            <a:off x="720000" y="3032262"/>
            <a:ext cx="3852000" cy="954107"/>
          </a:xfrm>
          <a:prstGeom prst="rect">
            <a:avLst/>
          </a:prstGeom>
          <a:noFill/>
        </p:spPr>
        <p:txBody>
          <a:bodyPr wrap="square" rtlCol="0">
            <a:spAutoFit/>
          </a:bodyPr>
          <a:lstStyle/>
          <a:p>
            <a:r>
              <a:rPr lang="en-US" altLang="en-US" sz="1400" b="1" dirty="0" err="1">
                <a:solidFill>
                  <a:schemeClr val="tx1"/>
                </a:solidFill>
                <a:latin typeface="+mj-lt"/>
              </a:rPr>
              <a:t>Hồi</a:t>
            </a:r>
            <a:r>
              <a:rPr lang="en-US" altLang="en-US" sz="1400" b="1" dirty="0">
                <a:solidFill>
                  <a:schemeClr val="tx1"/>
                </a:solidFill>
                <a:latin typeface="+mj-lt"/>
              </a:rPr>
              <a:t> </a:t>
            </a:r>
            <a:r>
              <a:rPr lang="en-US" altLang="en-US" sz="1400" b="1" dirty="0" err="1">
                <a:solidFill>
                  <a:schemeClr val="tx1"/>
                </a:solidFill>
                <a:latin typeface="+mj-lt"/>
              </a:rPr>
              <a:t>quy</a:t>
            </a:r>
            <a:r>
              <a:rPr lang="en-US" altLang="en-US" sz="1400" b="1" dirty="0">
                <a:solidFill>
                  <a:schemeClr val="tx1"/>
                </a:solidFill>
                <a:latin typeface="+mj-lt"/>
              </a:rPr>
              <a:t> &amp; Random Forest</a:t>
            </a:r>
            <a:br>
              <a:rPr lang="en-US" altLang="en-US" sz="1400" dirty="0">
                <a:solidFill>
                  <a:schemeClr val="tx1"/>
                </a:solidFill>
                <a:latin typeface="+mj-lt"/>
              </a:rPr>
            </a:br>
            <a:r>
              <a:rPr lang="en-US" altLang="en-US" sz="1400" dirty="0">
                <a:solidFill>
                  <a:schemeClr val="tx1"/>
                </a:solidFill>
                <a:latin typeface="+mj-lt"/>
              </a:rPr>
              <a:t>- </a:t>
            </a:r>
            <a:r>
              <a:rPr lang="en-US" altLang="en-US" sz="1400" dirty="0" err="1">
                <a:solidFill>
                  <a:schemeClr val="tx1"/>
                </a:solidFill>
                <a:latin typeface="+mj-lt"/>
              </a:rPr>
              <a:t>Phân</a:t>
            </a:r>
            <a:r>
              <a:rPr lang="en-US" altLang="en-US" sz="1400" dirty="0">
                <a:solidFill>
                  <a:schemeClr val="tx1"/>
                </a:solidFill>
                <a:latin typeface="+mj-lt"/>
              </a:rPr>
              <a:t> </a:t>
            </a:r>
            <a:r>
              <a:rPr lang="en-US" altLang="en-US" sz="1400" dirty="0" err="1">
                <a:solidFill>
                  <a:schemeClr val="tx1"/>
                </a:solidFill>
                <a:latin typeface="+mj-lt"/>
              </a:rPr>
              <a:t>tích</a:t>
            </a:r>
            <a:r>
              <a:rPr lang="en-US" altLang="en-US" sz="1400" dirty="0">
                <a:solidFill>
                  <a:schemeClr val="tx1"/>
                </a:solidFill>
                <a:latin typeface="+mj-lt"/>
              </a:rPr>
              <a:t> </a:t>
            </a:r>
            <a:r>
              <a:rPr lang="en-US" altLang="en-US" sz="1400" b="1" dirty="0" err="1">
                <a:solidFill>
                  <a:schemeClr val="tx1"/>
                </a:solidFill>
                <a:latin typeface="+mj-lt"/>
              </a:rPr>
              <a:t>các</a:t>
            </a:r>
            <a:r>
              <a:rPr lang="en-US" altLang="en-US" sz="1400" b="1" dirty="0">
                <a:solidFill>
                  <a:schemeClr val="tx1"/>
                </a:solidFill>
                <a:latin typeface="+mj-lt"/>
              </a:rPr>
              <a:t> </a:t>
            </a:r>
            <a:r>
              <a:rPr lang="en-US" altLang="en-US" sz="1400" b="1" dirty="0" err="1">
                <a:solidFill>
                  <a:schemeClr val="tx1"/>
                </a:solidFill>
                <a:latin typeface="+mj-lt"/>
              </a:rPr>
              <a:t>yếu</a:t>
            </a:r>
            <a:r>
              <a:rPr lang="en-US" altLang="en-US" sz="1400" b="1" dirty="0">
                <a:solidFill>
                  <a:schemeClr val="tx1"/>
                </a:solidFill>
                <a:latin typeface="+mj-lt"/>
              </a:rPr>
              <a:t> </a:t>
            </a:r>
            <a:r>
              <a:rPr lang="en-US" altLang="en-US" sz="1400" b="1" dirty="0" err="1">
                <a:solidFill>
                  <a:schemeClr val="tx1"/>
                </a:solidFill>
                <a:latin typeface="+mj-lt"/>
              </a:rPr>
              <a:t>tố</a:t>
            </a:r>
            <a:r>
              <a:rPr lang="en-US" altLang="en-US" sz="1400" b="1" dirty="0">
                <a:solidFill>
                  <a:schemeClr val="tx1"/>
                </a:solidFill>
                <a:latin typeface="+mj-lt"/>
              </a:rPr>
              <a:t> </a:t>
            </a:r>
            <a:r>
              <a:rPr lang="en-US" altLang="en-US" sz="1400" b="1" dirty="0" err="1">
                <a:solidFill>
                  <a:schemeClr val="tx1"/>
                </a:solidFill>
                <a:latin typeface="+mj-lt"/>
              </a:rPr>
              <a:t>ảnh</a:t>
            </a:r>
            <a:r>
              <a:rPr lang="en-US" altLang="en-US" sz="1400" b="1" dirty="0">
                <a:solidFill>
                  <a:schemeClr val="tx1"/>
                </a:solidFill>
                <a:latin typeface="+mj-lt"/>
              </a:rPr>
              <a:t> </a:t>
            </a:r>
            <a:r>
              <a:rPr lang="en-US" altLang="en-US" sz="1400" b="1" dirty="0" err="1">
                <a:solidFill>
                  <a:schemeClr val="tx1"/>
                </a:solidFill>
                <a:latin typeface="+mj-lt"/>
              </a:rPr>
              <a:t>hưởng</a:t>
            </a:r>
            <a:r>
              <a:rPr lang="en-US" altLang="en-US" sz="1400" b="1" dirty="0">
                <a:solidFill>
                  <a:schemeClr val="tx1"/>
                </a:solidFill>
                <a:latin typeface="+mj-lt"/>
              </a:rPr>
              <a:t> </a:t>
            </a:r>
            <a:r>
              <a:rPr lang="en-US" altLang="en-US" sz="1400" b="1" dirty="0" err="1">
                <a:solidFill>
                  <a:schemeClr val="tx1"/>
                </a:solidFill>
                <a:latin typeface="+mj-lt"/>
              </a:rPr>
              <a:t>đến</a:t>
            </a:r>
            <a:r>
              <a:rPr lang="en-US" altLang="en-US" sz="1400" b="1" dirty="0">
                <a:solidFill>
                  <a:schemeClr val="tx1"/>
                </a:solidFill>
                <a:latin typeface="+mj-lt"/>
              </a:rPr>
              <a:t> </a:t>
            </a:r>
            <a:r>
              <a:rPr lang="en-US" altLang="en-US" sz="1400" b="1" dirty="0" err="1">
                <a:solidFill>
                  <a:schemeClr val="tx1"/>
                </a:solidFill>
                <a:latin typeface="+mj-lt"/>
              </a:rPr>
              <a:t>mức</a:t>
            </a:r>
            <a:r>
              <a:rPr lang="en-US" altLang="en-US" sz="1400" b="1" dirty="0">
                <a:solidFill>
                  <a:schemeClr val="tx1"/>
                </a:solidFill>
                <a:latin typeface="+mj-lt"/>
              </a:rPr>
              <a:t> </a:t>
            </a:r>
            <a:r>
              <a:rPr lang="en-US" altLang="en-US" sz="1400" b="1" dirty="0" err="1">
                <a:solidFill>
                  <a:schemeClr val="tx1"/>
                </a:solidFill>
                <a:latin typeface="+mj-lt"/>
              </a:rPr>
              <a:t>lương</a:t>
            </a:r>
            <a:r>
              <a:rPr lang="en-US" altLang="en-US" sz="1400" dirty="0">
                <a:solidFill>
                  <a:schemeClr val="tx1"/>
                </a:solidFill>
                <a:latin typeface="+mj-lt"/>
              </a:rPr>
              <a:t> </a:t>
            </a:r>
            <a:r>
              <a:rPr lang="en-US" altLang="en-US" sz="1400" dirty="0" err="1">
                <a:solidFill>
                  <a:schemeClr val="tx1"/>
                </a:solidFill>
                <a:latin typeface="+mj-lt"/>
              </a:rPr>
              <a:t>và</a:t>
            </a:r>
            <a:r>
              <a:rPr lang="en-US" altLang="en-US" sz="1400" dirty="0">
                <a:solidFill>
                  <a:schemeClr val="tx1"/>
                </a:solidFill>
                <a:latin typeface="+mj-lt"/>
              </a:rPr>
              <a:t> </a:t>
            </a:r>
            <a:r>
              <a:rPr lang="en-US" altLang="en-US" sz="1400" dirty="0" err="1">
                <a:solidFill>
                  <a:schemeClr val="tx1"/>
                </a:solidFill>
                <a:latin typeface="+mj-lt"/>
              </a:rPr>
              <a:t>đánh</a:t>
            </a:r>
            <a:r>
              <a:rPr lang="en-US" altLang="en-US" sz="1400" dirty="0">
                <a:solidFill>
                  <a:schemeClr val="tx1"/>
                </a:solidFill>
                <a:latin typeface="+mj-lt"/>
              </a:rPr>
              <a:t> </a:t>
            </a:r>
            <a:r>
              <a:rPr lang="en-US" altLang="en-US" sz="1400" dirty="0" err="1">
                <a:solidFill>
                  <a:schemeClr val="tx1"/>
                </a:solidFill>
                <a:latin typeface="+mj-lt"/>
              </a:rPr>
              <a:t>giá</a:t>
            </a:r>
            <a:r>
              <a:rPr lang="en-US" altLang="en-US" sz="1400" dirty="0">
                <a:solidFill>
                  <a:schemeClr val="tx1"/>
                </a:solidFill>
                <a:latin typeface="+mj-lt"/>
              </a:rPr>
              <a:t> </a:t>
            </a:r>
            <a:r>
              <a:rPr lang="en-US" altLang="en-US" sz="1400" dirty="0" err="1">
                <a:solidFill>
                  <a:schemeClr val="tx1"/>
                </a:solidFill>
                <a:latin typeface="+mj-lt"/>
              </a:rPr>
              <a:t>khả</a:t>
            </a:r>
            <a:r>
              <a:rPr lang="en-US" altLang="en-US" sz="1400" dirty="0">
                <a:solidFill>
                  <a:schemeClr val="tx1"/>
                </a:solidFill>
                <a:latin typeface="+mj-lt"/>
              </a:rPr>
              <a:t> </a:t>
            </a:r>
            <a:r>
              <a:rPr lang="en-US" altLang="en-US" sz="1400" dirty="0" err="1">
                <a:solidFill>
                  <a:schemeClr val="tx1"/>
                </a:solidFill>
                <a:latin typeface="+mj-lt"/>
              </a:rPr>
              <a:t>năng</a:t>
            </a:r>
            <a:r>
              <a:rPr lang="en-US" altLang="en-US" sz="1400" dirty="0">
                <a:solidFill>
                  <a:schemeClr val="tx1"/>
                </a:solidFill>
                <a:latin typeface="+mj-lt"/>
              </a:rPr>
              <a:t> </a:t>
            </a:r>
            <a:r>
              <a:rPr lang="en-US" altLang="en-US" sz="1400" dirty="0" err="1">
                <a:solidFill>
                  <a:schemeClr val="tx1"/>
                </a:solidFill>
                <a:latin typeface="+mj-lt"/>
              </a:rPr>
              <a:t>dự</a:t>
            </a:r>
            <a:r>
              <a:rPr lang="en-US" altLang="en-US" sz="1400" dirty="0">
                <a:solidFill>
                  <a:schemeClr val="tx1"/>
                </a:solidFill>
                <a:latin typeface="+mj-lt"/>
              </a:rPr>
              <a:t> </a:t>
            </a:r>
            <a:r>
              <a:rPr lang="en-US" altLang="en-US" sz="1400" dirty="0" err="1">
                <a:solidFill>
                  <a:schemeClr val="tx1"/>
                </a:solidFill>
                <a:latin typeface="+mj-lt"/>
              </a:rPr>
              <a:t>đoán</a:t>
            </a:r>
            <a:r>
              <a:rPr lang="en-US" altLang="en-US" sz="1400" dirty="0">
                <a:solidFill>
                  <a:schemeClr val="tx1"/>
                </a:solidFill>
                <a:latin typeface="+mj-lt"/>
              </a:rPr>
              <a:t>.</a:t>
            </a:r>
          </a:p>
          <a:p>
            <a:endParaRPr lang="en-US" dirty="0">
              <a:latin typeface="+mj-lt"/>
            </a:endParaRPr>
          </a:p>
        </p:txBody>
      </p:sp>
      <p:sp>
        <p:nvSpPr>
          <p:cNvPr id="4" name="TextBox 3">
            <a:extLst>
              <a:ext uri="{FF2B5EF4-FFF2-40B4-BE49-F238E27FC236}">
                <a16:creationId xmlns:a16="http://schemas.microsoft.com/office/drawing/2014/main" id="{314B1A8C-A37F-4957-A046-1F919B9510F4}"/>
              </a:ext>
            </a:extLst>
          </p:cNvPr>
          <p:cNvSpPr txBox="1"/>
          <p:nvPr/>
        </p:nvSpPr>
        <p:spPr>
          <a:xfrm>
            <a:off x="5170163" y="2569947"/>
            <a:ext cx="2868899" cy="246221"/>
          </a:xfrm>
          <a:prstGeom prst="rect">
            <a:avLst/>
          </a:prstGeom>
          <a:noFill/>
        </p:spPr>
        <p:txBody>
          <a:bodyPr wrap="square" rtlCol="0">
            <a:spAutoFit/>
          </a:bodyPr>
          <a:lstStyle/>
          <a:p>
            <a:pPr algn="ctr"/>
            <a:r>
              <a:rPr lang="en-US" sz="1000" dirty="0">
                <a:latin typeface="+mj-lt"/>
              </a:rPr>
              <a:t>Minh </a:t>
            </a:r>
            <a:r>
              <a:rPr lang="en-US" sz="1000" dirty="0" err="1">
                <a:latin typeface="+mj-lt"/>
              </a:rPr>
              <a:t>họa</a:t>
            </a:r>
            <a:r>
              <a:rPr lang="en-US" sz="1000" dirty="0">
                <a:latin typeface="+mj-lt"/>
              </a:rPr>
              <a:t> </a:t>
            </a:r>
            <a:r>
              <a:rPr lang="en-US" sz="1000" dirty="0" err="1">
                <a:latin typeface="+mj-lt"/>
              </a:rPr>
              <a:t>phân</a:t>
            </a:r>
            <a:r>
              <a:rPr lang="en-US" sz="1000" dirty="0">
                <a:latin typeface="+mj-lt"/>
              </a:rPr>
              <a:t> </a:t>
            </a:r>
            <a:r>
              <a:rPr lang="en-US" sz="1000" dirty="0" err="1">
                <a:latin typeface="+mj-lt"/>
              </a:rPr>
              <a:t>cụm</a:t>
            </a:r>
            <a:endParaRPr lang="en-US" sz="1000" dirty="0">
              <a:latin typeface="+mj-lt"/>
            </a:endParaRPr>
          </a:p>
        </p:txBody>
      </p:sp>
      <p:sp>
        <p:nvSpPr>
          <p:cNvPr id="14" name="TextBox 13">
            <a:extLst>
              <a:ext uri="{FF2B5EF4-FFF2-40B4-BE49-F238E27FC236}">
                <a16:creationId xmlns:a16="http://schemas.microsoft.com/office/drawing/2014/main" id="{86DFFF55-E893-4A48-BB8F-2FDF2703FA2E}"/>
              </a:ext>
            </a:extLst>
          </p:cNvPr>
          <p:cNvSpPr txBox="1"/>
          <p:nvPr/>
        </p:nvSpPr>
        <p:spPr>
          <a:xfrm>
            <a:off x="5170163" y="4468145"/>
            <a:ext cx="2868900" cy="246221"/>
          </a:xfrm>
          <a:prstGeom prst="rect">
            <a:avLst/>
          </a:prstGeom>
          <a:noFill/>
        </p:spPr>
        <p:txBody>
          <a:bodyPr wrap="square">
            <a:spAutoFit/>
          </a:bodyPr>
          <a:lstStyle/>
          <a:p>
            <a:pPr algn="ctr"/>
            <a:r>
              <a:rPr lang="en-US" sz="1000" dirty="0">
                <a:latin typeface="+mj-lt"/>
              </a:rPr>
              <a:t>Minh </a:t>
            </a:r>
            <a:r>
              <a:rPr lang="en-US" sz="1000" dirty="0" err="1">
                <a:latin typeface="+mj-lt"/>
              </a:rPr>
              <a:t>họa</a:t>
            </a:r>
            <a:r>
              <a:rPr lang="en-US" sz="1000" dirty="0">
                <a:latin typeface="+mj-lt"/>
              </a:rPr>
              <a:t> </a:t>
            </a:r>
            <a:r>
              <a:rPr lang="en-US" sz="1000" dirty="0" err="1">
                <a:latin typeface="+mj-lt"/>
              </a:rPr>
              <a:t>RandomForest</a:t>
            </a:r>
            <a:endParaRPr lang="en-US" sz="1000" dirty="0">
              <a:latin typeface="+mj-lt"/>
            </a:endParaRPr>
          </a:p>
        </p:txBody>
      </p:sp>
      <p:pic>
        <p:nvPicPr>
          <p:cNvPr id="13" name="Picture 12">
            <a:extLst>
              <a:ext uri="{FF2B5EF4-FFF2-40B4-BE49-F238E27FC236}">
                <a16:creationId xmlns:a16="http://schemas.microsoft.com/office/drawing/2014/main" id="{FFA19467-835B-4B90-BA4C-F35D67AAE041}"/>
              </a:ext>
            </a:extLst>
          </p:cNvPr>
          <p:cNvPicPr>
            <a:picLocks noChangeAspect="1"/>
          </p:cNvPicPr>
          <p:nvPr/>
        </p:nvPicPr>
        <p:blipFill>
          <a:blip r:embed="rId3"/>
          <a:stretch>
            <a:fillRect/>
          </a:stretch>
        </p:blipFill>
        <p:spPr>
          <a:xfrm>
            <a:off x="5376722" y="1017725"/>
            <a:ext cx="2455779" cy="1553260"/>
          </a:xfrm>
          <a:prstGeom prst="rect">
            <a:avLst/>
          </a:prstGeom>
        </p:spPr>
      </p:pic>
      <p:pic>
        <p:nvPicPr>
          <p:cNvPr id="15" name="Picture 14">
            <a:extLst>
              <a:ext uri="{FF2B5EF4-FFF2-40B4-BE49-F238E27FC236}">
                <a16:creationId xmlns:a16="http://schemas.microsoft.com/office/drawing/2014/main" id="{9B1D62D1-9AF3-4FAB-BA32-DBB49B10F78B}"/>
              </a:ext>
            </a:extLst>
          </p:cNvPr>
          <p:cNvPicPr>
            <a:picLocks noChangeAspect="1"/>
          </p:cNvPicPr>
          <p:nvPr/>
        </p:nvPicPr>
        <p:blipFill>
          <a:blip r:embed="rId4"/>
          <a:stretch>
            <a:fillRect/>
          </a:stretch>
        </p:blipFill>
        <p:spPr>
          <a:xfrm>
            <a:off x="5376722" y="2869757"/>
            <a:ext cx="2435102" cy="1650235"/>
          </a:xfrm>
          <a:prstGeom prst="rect">
            <a:avLst/>
          </a:prstGeom>
        </p:spPr>
      </p:pic>
    </p:spTree>
    <p:extLst>
      <p:ext uri="{BB962C8B-B14F-4D97-AF65-F5344CB8AC3E}">
        <p14:creationId xmlns:p14="http://schemas.microsoft.com/office/powerpoint/2010/main" val="432113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9</a:t>
            </a:fld>
            <a:endParaRPr/>
          </a:p>
        </p:txBody>
      </p:sp>
      <p:sp>
        <p:nvSpPr>
          <p:cNvPr id="341" name="Google Shape;341;p33"/>
          <p:cNvSpPr txBox="1">
            <a:spLocks noGrp="1"/>
          </p:cNvSpPr>
          <p:nvPr>
            <p:ph type="title"/>
          </p:nvPr>
        </p:nvSpPr>
        <p:spPr>
          <a:xfrm>
            <a:off x="335063" y="416430"/>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3. Dữ liệu và phương pháp</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572502" y="941284"/>
            <a:ext cx="3314672"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sz="1800" dirty="0"/>
          </a:p>
          <a:p>
            <a:pPr marL="0" lvl="0" indent="0" algn="l" rtl="0">
              <a:spcBef>
                <a:spcPts val="0"/>
              </a:spcBef>
              <a:spcAft>
                <a:spcPts val="0"/>
              </a:spcAft>
              <a:buNone/>
            </a:pPr>
            <a:r>
              <a:rPr lang="en-US" sz="1800" dirty="0" err="1"/>
              <a:t>Tổng</a:t>
            </a:r>
            <a:r>
              <a:rPr lang="en-US" sz="1800" dirty="0"/>
              <a:t> </a:t>
            </a:r>
            <a:r>
              <a:rPr lang="en-US" sz="1800" dirty="0" err="1"/>
              <a:t>quan</a:t>
            </a:r>
            <a:r>
              <a:rPr lang="en-US" sz="1800" dirty="0"/>
              <a:t> </a:t>
            </a:r>
            <a:r>
              <a:rPr lang="en-US" sz="1800" dirty="0" err="1"/>
              <a:t>bộ</a:t>
            </a:r>
            <a:r>
              <a:rPr lang="en-US" sz="1800" dirty="0"/>
              <a:t> </a:t>
            </a:r>
            <a:r>
              <a:rPr lang="en-US" sz="1800" dirty="0" err="1"/>
              <a:t>dữ</a:t>
            </a:r>
            <a:r>
              <a:rPr lang="en-US" sz="1800" dirty="0"/>
              <a:t> </a:t>
            </a:r>
            <a:r>
              <a:rPr lang="en-US" sz="1800" dirty="0" err="1"/>
              <a:t>liệu</a:t>
            </a:r>
            <a:r>
              <a:rPr lang="en-US" sz="1800" dirty="0"/>
              <a:t> LinkedIn</a:t>
            </a:r>
            <a:r>
              <a:rPr lang="en-US" sz="1400" dirty="0"/>
              <a:t>	</a:t>
            </a:r>
            <a:endParaRPr sz="1400" dirty="0"/>
          </a:p>
        </p:txBody>
      </p:sp>
      <p:pic>
        <p:nvPicPr>
          <p:cNvPr id="10" name="Picture 9">
            <a:extLst>
              <a:ext uri="{FF2B5EF4-FFF2-40B4-BE49-F238E27FC236}">
                <a16:creationId xmlns:a16="http://schemas.microsoft.com/office/drawing/2014/main" id="{5C6E120E-AF9F-4F12-8CDF-666DF5D987B1}"/>
              </a:ext>
            </a:extLst>
          </p:cNvPr>
          <p:cNvPicPr/>
          <p:nvPr/>
        </p:nvPicPr>
        <p:blipFill>
          <a:blip r:embed="rId3">
            <a:extLst>
              <a:ext uri="{28A0092B-C50C-407E-A947-70E740481C1C}">
                <a14:useLocalDpi xmlns:a14="http://schemas.microsoft.com/office/drawing/2010/main" val="0"/>
              </a:ext>
            </a:extLst>
          </a:blip>
          <a:stretch>
            <a:fillRect/>
          </a:stretch>
        </p:blipFill>
        <p:spPr>
          <a:xfrm>
            <a:off x="4793530" y="416430"/>
            <a:ext cx="4053525" cy="3065633"/>
          </a:xfrm>
          <a:prstGeom prst="rect">
            <a:avLst/>
          </a:prstGeom>
        </p:spPr>
      </p:pic>
      <p:pic>
        <p:nvPicPr>
          <p:cNvPr id="15" name="Picture 14">
            <a:extLst>
              <a:ext uri="{FF2B5EF4-FFF2-40B4-BE49-F238E27FC236}">
                <a16:creationId xmlns:a16="http://schemas.microsoft.com/office/drawing/2014/main" id="{F3A22461-CAA8-4EEF-B3F4-2C163EC85A19}"/>
              </a:ext>
            </a:extLst>
          </p:cNvPr>
          <p:cNvPicPr/>
          <p:nvPr/>
        </p:nvPicPr>
        <p:blipFill>
          <a:blip r:embed="rId4">
            <a:extLst>
              <a:ext uri="{28A0092B-C50C-407E-A947-70E740481C1C}">
                <a14:useLocalDpi xmlns:a14="http://schemas.microsoft.com/office/drawing/2010/main" val="0"/>
              </a:ext>
            </a:extLst>
          </a:blip>
          <a:stretch>
            <a:fillRect/>
          </a:stretch>
        </p:blipFill>
        <p:spPr>
          <a:xfrm>
            <a:off x="942539" y="2989070"/>
            <a:ext cx="3314672" cy="1795033"/>
          </a:xfrm>
          <a:prstGeom prst="rect">
            <a:avLst/>
          </a:prstGeom>
        </p:spPr>
      </p:pic>
      <p:sp>
        <p:nvSpPr>
          <p:cNvPr id="9" name="TextBox 8">
            <a:extLst>
              <a:ext uri="{FF2B5EF4-FFF2-40B4-BE49-F238E27FC236}">
                <a16:creationId xmlns:a16="http://schemas.microsoft.com/office/drawing/2014/main" id="{845D02EE-BC4C-42E3-A706-37546857A256}"/>
              </a:ext>
            </a:extLst>
          </p:cNvPr>
          <p:cNvSpPr txBox="1"/>
          <p:nvPr/>
        </p:nvSpPr>
        <p:spPr>
          <a:xfrm>
            <a:off x="942539" y="4769675"/>
            <a:ext cx="3314672" cy="21544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2:</a:t>
            </a:r>
            <a:r>
              <a:rPr lang="en-US" sz="800"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Quy</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trình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tích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hợp</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và</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tiền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xử</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lý</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dữ</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liệu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tuyển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dụng</a:t>
            </a:r>
            <a:r>
              <a:rPr lang="en-US" sz="800" b="1" i="1" dirty="0">
                <a:effectLst/>
                <a:latin typeface="Times New Roman" panose="02020603050405020304" pitchFamily="18" charset="0"/>
                <a:ea typeface="Times New Roman" panose="02020603050405020304" pitchFamily="18" charset="0"/>
              </a:rPr>
              <a:t> LinkedIn</a:t>
            </a:r>
            <a:endParaRPr lang="en-US" sz="800" dirty="0">
              <a:latin typeface="+mn-lt"/>
            </a:endParaRPr>
          </a:p>
        </p:txBody>
      </p:sp>
      <p:sp>
        <p:nvSpPr>
          <p:cNvPr id="11" name="TextBox 10">
            <a:extLst>
              <a:ext uri="{FF2B5EF4-FFF2-40B4-BE49-F238E27FC236}">
                <a16:creationId xmlns:a16="http://schemas.microsoft.com/office/drawing/2014/main" id="{65B33C6F-397E-46F3-A1E3-D951FBF5E20D}"/>
              </a:ext>
            </a:extLst>
          </p:cNvPr>
          <p:cNvSpPr txBox="1"/>
          <p:nvPr/>
        </p:nvSpPr>
        <p:spPr>
          <a:xfrm>
            <a:off x="4846351" y="3224897"/>
            <a:ext cx="3900874" cy="21544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 </a:t>
            </a:r>
            <a:r>
              <a:rPr lang="en-US" sz="800" b="1" i="1" dirty="0">
                <a:latin typeface="Times New Roman" panose="02020603050405020304" pitchFamily="18" charset="0"/>
                <a:ea typeface="Times New Roman" panose="02020603050405020304" pitchFamily="18" charset="0"/>
              </a:rPr>
              <a:t>M</a:t>
            </a:r>
            <a:r>
              <a:rPr lang="en-US" sz="800" b="1" i="1" dirty="0">
                <a:effectLst/>
                <a:latin typeface="Times New Roman" panose="02020603050405020304" pitchFamily="18" charset="0"/>
                <a:ea typeface="Times New Roman" panose="02020603050405020304" pitchFamily="18" charset="0"/>
              </a:rPr>
              <a:t>inh </a:t>
            </a:r>
            <a:r>
              <a:rPr lang="en-US" sz="800" b="1" i="1" dirty="0" err="1">
                <a:effectLst/>
                <a:latin typeface="Times New Roman" panose="02020603050405020304" pitchFamily="18" charset="0"/>
                <a:ea typeface="Times New Roman" panose="02020603050405020304" pitchFamily="18" charset="0"/>
              </a:rPr>
              <a:t>họa</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sơ</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đồ</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quan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hệ</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rút</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gọn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của</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bộ</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dữ</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liệu</a:t>
            </a:r>
            <a:r>
              <a:rPr lang="en-US" sz="800" b="1" i="1" dirty="0">
                <a:effectLst/>
                <a:latin typeface="Times New Roman" panose="02020603050405020304" pitchFamily="18" charset="0"/>
                <a:ea typeface="Times New Roman" panose="02020603050405020304" pitchFamily="18" charset="0"/>
              </a:rPr>
              <a:t> </a:t>
            </a:r>
            <a:endParaRPr lang="en-US" sz="800" b="1" dirty="0">
              <a:latin typeface="+mn-lt"/>
            </a:endParaRPr>
          </a:p>
        </p:txBody>
      </p:sp>
      <p:sp>
        <p:nvSpPr>
          <p:cNvPr id="12" name="Rectangle 3">
            <a:extLst>
              <a:ext uri="{FF2B5EF4-FFF2-40B4-BE49-F238E27FC236}">
                <a16:creationId xmlns:a16="http://schemas.microsoft.com/office/drawing/2014/main" id="{4EFB2C0B-FDF2-4F5C-9C9A-FED6FF3F26BB}"/>
              </a:ext>
            </a:extLst>
          </p:cNvPr>
          <p:cNvSpPr>
            <a:spLocks noGrp="1" noChangeArrowheads="1"/>
          </p:cNvSpPr>
          <p:nvPr>
            <p:ph type="subTitle" idx="1"/>
          </p:nvPr>
        </p:nvSpPr>
        <p:spPr bwMode="auto">
          <a:xfrm>
            <a:off x="572502" y="1285905"/>
            <a:ext cx="435938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a:ln>
                  <a:noFill/>
                </a:ln>
                <a:solidFill>
                  <a:schemeClr val="tx1"/>
                </a:solidFill>
                <a:effectLst/>
                <a:latin typeface="+mn-lt"/>
              </a:rPr>
              <a:t>postings.csv: </a:t>
            </a:r>
            <a:r>
              <a:rPr kumimoji="0" lang="en-US" altLang="en-US" sz="1000" b="0" i="0" u="none" strike="noStrike" cap="none" normalizeH="0" baseline="0" dirty="0" err="1">
                <a:ln>
                  <a:noFill/>
                </a:ln>
                <a:solidFill>
                  <a:schemeClr val="tx1"/>
                </a:solidFill>
                <a:effectLst/>
                <a:latin typeface="+mn-lt"/>
              </a:rPr>
              <a:t>Bảng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trung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tâm</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chứa</a:t>
            </a:r>
            <a:r>
              <a:rPr kumimoji="0" lang="en-US" altLang="en-US" sz="1000" b="0" i="0" u="none" strike="noStrike" cap="none" normalizeH="0" baseline="0" dirty="0">
                <a:ln>
                  <a:noFill/>
                </a:ln>
                <a:solidFill>
                  <a:schemeClr val="tx1"/>
                </a:solidFill>
                <a:effectLst/>
                <a:latin typeface="+mn-lt"/>
              </a:rPr>
              <a:t> tin </a:t>
            </a:r>
            <a:r>
              <a:rPr kumimoji="0" lang="en-US" altLang="en-US" sz="1000" b="0" i="0" u="none" strike="noStrike" cap="none" normalizeH="0" baseline="0" dirty="0" err="1">
                <a:ln>
                  <a:noFill/>
                </a:ln>
                <a:solidFill>
                  <a:schemeClr val="tx1"/>
                </a:solidFill>
                <a:effectLst/>
                <a:latin typeface="+mn-lt"/>
              </a:rPr>
              <a:t>tuyển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dụng</a:t>
            </a:r>
            <a:r>
              <a:rPr kumimoji="0" lang="en-US" altLang="en-US" sz="1000" b="0" i="0" u="none" strike="noStrike" cap="none" normalizeH="0" baseline="0" dirty="0">
                <a:ln>
                  <a:noFill/>
                </a:ln>
                <a:solidFill>
                  <a:schemeClr val="tx1"/>
                </a:solidFill>
                <a:effectLst/>
                <a:latin typeface="+mn-lt"/>
              </a:rPr>
              <a:t> (Job ID, </a:t>
            </a:r>
            <a:r>
              <a:rPr kumimoji="0" lang="en-US" altLang="en-US" sz="1000" b="0" i="0" u="none" strike="noStrike" cap="none" normalizeH="0" baseline="0" dirty="0" err="1">
                <a:ln>
                  <a:noFill/>
                </a:ln>
                <a:solidFill>
                  <a:schemeClr val="tx1"/>
                </a:solidFill>
                <a:effectLst/>
                <a:latin typeface="+mn-lt"/>
              </a:rPr>
              <a:t>mô</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tả</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lương</a:t>
            </a:r>
            <a:r>
              <a:rPr kumimoji="0" lang="en-US" altLang="en-US" sz="10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a:ln>
                  <a:noFill/>
                </a:ln>
                <a:solidFill>
                  <a:schemeClr val="tx1"/>
                </a:solidFill>
                <a:effectLst/>
                <a:latin typeface="+mn-lt"/>
              </a:rPr>
              <a:t>companies.csv: </a:t>
            </a:r>
            <a:r>
              <a:rPr kumimoji="0" lang="en-US" altLang="en-US" sz="1000" b="0" i="0" u="none" strike="noStrike" cap="none" normalizeH="0" baseline="0" dirty="0" err="1">
                <a:ln>
                  <a:noFill/>
                </a:ln>
                <a:solidFill>
                  <a:schemeClr val="tx1"/>
                </a:solidFill>
                <a:effectLst/>
                <a:latin typeface="+mn-lt"/>
              </a:rPr>
              <a:t>Thông</a:t>
            </a:r>
            <a:r>
              <a:rPr kumimoji="0" lang="en-US" altLang="en-US" sz="1000" b="0" i="0" u="none" strike="noStrike" cap="none" normalizeH="0" baseline="0" dirty="0">
                <a:ln>
                  <a:noFill/>
                </a:ln>
                <a:solidFill>
                  <a:schemeClr val="tx1"/>
                </a:solidFill>
                <a:effectLst/>
                <a:latin typeface="+mn-lt"/>
              </a:rPr>
              <a:t> tin </a:t>
            </a:r>
            <a:r>
              <a:rPr kumimoji="0" lang="en-US" altLang="en-US" sz="1000" b="0" i="0" u="none" strike="noStrike" cap="none" normalizeH="0" baseline="0" dirty="0" err="1">
                <a:ln>
                  <a:noFill/>
                </a:ln>
                <a:solidFill>
                  <a:schemeClr val="tx1"/>
                </a:solidFill>
                <a:effectLst/>
                <a:latin typeface="+mn-lt"/>
              </a:rPr>
              <a:t>doanh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nghiệp</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ngành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nghề</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quy</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mô</a:t>
            </a:r>
            <a:r>
              <a:rPr kumimoji="0" lang="en-US" altLang="en-US" sz="10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a:ln>
                  <a:noFill/>
                </a:ln>
                <a:solidFill>
                  <a:schemeClr val="tx1"/>
                </a:solidFill>
                <a:effectLst/>
                <a:latin typeface="+mn-lt"/>
              </a:rPr>
              <a:t>job_skills.csv &amp; skill_mapping.csv: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gắn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nhãn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và</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bảng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ánh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xạ</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tên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a:ln>
                  <a:noFill/>
                </a:ln>
                <a:solidFill>
                  <a:schemeClr val="tx1"/>
                </a:solidFill>
                <a:effectLst/>
                <a:latin typeface="+mn-lt"/>
              </a:rPr>
              <a:t>employee_counts.csv: </a:t>
            </a:r>
            <a:r>
              <a:rPr kumimoji="0" lang="en-US" altLang="en-US" sz="1000" b="0" i="0" u="none" strike="noStrike" cap="none" normalizeH="0" baseline="0" dirty="0" err="1">
                <a:ln>
                  <a:noFill/>
                </a:ln>
                <a:solidFill>
                  <a:schemeClr val="tx1"/>
                </a:solidFill>
                <a:effectLst/>
                <a:latin typeface="+mn-lt"/>
              </a:rPr>
              <a:t>Lịch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sử</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quy</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mô</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nhân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sự</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và</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lượng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người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theo</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dõi</a:t>
            </a:r>
            <a:r>
              <a:rPr kumimoji="0" lang="en-US" altLang="en-US" sz="10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err="1">
                <a:ln>
                  <a:noFill/>
                </a:ln>
                <a:solidFill>
                  <a:schemeClr val="tx1"/>
                </a:solidFill>
                <a:effectLst/>
                <a:latin typeface="+mn-lt"/>
              </a:rPr>
              <a:t>Chiến</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lược</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tích</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hợp</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dữ</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liệu</a:t>
            </a:r>
            <a:r>
              <a:rPr kumimoji="0" lang="en-US" altLang="en-US" sz="1000" b="1" i="0" u="none" strike="noStrike" cap="none" normalizeH="0" baseline="0" dirty="0">
                <a:ln>
                  <a:noFill/>
                </a:ln>
                <a:solidFill>
                  <a:schemeClr val="tx1"/>
                </a:solidFill>
                <a:effectLst/>
                <a:latin typeface="+mn-lt"/>
              </a:rPr>
              <a:t>:</a:t>
            </a:r>
            <a:endParaRPr kumimoji="0" lang="en-US" altLang="en-US" sz="1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err="1">
                <a:ln>
                  <a:noFill/>
                </a:ln>
                <a:solidFill>
                  <a:schemeClr val="tx1"/>
                </a:solidFill>
                <a:effectLst/>
                <a:latin typeface="+mn-lt"/>
              </a:rPr>
              <a:t>Lấy</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bảng</a:t>
            </a:r>
            <a:r>
              <a:rPr kumimoji="0" lang="en-US" altLang="en-US" sz="1000" b="0" i="0" u="none" strike="noStrike" cap="none" normalizeH="0" baseline="0" dirty="0">
                <a:ln>
                  <a:noFill/>
                </a:ln>
                <a:solidFill>
                  <a:schemeClr val="tx1"/>
                </a:solidFill>
                <a:effectLst/>
                <a:latin typeface="+mn-lt"/>
              </a:rPr>
              <a:t> postings </a:t>
            </a:r>
            <a:r>
              <a:rPr kumimoji="0" lang="en-US" altLang="en-US" sz="1000" b="0" i="0" u="none" strike="noStrike" cap="none" normalizeH="0" baseline="0" dirty="0" err="1">
                <a:ln>
                  <a:noFill/>
                </a:ln>
                <a:solidFill>
                  <a:schemeClr val="tx1"/>
                </a:solidFill>
                <a:effectLst/>
                <a:latin typeface="+mn-lt"/>
              </a:rPr>
              <a:t>làm</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gốc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liên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kết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với</a:t>
            </a:r>
            <a:r>
              <a:rPr kumimoji="0" lang="en-US" altLang="en-US" sz="1000" b="0" i="0" u="none" strike="noStrike" cap="none" normalizeH="0" baseline="0" dirty="0">
                <a:ln>
                  <a:noFill/>
                </a:ln>
                <a:solidFill>
                  <a:schemeClr val="tx1"/>
                </a:solidFill>
                <a:effectLst/>
                <a:latin typeface="+mn-lt"/>
              </a:rPr>
              <a:t> companies qua </a:t>
            </a:r>
            <a:r>
              <a:rPr kumimoji="0" lang="en-US" altLang="en-US" sz="1000" b="0" i="0" u="none" strike="noStrike" cap="none" normalizeH="0" baseline="0" dirty="0" err="1">
                <a:ln>
                  <a:noFill/>
                </a:ln>
                <a:solidFill>
                  <a:schemeClr val="tx1"/>
                </a:solidFill>
                <a:effectLst/>
                <a:latin typeface="+mn-lt"/>
              </a:rPr>
              <a:t>khóa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company_id</a:t>
            </a:r>
            <a:r>
              <a:rPr kumimoji="0" lang="en-US" altLang="en-US" sz="10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err="1">
                <a:ln>
                  <a:noFill/>
                </a:ln>
                <a:solidFill>
                  <a:schemeClr val="tx1"/>
                </a:solidFill>
                <a:effectLst/>
                <a:latin typeface="+mn-lt"/>
              </a:rPr>
              <a:t>Hợp</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nhất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dữ</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liệu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nhân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sự</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Chọn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bản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ghi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mới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nhất</a:t>
            </a:r>
            <a:r>
              <a:rPr kumimoji="0" lang="en-US" altLang="en-US" sz="1000" b="0" i="0" u="none" strike="noStrike" cap="none" normalizeH="0" baseline="0" dirty="0">
                <a:ln>
                  <a:noFill/>
                </a:ln>
                <a:solidFill>
                  <a:schemeClr val="tx1"/>
                </a:solidFill>
                <a:effectLst/>
                <a:latin typeface="+mn-lt"/>
              </a:rPr>
              <a:t> (latest record) </a:t>
            </a:r>
            <a:r>
              <a:rPr kumimoji="0" lang="en-US" altLang="en-US" sz="1000" b="0" i="0" u="none" strike="noStrike" cap="none" normalizeH="0" baseline="0" dirty="0" err="1">
                <a:ln>
                  <a:noFill/>
                </a:ln>
                <a:solidFill>
                  <a:schemeClr val="tx1"/>
                </a:solidFill>
                <a:effectLst/>
                <a:latin typeface="+mn-lt"/>
              </a:rPr>
              <a:t>từ</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employee_counts</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để</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phản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ánh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trạng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thái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hiện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tại</a:t>
            </a:r>
            <a:r>
              <a:rPr kumimoji="0" lang="en-US" altLang="en-US" sz="10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err="1">
                <a:ln>
                  <a:noFill/>
                </a:ln>
                <a:solidFill>
                  <a:schemeClr val="tx1"/>
                </a:solidFill>
                <a:effectLst/>
                <a:latin typeface="+mn-lt"/>
              </a:rPr>
              <a:t>Tổng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hợp</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Ánh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xạ</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từ</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mã</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skill_abr</a:t>
            </a:r>
            <a:r>
              <a:rPr kumimoji="0" lang="en-US" altLang="en-US" sz="1000" b="0" i="0" u="none" strike="noStrike" cap="none" normalizeH="0" baseline="0" dirty="0">
                <a:ln>
                  <a:noFill/>
                </a:ln>
                <a:solidFill>
                  <a:schemeClr val="tx1"/>
                </a:solidFill>
                <a:effectLst/>
                <a:latin typeface="+mn-lt"/>
              </a:rPr>
              <a:t> sang </a:t>
            </a:r>
            <a:r>
              <a:rPr kumimoji="0" lang="en-US" altLang="en-US" sz="1000" b="0" i="0" u="none" strike="noStrike" cap="none" normalizeH="0" baseline="0" dirty="0" err="1">
                <a:ln>
                  <a:noFill/>
                </a:ln>
                <a:solidFill>
                  <a:schemeClr val="tx1"/>
                </a:solidFill>
                <a:effectLst/>
                <a:latin typeface="+mn-lt"/>
              </a:rPr>
              <a:t>tên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đầy</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đủ</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gom</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nhóm</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theo</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job_id</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để</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tạo</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danh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sách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cho</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từng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công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việc</a:t>
            </a:r>
            <a:r>
              <a:rPr kumimoji="0" lang="en-US" altLang="en-US" sz="10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887317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10</a:t>
            </a:fld>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 Dữ liệu và phương pháp</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468881" y="1076373"/>
            <a:ext cx="3462350"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err="1"/>
              <a:t>Thách</a:t>
            </a:r>
            <a:r>
              <a:rPr lang="en-US" sz="1800" dirty="0"/>
              <a:t> </a:t>
            </a:r>
            <a:r>
              <a:rPr lang="en-US" sz="1800" dirty="0" err="1"/>
              <a:t>thức</a:t>
            </a:r>
            <a:r>
              <a:rPr lang="en-US" sz="1800" dirty="0"/>
              <a:t> </a:t>
            </a:r>
            <a:r>
              <a:rPr lang="en-US" sz="1800" dirty="0" err="1"/>
              <a:t>dữ</a:t>
            </a:r>
            <a:r>
              <a:rPr lang="en-US" sz="1800" dirty="0"/>
              <a:t> </a:t>
            </a:r>
            <a:r>
              <a:rPr lang="en-US" sz="1800" dirty="0" err="1"/>
              <a:t>liệu</a:t>
            </a:r>
            <a:endParaRPr sz="1800" dirty="0"/>
          </a:p>
        </p:txBody>
      </p:sp>
      <p:sp>
        <p:nvSpPr>
          <p:cNvPr id="3" name="TextBox 2">
            <a:extLst>
              <a:ext uri="{FF2B5EF4-FFF2-40B4-BE49-F238E27FC236}">
                <a16:creationId xmlns:a16="http://schemas.microsoft.com/office/drawing/2014/main" id="{79861A9D-4CD3-41BB-B747-7A4305690893}"/>
              </a:ext>
            </a:extLst>
          </p:cNvPr>
          <p:cNvSpPr txBox="1"/>
          <p:nvPr/>
        </p:nvSpPr>
        <p:spPr>
          <a:xfrm>
            <a:off x="1325850" y="4141622"/>
            <a:ext cx="6088330" cy="21544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3: </a:t>
            </a:r>
            <a:r>
              <a:rPr lang="en-US" sz="800" b="1" i="1" dirty="0" err="1">
                <a:effectLst/>
                <a:latin typeface="Times New Roman" panose="02020603050405020304" pitchFamily="18" charset="0"/>
                <a:ea typeface="Times New Roman" panose="02020603050405020304" pitchFamily="18" charset="0"/>
              </a:rPr>
              <a:t>Tỷ</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lệ</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dữ</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liệu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bị</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thiếu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theo</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từng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biến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trong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bộ</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dữ</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liệu</a:t>
            </a:r>
            <a:r>
              <a:rPr lang="en-US" sz="800" b="1" i="1" dirty="0">
                <a:effectLst/>
                <a:latin typeface="Times New Roman" panose="02020603050405020304" pitchFamily="18" charset="0"/>
                <a:ea typeface="Times New Roman" panose="02020603050405020304" pitchFamily="18" charset="0"/>
              </a:rPr>
              <a:t> LinkedIn Job Postings </a:t>
            </a:r>
            <a:r>
              <a:rPr lang="en-US" sz="800" b="1" i="1" dirty="0" err="1">
                <a:effectLst/>
                <a:latin typeface="Times New Roman" panose="02020603050405020304" pitchFamily="18" charset="0"/>
                <a:ea typeface="Times New Roman" panose="02020603050405020304" pitchFamily="18" charset="0"/>
              </a:rPr>
              <a:t>sau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khi</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tích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hợp</a:t>
            </a:r>
            <a:endParaRPr lang="en-US" sz="800" dirty="0">
              <a:latin typeface="+mn-lt"/>
            </a:endParaRPr>
          </a:p>
        </p:txBody>
      </p:sp>
      <p:sp>
        <p:nvSpPr>
          <p:cNvPr id="5" name="Rectangle 2">
            <a:extLst>
              <a:ext uri="{FF2B5EF4-FFF2-40B4-BE49-F238E27FC236}">
                <a16:creationId xmlns:a16="http://schemas.microsoft.com/office/drawing/2014/main" id="{B7AC6C93-3E63-4770-A4C4-1B2DC761939C}"/>
              </a:ext>
            </a:extLst>
          </p:cNvPr>
          <p:cNvSpPr>
            <a:spLocks noGrp="1" noChangeArrowheads="1"/>
          </p:cNvSpPr>
          <p:nvPr>
            <p:ph type="subTitle" idx="1"/>
          </p:nvPr>
        </p:nvSpPr>
        <p:spPr bwMode="auto">
          <a:xfrm>
            <a:off x="468881" y="1519803"/>
            <a:ext cx="69453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chemeClr val="tx1"/>
                </a:solidFill>
                <a:effectLst/>
                <a:cs typeface="Times New Roman" panose="02020603050405020304" pitchFamily="18" charset="0"/>
              </a:rPr>
              <a:t>Thách</a:t>
            </a:r>
            <a:r>
              <a:rPr kumimoji="0" lang="en-US" altLang="en-US" b="1" i="0" u="none" strike="noStrike" cap="none" normalizeH="0" baseline="0" dirty="0">
                <a:ln>
                  <a:noFill/>
                </a:ln>
                <a:solidFill>
                  <a:schemeClr val="tx1"/>
                </a:solidFill>
                <a:effectLst/>
                <a:cs typeface="Times New Roman" panose="02020603050405020304" pitchFamily="18" charset="0"/>
              </a:rPr>
              <a:t> </a:t>
            </a:r>
            <a:r>
              <a:rPr kumimoji="0" lang="en-US" altLang="en-US" b="1" i="0" u="none" strike="noStrike" cap="none" normalizeH="0" baseline="0" dirty="0" err="1">
                <a:ln>
                  <a:noFill/>
                </a:ln>
                <a:solidFill>
                  <a:schemeClr val="tx1"/>
                </a:solidFill>
                <a:effectLst/>
                <a:cs typeface="Times New Roman" panose="02020603050405020304" pitchFamily="18" charset="0"/>
              </a:rPr>
              <a:t>thức</a:t>
            </a:r>
            <a:r>
              <a:rPr kumimoji="0" lang="en-US" altLang="en-US" b="1" i="0" u="none" strike="noStrike" cap="none" normalizeH="0" baseline="0" dirty="0">
                <a:ln>
                  <a:noFill/>
                </a:ln>
                <a:solidFill>
                  <a:schemeClr val="tx1"/>
                </a:solidFill>
                <a:effectLst/>
                <a:cs typeface="Times New Roman" panose="02020603050405020304" pitchFamily="18" charset="0"/>
              </a:rPr>
              <a:t>:</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Dữ</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liệu</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lương</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bị</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thiếu</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nhiều</a:t>
            </a:r>
            <a:r>
              <a:rPr kumimoji="0" lang="en-US" altLang="en-US" b="0" i="0" u="none" strike="noStrike" cap="none" normalizeH="0" baseline="0" dirty="0">
                <a:ln>
                  <a:noFill/>
                </a:ln>
                <a:solidFill>
                  <a:schemeClr val="tx1"/>
                </a:solidFill>
                <a:effectLst/>
                <a:cs typeface="Times New Roman" panose="02020603050405020304" pitchFamily="18" charset="0"/>
              </a:rPr>
              <a:t> (Missing data), </a:t>
            </a:r>
            <a:r>
              <a:rPr kumimoji="0" lang="en-US" altLang="en-US" b="0" i="0" u="none" strike="noStrike" cap="none" normalizeH="0" baseline="0" dirty="0" err="1">
                <a:ln>
                  <a:noFill/>
                </a:ln>
                <a:solidFill>
                  <a:schemeClr val="tx1"/>
                </a:solidFill>
                <a:effectLst/>
                <a:cs typeface="Times New Roman" panose="02020603050405020304" pitchFamily="18" charset="0"/>
              </a:rPr>
              <a:t>dữ</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liệu</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văn</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bản</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nhiễu</a:t>
            </a:r>
            <a:r>
              <a:rPr kumimoji="0" lang="en-US" altLang="en-US" b="0" i="0" u="none" strike="noStrike" cap="none" normalizeH="0" baseline="0" dirty="0">
                <a:ln>
                  <a:noFill/>
                </a:ln>
                <a:solidFill>
                  <a:schemeClr val="tx1"/>
                </a:solidFill>
                <a:effectLst/>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chemeClr val="tx1"/>
                </a:solidFill>
                <a:effectLst/>
                <a:cs typeface="Times New Roman" panose="02020603050405020304" pitchFamily="18" charset="0"/>
              </a:rPr>
              <a:t>Xử</a:t>
            </a:r>
            <a:r>
              <a:rPr kumimoji="0" lang="en-US" altLang="en-US" b="1" i="0" u="none" strike="noStrike" cap="none" normalizeH="0" baseline="0" dirty="0">
                <a:ln>
                  <a:noFill/>
                </a:ln>
                <a:solidFill>
                  <a:schemeClr val="tx1"/>
                </a:solidFill>
                <a:effectLst/>
                <a:cs typeface="Times New Roman" panose="02020603050405020304" pitchFamily="18" charset="0"/>
              </a:rPr>
              <a:t> </a:t>
            </a:r>
            <a:r>
              <a:rPr kumimoji="0" lang="en-US" altLang="en-US" b="1" i="0" u="none" strike="noStrike" cap="none" normalizeH="0" baseline="0" dirty="0" err="1">
                <a:ln>
                  <a:noFill/>
                </a:ln>
                <a:solidFill>
                  <a:schemeClr val="tx1"/>
                </a:solidFill>
                <a:effectLst/>
                <a:cs typeface="Times New Roman" panose="02020603050405020304" pitchFamily="18" charset="0"/>
              </a:rPr>
              <a:t>lý</a:t>
            </a:r>
            <a:r>
              <a:rPr kumimoji="0" lang="en-US" altLang="en-US" b="1" i="0" u="none" strike="noStrike" cap="none" normalizeH="0" baseline="0" dirty="0">
                <a:ln>
                  <a:noFill/>
                </a:ln>
                <a:solidFill>
                  <a:schemeClr val="tx1"/>
                </a:solidFill>
                <a:effectLst/>
                <a:cs typeface="Times New Roman" panose="02020603050405020304" pitchFamily="18" charset="0"/>
              </a:rPr>
              <a:t>:</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Chuẩn</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hóa</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văn</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bản</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xử</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lý</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giá</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trị</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thiếu</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ghép</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nối</a:t>
            </a:r>
            <a:r>
              <a:rPr kumimoji="0" lang="en-US" altLang="en-US" b="0" i="0" u="none" strike="noStrike" cap="none" normalizeH="0" baseline="0" dirty="0">
                <a:ln>
                  <a:noFill/>
                </a:ln>
                <a:solidFill>
                  <a:schemeClr val="tx1"/>
                </a:solidFill>
                <a:effectLst/>
                <a:cs typeface="Times New Roman" panose="02020603050405020304" pitchFamily="18" charset="0"/>
              </a:rPr>
              <a:t> </a:t>
            </a:r>
            <a:r>
              <a:rPr kumimoji="0" lang="en-US" altLang="en-US" b="0" i="0" u="none" strike="noStrike" cap="none" normalizeH="0" baseline="0" dirty="0" err="1">
                <a:ln>
                  <a:noFill/>
                </a:ln>
                <a:solidFill>
                  <a:schemeClr val="tx1"/>
                </a:solidFill>
                <a:effectLst/>
                <a:cs typeface="Times New Roman" panose="02020603050405020304" pitchFamily="18" charset="0"/>
              </a:rPr>
              <a:t>bảng</a:t>
            </a:r>
            <a:r>
              <a:rPr kumimoji="0" lang="en-US" altLang="en-US" b="0" i="0" u="none" strike="noStrike" cap="none" normalizeH="0" baseline="0" dirty="0">
                <a:ln>
                  <a:noFill/>
                </a:ln>
                <a:solidFill>
                  <a:schemeClr val="tx1"/>
                </a:solidFill>
                <a:effectLst/>
                <a:cs typeface="Times New Roman" panose="02020603050405020304" pitchFamily="18" charset="0"/>
              </a:rPr>
              <a:t>.</a:t>
            </a:r>
          </a:p>
        </p:txBody>
      </p:sp>
      <p:pic>
        <p:nvPicPr>
          <p:cNvPr id="13" name="Picture 12">
            <a:extLst>
              <a:ext uri="{FF2B5EF4-FFF2-40B4-BE49-F238E27FC236}">
                <a16:creationId xmlns:a16="http://schemas.microsoft.com/office/drawing/2014/main" id="{CA797692-E22B-4EFF-ABA8-FE5DC08048A5}"/>
              </a:ext>
            </a:extLst>
          </p:cNvPr>
          <p:cNvPicPr/>
          <p:nvPr/>
        </p:nvPicPr>
        <p:blipFill>
          <a:blip r:embed="rId3"/>
          <a:stretch>
            <a:fillRect/>
          </a:stretch>
        </p:blipFill>
        <p:spPr>
          <a:xfrm>
            <a:off x="1325849" y="2043023"/>
            <a:ext cx="6088331" cy="2129790"/>
          </a:xfrm>
          <a:prstGeom prst="rect">
            <a:avLst/>
          </a:prstGeom>
        </p:spPr>
      </p:pic>
    </p:spTree>
    <p:extLst>
      <p:ext uri="{BB962C8B-B14F-4D97-AF65-F5344CB8AC3E}">
        <p14:creationId xmlns:p14="http://schemas.microsoft.com/office/powerpoint/2010/main" val="4160799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11</a:t>
            </a:fld>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 Dữ liệu và phương pháp</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468881" y="1076373"/>
            <a:ext cx="3462350"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err="1"/>
              <a:t>Tiền</a:t>
            </a:r>
            <a:r>
              <a:rPr lang="en-US" sz="1800" dirty="0"/>
              <a:t> </a:t>
            </a:r>
            <a:r>
              <a:rPr lang="en-US" sz="1800" dirty="0" err="1"/>
              <a:t>xử</a:t>
            </a:r>
            <a:r>
              <a:rPr lang="en-US" sz="1800" dirty="0"/>
              <a:t> </a:t>
            </a:r>
            <a:r>
              <a:rPr lang="en-US" sz="1800" dirty="0" err="1"/>
              <a:t>lý</a:t>
            </a:r>
            <a:r>
              <a:rPr lang="en-US" sz="1800" dirty="0"/>
              <a:t> </a:t>
            </a:r>
            <a:r>
              <a:rPr lang="en-US" sz="1800" dirty="0" err="1"/>
              <a:t>dữ</a:t>
            </a:r>
            <a:r>
              <a:rPr lang="en-US" sz="1800" dirty="0"/>
              <a:t> </a:t>
            </a:r>
            <a:r>
              <a:rPr lang="en-US" sz="1800" dirty="0" err="1"/>
              <a:t>liệu</a:t>
            </a:r>
            <a:endParaRPr sz="1800" dirty="0"/>
          </a:p>
        </p:txBody>
      </p:sp>
      <p:sp>
        <p:nvSpPr>
          <p:cNvPr id="8" name="Rectangle 4">
            <a:extLst>
              <a:ext uri="{FF2B5EF4-FFF2-40B4-BE49-F238E27FC236}">
                <a16:creationId xmlns:a16="http://schemas.microsoft.com/office/drawing/2014/main" id="{A08A31B9-8AC1-4760-B920-439FF6A2E60B}"/>
              </a:ext>
            </a:extLst>
          </p:cNvPr>
          <p:cNvSpPr>
            <a:spLocks noGrp="1" noChangeArrowheads="1"/>
          </p:cNvSpPr>
          <p:nvPr>
            <p:ph type="subTitle" idx="1"/>
          </p:nvPr>
        </p:nvSpPr>
        <p:spPr bwMode="auto">
          <a:xfrm>
            <a:off x="468881" y="1522887"/>
            <a:ext cx="383251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err="1">
                <a:ln>
                  <a:noFill/>
                </a:ln>
                <a:solidFill>
                  <a:schemeClr val="tx1"/>
                </a:solidFill>
                <a:effectLst/>
                <a:latin typeface="+mn-lt"/>
              </a:rPr>
              <a:t>Làm</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sạch</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dữ</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liệu</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định</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danh</a:t>
            </a:r>
            <a:r>
              <a:rPr kumimoji="0" lang="en-US" altLang="en-US" i="0" u="none" strike="noStrike" cap="none" normalizeH="0" baseline="0" dirty="0">
                <a:ln>
                  <a:noFill/>
                </a:ln>
                <a:solidFill>
                  <a:schemeClr val="tx1"/>
                </a:solidFill>
                <a:effectLst/>
                <a:latin typeface="+mn-lt"/>
              </a:rPr>
              <a:t> &amp; </a:t>
            </a:r>
            <a:r>
              <a:rPr kumimoji="0" lang="en-US" altLang="en-US" i="0" u="none" strike="noStrike" cap="none" normalizeH="0" baseline="0" dirty="0" err="1">
                <a:ln>
                  <a:noFill/>
                </a:ln>
                <a:solidFill>
                  <a:schemeClr val="tx1"/>
                </a:solidFill>
                <a:effectLst/>
                <a:latin typeface="+mn-lt"/>
              </a:rPr>
              <a:t>địa</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lý</a:t>
            </a:r>
            <a:endParaRPr kumimoji="0" lang="en-US" altLang="en-US" i="0"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err="1">
                <a:ln>
                  <a:noFill/>
                </a:ln>
                <a:solidFill>
                  <a:schemeClr val="tx1"/>
                </a:solidFill>
                <a:effectLst/>
                <a:latin typeface="+mn-lt"/>
              </a:rPr>
              <a:t>Xử</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lý</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dữ</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liệu</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số</a:t>
            </a:r>
            <a:r>
              <a:rPr kumimoji="0" lang="en-US" altLang="en-US" i="0" u="none" strike="noStrike" cap="none" normalizeH="0" baseline="0" dirty="0">
                <a:ln>
                  <a:noFill/>
                </a:ln>
                <a:solidFill>
                  <a:schemeClr val="tx1"/>
                </a:solidFill>
                <a:effectLst/>
                <a:latin typeface="+mn-lt"/>
              </a:rPr>
              <a:t> (Numerical Data)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err="1">
                <a:ln>
                  <a:noFill/>
                </a:ln>
                <a:solidFill>
                  <a:schemeClr val="tx1"/>
                </a:solidFill>
                <a:effectLst/>
                <a:latin typeface="+mn-lt"/>
              </a:rPr>
              <a:t>Chuẩn</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hóa</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văn</a:t>
            </a:r>
            <a:r>
              <a:rPr kumimoji="0" lang="en-US" altLang="en-US" i="0" u="none" strike="noStrike" cap="none" normalizeH="0" baseline="0" dirty="0">
                <a:ln>
                  <a:noFill/>
                </a:ln>
                <a:solidFill>
                  <a:schemeClr val="tx1"/>
                </a:solidFill>
                <a:effectLst/>
                <a:latin typeface="+mn-lt"/>
              </a:rPr>
              <a:t> </a:t>
            </a:r>
            <a:r>
              <a:rPr kumimoji="0" lang="en-US" altLang="en-US" i="0" u="none" strike="noStrike" cap="none" normalizeH="0" baseline="0" dirty="0" err="1">
                <a:ln>
                  <a:noFill/>
                </a:ln>
                <a:solidFill>
                  <a:schemeClr val="tx1"/>
                </a:solidFill>
                <a:effectLst/>
                <a:latin typeface="+mn-lt"/>
              </a:rPr>
              <a:t>bản</a:t>
            </a:r>
            <a:r>
              <a:rPr kumimoji="0" lang="en-US" altLang="en-US" i="0" u="none" strike="noStrike" cap="none" normalizeH="0" baseline="0" dirty="0">
                <a:ln>
                  <a:noFill/>
                </a:ln>
                <a:solidFill>
                  <a:schemeClr val="tx1"/>
                </a:solidFill>
                <a:effectLst/>
                <a:latin typeface="+mn-lt"/>
              </a:rPr>
              <a:t> (Text </a:t>
            </a:r>
            <a:r>
              <a:rPr kumimoji="0" lang="en-US" altLang="en-US" i="0" u="none" strike="noStrike" cap="none" normalizeH="0" baseline="0">
                <a:ln>
                  <a:noFill/>
                </a:ln>
                <a:solidFill>
                  <a:schemeClr val="tx1"/>
                </a:solidFill>
                <a:effectLst/>
                <a:latin typeface="+mn-lt"/>
              </a:rPr>
              <a:t>Cleaning) </a:t>
            </a:r>
            <a:r>
              <a:rPr kumimoji="0" lang="en-US" altLang="en-US" b="0" i="0" u="none" strike="noStrike" cap="none" normalizeH="0" baseline="0">
                <a:ln>
                  <a:noFill/>
                </a:ln>
                <a:solidFill>
                  <a:schemeClr val="tx1"/>
                </a:solidFill>
                <a:effectLst/>
                <a:latin typeface="+mn-lt"/>
              </a:rPr>
              <a:t>Áp </a:t>
            </a:r>
            <a:r>
              <a:rPr kumimoji="0" lang="en-US" altLang="en-US" b="0" i="0" u="none" strike="noStrike" cap="none" normalizeH="0" baseline="0" dirty="0" err="1">
                <a:ln>
                  <a:noFill/>
                </a:ln>
                <a:solidFill>
                  <a:schemeClr val="tx1"/>
                </a:solidFill>
                <a:effectLst/>
                <a:latin typeface="+mn-lt"/>
              </a:rPr>
              <a:t>dụng</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cho</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cột</a:t>
            </a:r>
            <a:r>
              <a:rPr kumimoji="0" lang="en-US" altLang="en-US" b="0" i="0" u="none" strike="noStrike" cap="none" normalizeH="0" baseline="0" dirty="0">
                <a:ln>
                  <a:noFill/>
                </a:ln>
                <a:solidFill>
                  <a:schemeClr val="tx1"/>
                </a:solidFill>
                <a:effectLst/>
                <a:latin typeface="+mn-lt"/>
              </a:rPr>
              <a:t> description: </a:t>
            </a:r>
            <a:r>
              <a:rPr kumimoji="0" lang="en-US" altLang="en-US" b="0" i="0" u="none" strike="noStrike" cap="none" normalizeH="0" baseline="0" dirty="0" err="1">
                <a:ln>
                  <a:noFill/>
                </a:ln>
                <a:solidFill>
                  <a:schemeClr val="tx1"/>
                </a:solidFill>
                <a:effectLst/>
                <a:latin typeface="+mn-lt"/>
              </a:rPr>
              <a:t>Chuyển</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về</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chữ</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thường</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loại</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bỏ</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ký</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tự</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đặc</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biệt</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chuẩn</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hóa</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khoảng</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err="1">
                <a:ln>
                  <a:noFill/>
                </a:ln>
                <a:solidFill>
                  <a:schemeClr val="tx1"/>
                </a:solidFill>
                <a:effectLst/>
                <a:latin typeface="+mn-lt"/>
              </a:rPr>
              <a:t>trắng</a:t>
            </a:r>
            <a:r>
              <a:rPr kumimoji="0" lang="en-US" altLang="en-US" b="0" i="0" u="none" strike="noStrike" cap="none" normalizeH="0" baseline="0">
                <a:ln>
                  <a:noFill/>
                </a:ln>
                <a:solidFill>
                  <a:schemeClr val="tx1"/>
                </a:solidFill>
                <a:effectLst/>
                <a:latin typeface="+mn-lt"/>
              </a:rPr>
              <a:t>.Mục </a:t>
            </a:r>
            <a:r>
              <a:rPr kumimoji="0" lang="en-US" altLang="en-US" b="0" i="0" u="none" strike="noStrike" cap="none" normalizeH="0" baseline="0" dirty="0" err="1">
                <a:ln>
                  <a:noFill/>
                </a:ln>
                <a:solidFill>
                  <a:schemeClr val="tx1"/>
                </a:solidFill>
                <a:effectLst/>
                <a:latin typeface="+mn-lt"/>
              </a:rPr>
              <a:t>đích</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Giảm</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nhiễu</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để</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phục</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vụ</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cho</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thuật</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toán</a:t>
            </a:r>
            <a:r>
              <a:rPr kumimoji="0" lang="en-US" altLang="en-US" b="0" i="0" u="none" strike="noStrike" cap="none" normalizeH="0" baseline="0" dirty="0">
                <a:ln>
                  <a:noFill/>
                </a:ln>
                <a:solidFill>
                  <a:schemeClr val="tx1"/>
                </a:solidFill>
                <a:effectLst/>
                <a:latin typeface="+mn-lt"/>
              </a:rPr>
              <a:t> TF-IDF (RQ1) </a:t>
            </a:r>
            <a:r>
              <a:rPr kumimoji="0" lang="en-US" altLang="en-US" b="0" i="0" u="none" strike="noStrike" cap="none" normalizeH="0" baseline="0" dirty="0" err="1">
                <a:ln>
                  <a:noFill/>
                </a:ln>
                <a:solidFill>
                  <a:schemeClr val="tx1"/>
                </a:solidFill>
                <a:effectLst/>
                <a:latin typeface="+mn-lt"/>
              </a:rPr>
              <a:t>và</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trích</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xuất</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kỹ</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dirty="0" err="1">
                <a:ln>
                  <a:noFill/>
                </a:ln>
                <a:solidFill>
                  <a:schemeClr val="tx1"/>
                </a:solidFill>
                <a:effectLst/>
                <a:latin typeface="+mn-lt"/>
              </a:rPr>
              <a:t>năng</a:t>
            </a:r>
            <a:r>
              <a:rPr kumimoji="0" lang="en-US" altLang="en-US" b="0" i="0" u="none" strike="noStrike" cap="none" normalizeH="0" baseline="0" dirty="0">
                <a:ln>
                  <a:noFill/>
                </a:ln>
                <a:solidFill>
                  <a:schemeClr val="tx1"/>
                </a:solidFill>
                <a:effectLst/>
                <a:latin typeface="+mn-lt"/>
              </a:rPr>
              <a:t> (</a:t>
            </a:r>
            <a:r>
              <a:rPr kumimoji="0" lang="en-US" altLang="en-US" b="0" i="0" u="none" strike="noStrike" cap="none" normalizeH="0" baseline="0">
                <a:ln>
                  <a:noFill/>
                </a:ln>
                <a:solidFill>
                  <a:schemeClr val="tx1"/>
                </a:solidFill>
                <a:effectLst/>
                <a:latin typeface="+mn-lt"/>
              </a:rPr>
              <a:t>RQ2).</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a:solidFill>
                  <a:schemeClr val="tx1"/>
                </a:solidFill>
                <a:latin typeface="+mn-lt"/>
              </a:rPr>
              <a:t>Chuẩn hóa formatted_experience_level, trích xuất từ cột title, các giá trị NaN sẽ đ</a:t>
            </a:r>
            <a:r>
              <a:rPr lang="vi-VN" altLang="en-US">
                <a:solidFill>
                  <a:schemeClr val="tx1"/>
                </a:solidFill>
                <a:latin typeface="+mn-lt"/>
              </a:rPr>
              <a:t>ư</a:t>
            </a:r>
            <a:r>
              <a:rPr lang="en-US" altLang="en-US">
                <a:solidFill>
                  <a:schemeClr val="tx1"/>
                </a:solidFill>
                <a:latin typeface="+mn-lt"/>
              </a:rPr>
              <a:t>ợc chuyển thành “Unknown”.</a:t>
            </a:r>
            <a:endParaRPr kumimoji="0" lang="en-US" altLang="en-US"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p:txBody>
      </p:sp>
      <p:sp>
        <p:nvSpPr>
          <p:cNvPr id="9" name="TextBox 8">
            <a:extLst>
              <a:ext uri="{FF2B5EF4-FFF2-40B4-BE49-F238E27FC236}">
                <a16:creationId xmlns:a16="http://schemas.microsoft.com/office/drawing/2014/main" id="{38D5279A-CCFE-446E-B94E-B3B640B16CFF}"/>
              </a:ext>
            </a:extLst>
          </p:cNvPr>
          <p:cNvSpPr txBox="1"/>
          <p:nvPr/>
        </p:nvSpPr>
        <p:spPr>
          <a:xfrm>
            <a:off x="4393382" y="4071530"/>
            <a:ext cx="4524376" cy="21544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4:</a:t>
            </a:r>
            <a:r>
              <a:rPr lang="en-US" sz="800" b="1"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Quy</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trình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xác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định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vấn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đề</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và</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tiền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xử</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lý</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dữ</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liệu</a:t>
            </a:r>
            <a:endParaRPr lang="en-US" sz="800" b="1" dirty="0"/>
          </a:p>
        </p:txBody>
      </p:sp>
      <p:pic>
        <p:nvPicPr>
          <p:cNvPr id="1026" name="Picture 2">
            <a:extLst>
              <a:ext uri="{FF2B5EF4-FFF2-40B4-BE49-F238E27FC236}">
                <a16:creationId xmlns:a16="http://schemas.microsoft.com/office/drawing/2014/main" id="{33FEFDF8-454B-4AE7-B946-2D54BBC44BB5}"/>
              </a:ext>
            </a:extLst>
          </p:cNvPr>
          <p:cNvPicPr>
            <a:picLocks noChangeAspect="1" noChangeArrowheads="1"/>
          </p:cNvPicPr>
          <p:nvPr/>
        </p:nvPicPr>
        <p:blipFill>
          <a:blip r:embed="rId3"/>
          <a:stretch>
            <a:fillRect/>
          </a:stretch>
        </p:blipFill>
        <p:spPr bwMode="auto">
          <a:xfrm>
            <a:off x="4393382" y="1519803"/>
            <a:ext cx="4524376" cy="2551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193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12</a:t>
            </a:fld>
            <a:endParaRPr sz="140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 Dữ liệu và phương pháp</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286544" y="949222"/>
            <a:ext cx="4559806"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Phương</a:t>
            </a:r>
            <a:r>
              <a:rPr lang="en-US" sz="1400" dirty="0"/>
              <a:t> </a:t>
            </a:r>
            <a:r>
              <a:rPr lang="en-US" sz="1400" dirty="0" err="1"/>
              <a:t>pháp</a:t>
            </a:r>
            <a:r>
              <a:rPr lang="en-US" sz="1400" dirty="0"/>
              <a:t> </a:t>
            </a:r>
            <a:r>
              <a:rPr lang="en-US" sz="1400" dirty="0" err="1"/>
              <a:t>phân</a:t>
            </a:r>
            <a:r>
              <a:rPr lang="en-US" sz="1400" dirty="0"/>
              <a:t> </a:t>
            </a:r>
            <a:r>
              <a:rPr lang="en-US" sz="1400" dirty="0" err="1"/>
              <a:t>cụm</a:t>
            </a:r>
            <a:r>
              <a:rPr lang="en-US" sz="1400" dirty="0"/>
              <a:t> </a:t>
            </a:r>
            <a:r>
              <a:rPr lang="en-US" sz="1400" dirty="0" err="1"/>
              <a:t>nội</a:t>
            </a:r>
            <a:r>
              <a:rPr lang="en-US" sz="1400" dirty="0"/>
              <a:t> </a:t>
            </a:r>
            <a:r>
              <a:rPr lang="en-US" sz="1400" dirty="0" err="1"/>
              <a:t>dụng</a:t>
            </a:r>
            <a:r>
              <a:rPr lang="en-US" sz="1400" dirty="0"/>
              <a:t> </a:t>
            </a:r>
            <a:r>
              <a:rPr lang="en-US" sz="1400" dirty="0" err="1"/>
              <a:t>mô</a:t>
            </a:r>
            <a:r>
              <a:rPr lang="en-US" sz="1400" dirty="0"/>
              <a:t> </a:t>
            </a:r>
            <a:r>
              <a:rPr lang="en-US" sz="1400" dirty="0" err="1"/>
              <a:t>tả</a:t>
            </a:r>
            <a:r>
              <a:rPr lang="en-US" sz="1400" dirty="0"/>
              <a:t> </a:t>
            </a:r>
            <a:r>
              <a:rPr lang="en-US" sz="1400" dirty="0" err="1"/>
              <a:t>công</a:t>
            </a:r>
            <a:r>
              <a:rPr lang="en-US" sz="1400" dirty="0"/>
              <a:t> </a:t>
            </a:r>
            <a:r>
              <a:rPr lang="en-US" sz="1400" dirty="0" err="1"/>
              <a:t>việc</a:t>
            </a:r>
            <a:r>
              <a:rPr lang="en-US" sz="1400" dirty="0"/>
              <a:t> (RQ1)</a:t>
            </a:r>
            <a:endParaRPr sz="1400" dirty="0"/>
          </a:p>
        </p:txBody>
      </p:sp>
      <p:pic>
        <p:nvPicPr>
          <p:cNvPr id="11" name="Picture 10">
            <a:extLst>
              <a:ext uri="{FF2B5EF4-FFF2-40B4-BE49-F238E27FC236}">
                <a16:creationId xmlns:a16="http://schemas.microsoft.com/office/drawing/2014/main" id="{4C5F50C6-FE19-4B24-A09E-A0AAC48B75B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86543" y="1461998"/>
            <a:ext cx="4236244" cy="2558754"/>
          </a:xfrm>
          <a:prstGeom prst="rect">
            <a:avLst/>
          </a:prstGeom>
        </p:spPr>
      </p:pic>
      <p:sp>
        <p:nvSpPr>
          <p:cNvPr id="4" name="TextBox 3">
            <a:extLst>
              <a:ext uri="{FF2B5EF4-FFF2-40B4-BE49-F238E27FC236}">
                <a16:creationId xmlns:a16="http://schemas.microsoft.com/office/drawing/2014/main" id="{E761789C-A483-4AAD-A77F-FF66E8681925}"/>
              </a:ext>
            </a:extLst>
          </p:cNvPr>
          <p:cNvSpPr txBox="1"/>
          <p:nvPr/>
        </p:nvSpPr>
        <p:spPr>
          <a:xfrm>
            <a:off x="286543" y="4019231"/>
            <a:ext cx="4236244" cy="215444"/>
          </a:xfrm>
          <a:prstGeom prst="rect">
            <a:avLst/>
          </a:prstGeom>
          <a:noFill/>
        </p:spPr>
        <p:txBody>
          <a:bodyPr wrap="square" rtlCol="0">
            <a:spAutoFit/>
          </a:bodyPr>
          <a:lstStyle/>
          <a:p>
            <a:pPr marL="0" marR="0" algn="ctr">
              <a:spcBef>
                <a:spcPts val="600"/>
              </a:spcBef>
              <a:spcAft>
                <a:spcPts val="600"/>
              </a:spcAft>
            </a:pP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5: </a:t>
            </a:r>
            <a:r>
              <a:rPr lang="en-US" sz="800" b="1" i="1" dirty="0" err="1">
                <a:effectLst/>
                <a:latin typeface="Times New Roman" panose="02020603050405020304" pitchFamily="18" charset="0"/>
                <a:ea typeface="Times New Roman" panose="02020603050405020304" pitchFamily="18" charset="0"/>
              </a:rPr>
              <a:t>Quy</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trình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phân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cụm</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mô</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tả</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công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việc</a:t>
            </a:r>
            <a:endParaRPr lang="en-US" sz="800" dirty="0">
              <a:effectLst/>
              <a:latin typeface="Times New Roman" panose="02020603050405020304" pitchFamily="18" charset="0"/>
              <a:ea typeface="Times New Roman" panose="02020603050405020304" pitchFamily="18" charset="0"/>
            </a:endParaRPr>
          </a:p>
        </p:txBody>
      </p:sp>
      <p:sp>
        <p:nvSpPr>
          <p:cNvPr id="2" name="Subtitle 1">
            <a:extLst>
              <a:ext uri="{FF2B5EF4-FFF2-40B4-BE49-F238E27FC236}">
                <a16:creationId xmlns:a16="http://schemas.microsoft.com/office/drawing/2014/main" id="{30E6B8E5-28CA-4709-907D-F9D5BE15A418}"/>
              </a:ext>
            </a:extLst>
          </p:cNvPr>
          <p:cNvSpPr>
            <a:spLocks noGrp="1" noChangeArrowheads="1"/>
          </p:cNvSpPr>
          <p:nvPr>
            <p:ph type="subTitle" idx="1"/>
          </p:nvPr>
        </p:nvSpPr>
        <p:spPr bwMode="auto">
          <a:xfrm>
            <a:off x="4621214" y="1679220"/>
            <a:ext cx="4283075"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j-lt"/>
              </a:rPr>
              <a:t>Biểu</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diễn</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văn</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bản</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với</a:t>
            </a:r>
            <a:r>
              <a:rPr kumimoji="0" lang="en-US" altLang="en-US" sz="1200" b="1" i="0" u="none" strike="noStrike" cap="none" normalizeH="0" baseline="0" dirty="0">
                <a:ln>
                  <a:noFill/>
                </a:ln>
                <a:solidFill>
                  <a:schemeClr val="tx1"/>
                </a:solidFill>
                <a:effectLst/>
                <a:latin typeface="+mj-lt"/>
              </a:rPr>
              <a:t> TF-IDF </a:t>
            </a:r>
            <a:r>
              <a:rPr kumimoji="0" lang="en-US" altLang="en-US" sz="1200" b="1" i="0" u="none" strike="noStrike" cap="none" normalizeH="0" baseline="0" dirty="0" err="1">
                <a:ln>
                  <a:noFill/>
                </a:ln>
                <a:solidFill>
                  <a:schemeClr val="tx1"/>
                </a:solidFill>
                <a:effectLst/>
                <a:latin typeface="+mj-lt"/>
              </a:rPr>
              <a:t>và</a:t>
            </a:r>
            <a:r>
              <a:rPr kumimoji="0" lang="en-US" altLang="en-US" sz="1200" b="1" i="0" u="none" strike="noStrike" cap="none" normalizeH="0" baseline="0" dirty="0">
                <a:ln>
                  <a:noFill/>
                </a:ln>
                <a:solidFill>
                  <a:schemeClr val="tx1"/>
                </a:solidFill>
                <a:effectLst/>
                <a:latin typeface="+mj-lt"/>
              </a:rPr>
              <a:t> n-gram:</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Chuyển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đổi</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văn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bản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mô</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tả</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công</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việc</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thành</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dạng</a:t>
            </a:r>
            <a:r>
              <a:rPr kumimoji="0" lang="en-US" altLang="en-US" sz="1200" b="0" i="0" u="none" strike="noStrike" cap="none" normalizeH="0" baseline="0" dirty="0">
                <a:ln>
                  <a:noFill/>
                </a:ln>
                <a:solidFill>
                  <a:schemeClr val="tx1"/>
                </a:solidFill>
                <a:effectLst/>
                <a:latin typeface="+mj-lt"/>
              </a:rPr>
              <a:t> vector </a:t>
            </a:r>
            <a:r>
              <a:rPr kumimoji="0" lang="en-US" altLang="en-US" sz="1200" b="0" i="0" u="none" strike="noStrike" cap="none" normalizeH="0" baseline="0" dirty="0" err="1">
                <a:ln>
                  <a:noFill/>
                </a:ln>
                <a:solidFill>
                  <a:schemeClr val="tx1"/>
                </a:solidFill>
                <a:effectLst/>
                <a:latin typeface="+mj-lt"/>
              </a:rPr>
              <a:t>số</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học</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sử</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dụng</a:t>
            </a:r>
            <a:r>
              <a:rPr kumimoji="0" lang="en-US" altLang="en-US" sz="1200" b="0" i="0" u="none" strike="noStrike" cap="none" normalizeH="0" baseline="0" dirty="0">
                <a:ln>
                  <a:noFill/>
                </a:ln>
                <a:solidFill>
                  <a:schemeClr val="tx1"/>
                </a:solidFill>
                <a:effectLst/>
                <a:latin typeface="+mj-lt"/>
              </a:rPr>
              <a:t> n-gram (1-2) </a:t>
            </a:r>
            <a:r>
              <a:rPr kumimoji="0" lang="en-US" altLang="en-US" sz="1200" b="0" i="0" u="none" strike="noStrike" cap="none" normalizeH="0" baseline="0" dirty="0" err="1">
                <a:ln>
                  <a:noFill/>
                </a:ln>
                <a:solidFill>
                  <a:schemeClr val="tx1"/>
                </a:solidFill>
                <a:effectLst/>
                <a:latin typeface="+mj-lt"/>
              </a:rPr>
              <a:t>để</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nắm</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bắt</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ngữ</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cảnh</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của</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cả</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từ</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đơn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và</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cụm</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từ</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chuyên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môn</a:t>
            </a:r>
            <a:r>
              <a:rPr kumimoji="0" lang="en-US" altLang="en-US" sz="1200" b="0" i="0" u="none" strike="noStrike" cap="none" normalizeH="0" baseline="0" dirty="0">
                <a:ln>
                  <a:noFill/>
                </a:ln>
                <a:solidFill>
                  <a:schemeClr val="tx1"/>
                </a:solidFill>
                <a:effectLst/>
                <a:latin typeface="+mj-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j-lt"/>
              </a:rPr>
              <a:t>Tối</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ưu</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hóa</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thuật</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toán</a:t>
            </a:r>
            <a:r>
              <a:rPr kumimoji="0" lang="en-US" altLang="en-US" sz="1200" b="1" i="0" u="none" strike="noStrike" cap="none" normalizeH="0" baseline="0" dirty="0">
                <a:ln>
                  <a:noFill/>
                </a:ln>
                <a:solidFill>
                  <a:schemeClr val="tx1"/>
                </a:solidFill>
                <a:effectLst/>
                <a:latin typeface="+mj-lt"/>
              </a:rPr>
              <a:t> K-Means:</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Thực</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hiện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phân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cụm</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với</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nhiều</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giá</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trị</a:t>
            </a:r>
            <a:r>
              <a:rPr kumimoji="0" lang="en-US" altLang="en-US" sz="1200" b="0" i="0" u="none" strike="noStrike" cap="none" normalizeH="0" baseline="0" dirty="0">
                <a:ln>
                  <a:noFill/>
                </a:ln>
                <a:solidFill>
                  <a:schemeClr val="tx1"/>
                </a:solidFill>
                <a:effectLst/>
                <a:latin typeface="+mj-lt"/>
              </a:rPr>
              <a:t> K </a:t>
            </a:r>
            <a:r>
              <a:rPr kumimoji="0" lang="en-US" altLang="en-US" sz="1200" b="0" i="0" u="none" strike="noStrike" cap="none" normalizeH="0" baseline="0" dirty="0" err="1">
                <a:ln>
                  <a:noFill/>
                </a:ln>
                <a:solidFill>
                  <a:schemeClr val="tx1"/>
                </a:solidFill>
                <a:effectLst/>
                <a:latin typeface="+mj-lt"/>
              </a:rPr>
              <a:t>khác</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nhau</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từ</a:t>
            </a:r>
            <a:r>
              <a:rPr kumimoji="0" lang="en-US" altLang="en-US" sz="1200" b="0" i="0" u="none" strike="noStrike" cap="none" normalizeH="0" baseline="0" dirty="0">
                <a:ln>
                  <a:noFill/>
                </a:ln>
                <a:solidFill>
                  <a:schemeClr val="tx1"/>
                </a:solidFill>
                <a:effectLst/>
                <a:latin typeface="+mj-lt"/>
              </a:rPr>
              <a:t> 5 </a:t>
            </a:r>
            <a:r>
              <a:rPr kumimoji="0" lang="en-US" altLang="en-US" sz="1200" b="0" i="0" u="none" strike="noStrike" cap="none" normalizeH="0" baseline="0" dirty="0" err="1">
                <a:ln>
                  <a:noFill/>
                </a:ln>
                <a:solidFill>
                  <a:schemeClr val="tx1"/>
                </a:solidFill>
                <a:effectLst/>
                <a:latin typeface="+mj-lt"/>
              </a:rPr>
              <a:t>đến</a:t>
            </a:r>
            <a:r>
              <a:rPr kumimoji="0" lang="en-US" altLang="en-US" sz="1200" b="0" i="0" u="none" strike="noStrike" cap="none" normalizeH="0" baseline="0" dirty="0">
                <a:ln>
                  <a:noFill/>
                </a:ln>
                <a:solidFill>
                  <a:schemeClr val="tx1"/>
                </a:solidFill>
                <a:effectLst/>
                <a:latin typeface="+mj-lt"/>
              </a:rPr>
              <a:t> 30) </a:t>
            </a:r>
            <a:r>
              <a:rPr kumimoji="0" lang="en-US" altLang="en-US" sz="1200" b="0" i="0" u="none" strike="noStrike" cap="none" normalizeH="0" baseline="0" dirty="0" err="1">
                <a:ln>
                  <a:noFill/>
                </a:ln>
                <a:solidFill>
                  <a:schemeClr val="tx1"/>
                </a:solidFill>
                <a:effectLst/>
                <a:latin typeface="+mj-lt"/>
              </a:rPr>
              <a:t>và</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lựa</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chọn</a:t>
            </a:r>
            <a:r>
              <a:rPr kumimoji="0" lang="en-US" altLang="en-US" sz="1200" b="0" i="0" u="none" strike="noStrike" cap="none" normalizeH="0" baseline="0" dirty="0">
                <a:ln>
                  <a:noFill/>
                </a:ln>
                <a:solidFill>
                  <a:schemeClr val="tx1"/>
                </a:solidFill>
                <a:effectLst/>
                <a:latin typeface="+mj-lt"/>
              </a:rPr>
              <a:t> K=15 </a:t>
            </a:r>
            <a:r>
              <a:rPr kumimoji="0" lang="en-US" altLang="en-US" sz="1200" b="0" i="0" u="none" strike="noStrike" cap="none" normalizeH="0" baseline="0" dirty="0" err="1">
                <a:ln>
                  <a:noFill/>
                </a:ln>
                <a:solidFill>
                  <a:schemeClr val="tx1"/>
                </a:solidFill>
                <a:effectLst/>
                <a:latin typeface="+mj-lt"/>
              </a:rPr>
              <a:t>dựa</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trên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chỉ</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số</a:t>
            </a:r>
            <a:r>
              <a:rPr kumimoji="0" lang="en-US" altLang="en-US" sz="1200" b="0" i="0" u="none" strike="noStrike" cap="none" normalizeH="0" baseline="0" dirty="0">
                <a:ln>
                  <a:noFill/>
                </a:ln>
                <a:solidFill>
                  <a:schemeClr val="tx1"/>
                </a:solidFill>
                <a:effectLst/>
                <a:latin typeface="+mj-lt"/>
              </a:rPr>
              <a:t> Silhouette Score </a:t>
            </a:r>
            <a:r>
              <a:rPr kumimoji="0" lang="en-US" altLang="en-US" sz="1200" b="0" i="0" u="none" strike="noStrike" cap="none" normalizeH="0" baseline="0" dirty="0" err="1">
                <a:ln>
                  <a:noFill/>
                </a:ln>
                <a:solidFill>
                  <a:schemeClr val="tx1"/>
                </a:solidFill>
                <a:effectLst/>
                <a:latin typeface="+mj-lt"/>
              </a:rPr>
              <a:t>để</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đảm</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bảo</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độ</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tách</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biệt</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tốt</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nhất</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giữa</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các</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cụm</a:t>
            </a:r>
            <a:r>
              <a:rPr kumimoji="0" lang="en-US" altLang="en-US" sz="1200" b="0" i="0" u="none" strike="noStrike" cap="none" normalizeH="0" baseline="0" dirty="0">
                <a:ln>
                  <a:noFill/>
                </a:ln>
                <a:solidFill>
                  <a:schemeClr val="tx1"/>
                </a:solidFill>
                <a:effectLst/>
                <a:latin typeface="+mj-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j-lt"/>
              </a:rPr>
              <a:t>Định</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danh</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chủ</a:t>
            </a:r>
            <a:r>
              <a:rPr kumimoji="0" lang="en-US" altLang="en-US" sz="1200" b="1" i="0" u="none" strike="noStrike" cap="none" normalizeH="0" baseline="0" dirty="0">
                <a:ln>
                  <a:noFill/>
                </a:ln>
                <a:solidFill>
                  <a:schemeClr val="tx1"/>
                </a:solidFill>
                <a:effectLst/>
                <a:latin typeface="+mj-lt"/>
              </a:rPr>
              <a:t> </a:t>
            </a:r>
            <a:r>
              <a:rPr kumimoji="0" lang="en-US" altLang="en-US" sz="1200" b="1" i="0" u="none" strike="noStrike" cap="none" normalizeH="0" baseline="0" dirty="0" err="1">
                <a:ln>
                  <a:noFill/>
                </a:ln>
                <a:solidFill>
                  <a:schemeClr val="tx1"/>
                </a:solidFill>
                <a:effectLst/>
                <a:latin typeface="+mj-lt"/>
              </a:rPr>
              <a:t>đề</a:t>
            </a:r>
            <a:r>
              <a:rPr kumimoji="0" lang="en-US" altLang="en-US" sz="1200" b="1" i="0" u="none" strike="noStrike" cap="none" normalizeH="0" baseline="0" dirty="0">
                <a:ln>
                  <a:noFill/>
                </a:ln>
                <a:solidFill>
                  <a:schemeClr val="tx1"/>
                </a:solidFill>
                <a:effectLst/>
                <a:latin typeface="+mj-lt"/>
              </a:rPr>
              <a:t> (Theme Labeling):</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Xác</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định</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nội</a:t>
            </a:r>
            <a:r>
              <a:rPr kumimoji="0" lang="en-US" altLang="en-US" sz="1200" b="0" i="0" u="none" strike="noStrike" cap="none" normalizeH="0" baseline="0" dirty="0">
                <a:ln>
                  <a:noFill/>
                </a:ln>
                <a:solidFill>
                  <a:schemeClr val="tx1"/>
                </a:solidFill>
                <a:effectLst/>
                <a:latin typeface="+mj-lt"/>
              </a:rPr>
              <a:t> dung </a:t>
            </a:r>
            <a:r>
              <a:rPr kumimoji="0" lang="en-US" altLang="en-US" sz="1200" b="0" i="0" u="none" strike="noStrike" cap="none" normalizeH="0" baseline="0" dirty="0" err="1">
                <a:ln>
                  <a:noFill/>
                </a:ln>
                <a:solidFill>
                  <a:schemeClr val="tx1"/>
                </a:solidFill>
                <a:effectLst/>
                <a:latin typeface="+mj-lt"/>
              </a:rPr>
              <a:t>chính</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của</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từng</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cụm</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bằng</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cách</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trích</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xuất</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các</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từ</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khóa</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có</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trọng</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số</a:t>
            </a:r>
            <a:r>
              <a:rPr kumimoji="0" lang="en-US" altLang="en-US" sz="1200" b="0" i="0" u="none" strike="noStrike" cap="none" normalizeH="0" baseline="0" dirty="0">
                <a:ln>
                  <a:noFill/>
                </a:ln>
                <a:solidFill>
                  <a:schemeClr val="tx1"/>
                </a:solidFill>
                <a:effectLst/>
                <a:latin typeface="+mj-lt"/>
              </a:rPr>
              <a:t> TF-IDF </a:t>
            </a:r>
            <a:r>
              <a:rPr kumimoji="0" lang="en-US" altLang="en-US" sz="1200" b="0" i="0" u="none" strike="noStrike" cap="none" normalizeH="0" baseline="0" dirty="0" err="1">
                <a:ln>
                  <a:noFill/>
                </a:ln>
                <a:solidFill>
                  <a:schemeClr val="tx1"/>
                </a:solidFill>
                <a:effectLst/>
                <a:latin typeface="+mj-lt"/>
              </a:rPr>
              <a:t>cao</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nhất</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từ</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đó</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gán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nhãn</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chủ</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đề</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tự</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động</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cho</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nhóm</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công</a:t>
            </a:r>
            <a:r>
              <a:rPr kumimoji="0" lang="en-US" altLang="en-US" sz="1200" b="0" i="0" u="none" strike="noStrike" cap="none" normalizeH="0" baseline="0" dirty="0">
                <a:ln>
                  <a:noFill/>
                </a:ln>
                <a:solidFill>
                  <a:schemeClr val="tx1"/>
                </a:solidFill>
                <a:effectLst/>
                <a:latin typeface="+mj-lt"/>
              </a:rPr>
              <a:t> </a:t>
            </a:r>
            <a:r>
              <a:rPr kumimoji="0" lang="en-US" altLang="en-US" sz="1200" b="0" i="0" u="none" strike="noStrike" cap="none" normalizeH="0" baseline="0" dirty="0" err="1">
                <a:ln>
                  <a:noFill/>
                </a:ln>
                <a:solidFill>
                  <a:schemeClr val="tx1"/>
                </a:solidFill>
                <a:effectLst/>
                <a:latin typeface="+mj-lt"/>
              </a:rPr>
              <a:t>việc</a:t>
            </a:r>
            <a:r>
              <a:rPr kumimoji="0" lang="en-US" altLang="en-US" sz="1200" b="0" i="0" u="none" strike="noStrike" cap="none" normalizeH="0" baseline="0" dirty="0">
                <a:ln>
                  <a:noFill/>
                </a:ln>
                <a:solidFill>
                  <a:schemeClr val="tx1"/>
                </a:solidFill>
                <a:effectLst/>
                <a:latin typeface="+mj-lt"/>
              </a:rPr>
              <a:t>.</a:t>
            </a:r>
          </a:p>
        </p:txBody>
      </p:sp>
    </p:spTree>
    <p:extLst>
      <p:ext uri="{BB962C8B-B14F-4D97-AF65-F5344CB8AC3E}">
        <p14:creationId xmlns:p14="http://schemas.microsoft.com/office/powerpoint/2010/main" val="969526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13</a:t>
            </a:fld>
            <a:endParaRPr sz="140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 Dữ liệu và phương pháp</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5063" y="941284"/>
            <a:ext cx="3878718"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Phương</a:t>
            </a:r>
            <a:r>
              <a:rPr lang="en-US" sz="1400" dirty="0"/>
              <a:t> </a:t>
            </a:r>
            <a:r>
              <a:rPr lang="en-US" sz="1400" dirty="0" err="1"/>
              <a:t>pháp</a:t>
            </a:r>
            <a:r>
              <a:rPr lang="en-US" sz="1400" dirty="0"/>
              <a:t> </a:t>
            </a:r>
            <a:r>
              <a:rPr lang="en-US" sz="1400" dirty="0" err="1"/>
              <a:t>khai</a:t>
            </a:r>
            <a:r>
              <a:rPr lang="en-US" sz="1400" dirty="0"/>
              <a:t> </a:t>
            </a:r>
            <a:r>
              <a:rPr lang="en-US" sz="1400" dirty="0" err="1"/>
              <a:t>phá</a:t>
            </a:r>
            <a:r>
              <a:rPr lang="en-US" sz="1400" dirty="0"/>
              <a:t> </a:t>
            </a:r>
            <a:r>
              <a:rPr lang="en-US" sz="1400" dirty="0" err="1"/>
              <a:t>mạng</a:t>
            </a:r>
            <a:r>
              <a:rPr lang="en-US" sz="1400" dirty="0"/>
              <a:t> </a:t>
            </a:r>
            <a:r>
              <a:rPr lang="en-US" sz="1400" dirty="0" err="1"/>
              <a:t>lưới</a:t>
            </a:r>
            <a:r>
              <a:rPr lang="en-US" sz="1400" dirty="0"/>
              <a:t> </a:t>
            </a:r>
            <a:r>
              <a:rPr lang="en-US" sz="1400" dirty="0" err="1"/>
              <a:t>kĩ</a:t>
            </a:r>
            <a:r>
              <a:rPr lang="en-US" sz="1400" dirty="0"/>
              <a:t> </a:t>
            </a:r>
            <a:r>
              <a:rPr lang="en-US" sz="1400" dirty="0" err="1"/>
              <a:t>năng</a:t>
            </a:r>
            <a:r>
              <a:rPr lang="en-US" sz="1400" dirty="0"/>
              <a:t> (RQ2)</a:t>
            </a:r>
            <a:endParaRPr sz="1400" dirty="0"/>
          </a:p>
        </p:txBody>
      </p:sp>
      <p:sp>
        <p:nvSpPr>
          <p:cNvPr id="4" name="TextBox 3">
            <a:extLst>
              <a:ext uri="{FF2B5EF4-FFF2-40B4-BE49-F238E27FC236}">
                <a16:creationId xmlns:a16="http://schemas.microsoft.com/office/drawing/2014/main" id="{E761789C-A483-4AAD-A77F-FF66E8681925}"/>
              </a:ext>
            </a:extLst>
          </p:cNvPr>
          <p:cNvSpPr txBox="1"/>
          <p:nvPr/>
        </p:nvSpPr>
        <p:spPr>
          <a:xfrm>
            <a:off x="203985" y="4479764"/>
            <a:ext cx="4744121" cy="21544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6: </a:t>
            </a:r>
            <a:r>
              <a:rPr lang="en-US" sz="800" b="1" i="1" dirty="0" err="1">
                <a:effectLst/>
                <a:latin typeface="Times New Roman" panose="02020603050405020304" pitchFamily="18" charset="0"/>
                <a:ea typeface="Times New Roman" panose="02020603050405020304" pitchFamily="18" charset="0"/>
              </a:rPr>
              <a:t>Quy</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trình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khai</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phá</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mẫu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đồng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xuất</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hiện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kỹ</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năng</a:t>
            </a:r>
            <a:r>
              <a:rPr lang="en-US" sz="800" b="1" i="1" dirty="0">
                <a:effectLst/>
                <a:latin typeface="Times New Roman" panose="02020603050405020304" pitchFamily="18" charset="0"/>
                <a:ea typeface="Times New Roman" panose="02020603050405020304" pitchFamily="18" charset="0"/>
              </a:rPr>
              <a:t> &amp; Skill Bundles</a:t>
            </a:r>
            <a:endParaRPr lang="en-US" sz="800" dirty="0">
              <a:latin typeface="+mn-lt"/>
            </a:endParaRPr>
          </a:p>
        </p:txBody>
      </p:sp>
      <p:pic>
        <p:nvPicPr>
          <p:cNvPr id="15" name="Picture 14">
            <a:extLst>
              <a:ext uri="{FF2B5EF4-FFF2-40B4-BE49-F238E27FC236}">
                <a16:creationId xmlns:a16="http://schemas.microsoft.com/office/drawing/2014/main" id="{EDAB881F-7919-428A-9550-9A060B13ADA4}"/>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03986" y="1423647"/>
            <a:ext cx="4744121" cy="3103918"/>
          </a:xfrm>
          <a:prstGeom prst="rect">
            <a:avLst/>
          </a:prstGeom>
        </p:spPr>
      </p:pic>
      <p:sp>
        <p:nvSpPr>
          <p:cNvPr id="8" name="Rectangle 5">
            <a:extLst>
              <a:ext uri="{FF2B5EF4-FFF2-40B4-BE49-F238E27FC236}">
                <a16:creationId xmlns:a16="http://schemas.microsoft.com/office/drawing/2014/main" id="{01B0C0EB-944A-4262-B67D-C9E6C3D01EF2}"/>
              </a:ext>
            </a:extLst>
          </p:cNvPr>
          <p:cNvSpPr>
            <a:spLocks noGrp="1" noChangeArrowheads="1"/>
          </p:cNvSpPr>
          <p:nvPr>
            <p:ph type="subTitle" idx="1"/>
          </p:nvPr>
        </p:nvSpPr>
        <p:spPr bwMode="auto">
          <a:xfrm>
            <a:off x="4948106" y="1577462"/>
            <a:ext cx="3991907"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Chuẩn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hóa</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dữ</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liệu</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theo</a:t>
            </a:r>
            <a:r>
              <a:rPr kumimoji="0" lang="en-US" altLang="en-US" sz="1200" b="1" i="0" u="none" strike="noStrike" cap="none" normalizeH="0" baseline="0" dirty="0">
                <a:ln>
                  <a:noFill/>
                </a:ln>
                <a:solidFill>
                  <a:schemeClr val="tx1"/>
                </a:solidFill>
                <a:effectLst/>
                <a:latin typeface="+mn-lt"/>
              </a:rPr>
              <a:t> ESCO Ontology: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Ánh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xạ</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trích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xuất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được</a:t>
            </a:r>
            <a:r>
              <a:rPr kumimoji="0" lang="en-US" altLang="en-US" sz="1200" b="0" i="0" u="none" strike="noStrike" cap="none" normalizeH="0" baseline="0" dirty="0">
                <a:ln>
                  <a:noFill/>
                </a:ln>
                <a:solidFill>
                  <a:schemeClr val="tx1"/>
                </a:solidFill>
                <a:effectLst/>
                <a:latin typeface="+mn-lt"/>
              </a:rPr>
              <a:t> sang </a:t>
            </a:r>
            <a:r>
              <a:rPr kumimoji="0" lang="en-US" altLang="en-US" sz="1200" b="0" i="0" u="none" strike="noStrike" cap="none" normalizeH="0" baseline="0" dirty="0" err="1">
                <a:ln>
                  <a:noFill/>
                </a:ln>
                <a:solidFill>
                  <a:schemeClr val="tx1"/>
                </a:solidFill>
                <a:effectLst/>
                <a:latin typeface="+mn-lt"/>
              </a:rPr>
              <a:t>bộ</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từ</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vựng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chuẩn</a:t>
            </a:r>
            <a:r>
              <a:rPr kumimoji="0" lang="en-US" altLang="en-US" sz="1200" b="0" i="0" u="none" strike="noStrike" cap="none" normalizeH="0" baseline="0" dirty="0">
                <a:ln>
                  <a:noFill/>
                </a:ln>
                <a:solidFill>
                  <a:schemeClr val="tx1"/>
                </a:solidFill>
                <a:effectLst/>
                <a:latin typeface="+mn-lt"/>
              </a:rPr>
              <a:t> ESCO </a:t>
            </a:r>
            <a:r>
              <a:rPr kumimoji="0" lang="en-US" altLang="en-US" sz="1200" b="0" i="0" u="none" strike="noStrike" cap="none" normalizeH="0" baseline="0" dirty="0" err="1">
                <a:ln>
                  <a:noFill/>
                </a:ln>
                <a:solidFill>
                  <a:schemeClr val="tx1"/>
                </a:solidFill>
                <a:effectLst/>
                <a:latin typeface="+mn-lt"/>
              </a:rPr>
              <a:t>để</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loại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bỏ</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nhiễu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đồng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nhất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viết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khác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nhau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của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cùng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một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Lọc</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luật</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kết</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hợp</a:t>
            </a:r>
            <a:r>
              <a:rPr kumimoji="0" lang="en-US" altLang="en-US" sz="1200" b="1" i="0" u="none" strike="noStrike" cap="none" normalizeH="0" baseline="0" dirty="0">
                <a:ln>
                  <a:noFill/>
                </a:ln>
                <a:solidFill>
                  <a:schemeClr val="tx1"/>
                </a:solidFill>
                <a:effectLst/>
                <a:latin typeface="+mn-lt"/>
              </a:rPr>
              <a:t> (Association Rules Filtering):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Tính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toán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chỉ</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số</a:t>
            </a:r>
            <a:r>
              <a:rPr kumimoji="0" lang="en-US" altLang="en-US" sz="1200" b="0" i="0" u="none" strike="noStrike" cap="none" normalizeH="0" baseline="0" dirty="0">
                <a:ln>
                  <a:noFill/>
                </a:ln>
                <a:solidFill>
                  <a:schemeClr val="tx1"/>
                </a:solidFill>
                <a:effectLst/>
                <a:latin typeface="+mn-lt"/>
              </a:rPr>
              <a:t> </a:t>
            </a:r>
            <a:r>
              <a:rPr kumimoji="0" lang="en-US" altLang="en-US" sz="1200" i="0" u="none" strike="noStrike" cap="none" normalizeH="0" baseline="0" dirty="0">
                <a:ln>
                  <a:noFill/>
                </a:ln>
                <a:solidFill>
                  <a:schemeClr val="tx1"/>
                </a:solidFill>
                <a:effectLst/>
                <a:latin typeface="+mn-lt"/>
              </a:rPr>
              <a:t>Support, Confidence </a:t>
            </a:r>
            <a:r>
              <a:rPr kumimoji="0" lang="en-US" altLang="en-US" sz="1200" b="0" i="0" u="none" strike="noStrike" cap="none" normalizeH="0" baseline="0" dirty="0" err="1">
                <a:ln>
                  <a:noFill/>
                </a:ln>
                <a:solidFill>
                  <a:schemeClr val="tx1"/>
                </a:solidFill>
                <a:effectLst/>
                <a:latin typeface="+mn-lt"/>
              </a:rPr>
              <a:t>và</a:t>
            </a:r>
            <a:r>
              <a:rPr kumimoji="0" lang="en-US" altLang="en-US" sz="1200" b="0" i="0" u="none" strike="noStrike" cap="none" normalizeH="0" baseline="0" dirty="0">
                <a:ln>
                  <a:noFill/>
                </a:ln>
                <a:solidFill>
                  <a:schemeClr val="tx1"/>
                </a:solidFill>
                <a:effectLst/>
                <a:latin typeface="+mn-lt"/>
              </a:rPr>
              <a:t> </a:t>
            </a:r>
            <a:r>
              <a:rPr kumimoji="0" lang="en-US" altLang="en-US" sz="1200" i="0" u="none" strike="noStrike" cap="none" normalizeH="0" baseline="0" dirty="0">
                <a:ln>
                  <a:noFill/>
                </a:ln>
                <a:solidFill>
                  <a:schemeClr val="tx1"/>
                </a:solidFill>
                <a:effectLst/>
                <a:latin typeface="+mn-lt"/>
              </a:rPr>
              <a:t>Lift,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chỉ</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giữ</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lại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cặp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có</a:t>
            </a:r>
            <a:r>
              <a:rPr kumimoji="0" lang="en-US" altLang="en-US" sz="1200" b="0" i="0" u="none" strike="noStrike" cap="none" normalizeH="0" baseline="0" dirty="0">
                <a:ln>
                  <a:noFill/>
                </a:ln>
                <a:solidFill>
                  <a:schemeClr val="tx1"/>
                </a:solidFill>
                <a:effectLst/>
                <a:latin typeface="+mn-lt"/>
              </a:rPr>
              <a:t> </a:t>
            </a:r>
            <a:r>
              <a:rPr kumimoji="0" lang="en-US" altLang="en-US" sz="1200" b="1" i="0" u="none" strike="noStrike" cap="none" normalizeH="0" baseline="0" dirty="0">
                <a:ln>
                  <a:noFill/>
                </a:ln>
                <a:solidFill>
                  <a:schemeClr val="tx1"/>
                </a:solidFill>
                <a:effectLst/>
                <a:latin typeface="+mn-lt"/>
              </a:rPr>
              <a:t>Lift 3.0 </a:t>
            </a:r>
            <a:r>
              <a:rPr kumimoji="0" lang="en-US" altLang="en-US" sz="1200" b="0" i="0" u="none" strike="noStrike" cap="none" normalizeH="0" baseline="0" dirty="0" err="1">
                <a:ln>
                  <a:noFill/>
                </a:ln>
                <a:solidFill>
                  <a:schemeClr val="tx1"/>
                </a:solidFill>
                <a:effectLst/>
                <a:latin typeface="+mn-lt"/>
              </a:rPr>
              <a:t>để</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đảm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bảo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liên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kết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mạnh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mẽ</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không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ngẫu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nhiên</a:t>
            </a:r>
            <a:r>
              <a:rPr kumimoji="0" lang="en-US" altLang="en-US" sz="1200" b="0" i="0" u="none" strike="noStrike" cap="none" normalizeH="0" baseline="0" dirty="0">
                <a:ln>
                  <a:noFill/>
                </a:ln>
                <a:solidFill>
                  <a:schemeClr val="tx1"/>
                </a:solidFill>
                <a:effectLst/>
                <a:latin typeface="+mn-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Phát</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hiện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cộng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đồng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trên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mạng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lưới</a:t>
            </a:r>
            <a:r>
              <a:rPr kumimoji="0" lang="en-US" altLang="en-US" sz="1200" b="1" i="0" u="none" strike="noStrike" cap="none" normalizeH="0" baseline="0" dirty="0">
                <a:ln>
                  <a:noFill/>
                </a:ln>
                <a:solidFill>
                  <a:schemeClr val="tx1"/>
                </a:solidFill>
                <a:effectLst/>
                <a:latin typeface="+mn-lt"/>
              </a:rPr>
              <a:t> (Community Detection):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Xây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dựng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đồ</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thị</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với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nút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cạnh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quan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hệ</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đồng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xuất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hiện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sau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đó</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áp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dụng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thuật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toán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ưu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hóa</a:t>
            </a:r>
            <a:r>
              <a:rPr kumimoji="0" lang="en-US" altLang="en-US" sz="1200" b="0" i="0" u="none" strike="noStrike" cap="none" normalizeH="0" baseline="0" dirty="0">
                <a:ln>
                  <a:noFill/>
                </a:ln>
                <a:solidFill>
                  <a:schemeClr val="tx1"/>
                </a:solidFill>
                <a:effectLst/>
                <a:latin typeface="+mn-lt"/>
              </a:rPr>
              <a:t> </a:t>
            </a:r>
            <a:r>
              <a:rPr kumimoji="0" lang="en-US" altLang="en-US" sz="1200" b="1" i="0" u="none" strike="noStrike" cap="none" normalizeH="0" baseline="0" dirty="0">
                <a:ln>
                  <a:noFill/>
                </a:ln>
                <a:solidFill>
                  <a:schemeClr val="tx1"/>
                </a:solidFill>
                <a:effectLst/>
                <a:latin typeface="+mn-lt"/>
              </a:rPr>
              <a:t>Modularity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để</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tìm</a:t>
            </a:r>
            <a:r>
              <a:rPr kumimoji="0" lang="en-US" altLang="en-US" sz="1200" b="0" i="0" u="none" strike="noStrike" cap="none" normalizeH="0" baseline="0" dirty="0">
                <a:ln>
                  <a:noFill/>
                </a:ln>
                <a:solidFill>
                  <a:schemeClr val="tx1"/>
                </a:solidFill>
                <a:effectLst/>
                <a:latin typeface="+mn-lt"/>
              </a:rPr>
              <a:t> ra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nhóm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(Skill Bundles).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767232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14</a:t>
            </a:fld>
            <a:endParaRPr sz="140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 Dữ liệu và phương pháp</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5062" y="941284"/>
            <a:ext cx="4312351"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Phương</a:t>
            </a:r>
            <a:r>
              <a:rPr lang="en-US" sz="1400" dirty="0"/>
              <a:t> </a:t>
            </a:r>
            <a:r>
              <a:rPr lang="en-US" sz="1400" dirty="0" err="1"/>
              <a:t>pháp</a:t>
            </a:r>
            <a:r>
              <a:rPr lang="en-US" sz="1400" dirty="0"/>
              <a:t> </a:t>
            </a:r>
            <a:r>
              <a:rPr lang="en-US" sz="1400" dirty="0" err="1"/>
              <a:t>phân</a:t>
            </a:r>
            <a:r>
              <a:rPr lang="en-US" sz="1400" dirty="0"/>
              <a:t> </a:t>
            </a:r>
            <a:r>
              <a:rPr lang="en-US" sz="1400" dirty="0" err="1"/>
              <a:t>tích</a:t>
            </a:r>
            <a:r>
              <a:rPr lang="en-US" sz="1400" dirty="0"/>
              <a:t> </a:t>
            </a:r>
            <a:r>
              <a:rPr lang="en-US" sz="1400" dirty="0" err="1"/>
              <a:t>và</a:t>
            </a:r>
            <a:r>
              <a:rPr lang="en-US" sz="1400" dirty="0"/>
              <a:t> </a:t>
            </a:r>
            <a:r>
              <a:rPr lang="en-US" sz="1400" dirty="0" err="1"/>
              <a:t>dự</a:t>
            </a:r>
            <a:r>
              <a:rPr lang="en-US" sz="1400" dirty="0"/>
              <a:t> </a:t>
            </a:r>
            <a:r>
              <a:rPr lang="en-US" sz="1400" dirty="0" err="1"/>
              <a:t>đoán</a:t>
            </a:r>
            <a:r>
              <a:rPr lang="en-US" sz="1400" dirty="0"/>
              <a:t> </a:t>
            </a:r>
            <a:r>
              <a:rPr lang="en-US" sz="1400" dirty="0" err="1"/>
              <a:t>mức</a:t>
            </a:r>
            <a:r>
              <a:rPr lang="en-US" sz="1400" dirty="0"/>
              <a:t> </a:t>
            </a:r>
            <a:r>
              <a:rPr lang="en-US" sz="1400" dirty="0" err="1"/>
              <a:t>lương</a:t>
            </a:r>
            <a:r>
              <a:rPr lang="en-US" sz="1400" dirty="0"/>
              <a:t> (RQ3)</a:t>
            </a:r>
            <a:endParaRPr sz="1400" dirty="0"/>
          </a:p>
        </p:txBody>
      </p:sp>
      <p:sp>
        <p:nvSpPr>
          <p:cNvPr id="4" name="TextBox 3">
            <a:extLst>
              <a:ext uri="{FF2B5EF4-FFF2-40B4-BE49-F238E27FC236}">
                <a16:creationId xmlns:a16="http://schemas.microsoft.com/office/drawing/2014/main" id="{E761789C-A483-4AAD-A77F-FF66E8681925}"/>
              </a:ext>
            </a:extLst>
          </p:cNvPr>
          <p:cNvSpPr txBox="1"/>
          <p:nvPr/>
        </p:nvSpPr>
        <p:spPr>
          <a:xfrm>
            <a:off x="184731" y="4442243"/>
            <a:ext cx="4872348" cy="33855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7: </a:t>
            </a:r>
            <a:r>
              <a:rPr lang="en-US" sz="800" b="1" i="1" dirty="0" err="1">
                <a:effectLst/>
                <a:latin typeface="Times New Roman" panose="02020603050405020304" pitchFamily="18" charset="0"/>
                <a:ea typeface="Times New Roman" panose="02020603050405020304" pitchFamily="18" charset="0"/>
              </a:rPr>
              <a:t>Quy</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trình</a:t>
            </a:r>
            <a:r>
              <a:rPr lang="en-US" sz="800" b="1" i="1" dirty="0">
                <a:effectLst/>
                <a:latin typeface="Times New Roman" panose="02020603050405020304" pitchFamily="18" charset="0"/>
                <a:ea typeface="Times New Roman" panose="02020603050405020304" pitchFamily="18" charset="0"/>
              </a:rPr>
              <a:t> RQ3</a:t>
            </a:r>
            <a:endParaRPr lang="en-US" sz="800" dirty="0">
              <a:effectLst/>
              <a:latin typeface="Times New Roman" panose="02020603050405020304" pitchFamily="18" charset="0"/>
              <a:ea typeface="Times New Roman" panose="02020603050405020304" pitchFamily="18" charset="0"/>
            </a:endParaRPr>
          </a:p>
          <a:p>
            <a:pPr algn="ctr"/>
            <a:endParaRPr lang="en-US" sz="800"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sp>
        <p:nvSpPr>
          <p:cNvPr id="5" name="Rectangle 3">
            <a:extLst>
              <a:ext uri="{FF2B5EF4-FFF2-40B4-BE49-F238E27FC236}">
                <a16:creationId xmlns:a16="http://schemas.microsoft.com/office/drawing/2014/main" id="{561E440D-7A13-4A21-AD64-D3A2B5E710B2}"/>
              </a:ext>
            </a:extLst>
          </p:cNvPr>
          <p:cNvSpPr>
            <a:spLocks noGrp="1" noChangeArrowheads="1"/>
          </p:cNvSpPr>
          <p:nvPr>
            <p:ph type="subTitle" idx="1"/>
          </p:nvPr>
        </p:nvSpPr>
        <p:spPr bwMode="auto">
          <a:xfrm>
            <a:off x="5109329" y="1462046"/>
            <a:ext cx="351148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Xử</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lý</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biến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mục</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tiêu</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và</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chống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rò</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rỉ</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dữ</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liệu</a:t>
            </a:r>
            <a:r>
              <a:rPr kumimoji="0" lang="en-US" altLang="en-US" sz="1200" b="1" i="0" u="none" strike="noStrike" cap="none" normalizeH="0" baseline="0" dirty="0">
                <a:ln>
                  <a:noFill/>
                </a:ln>
                <a:solidFill>
                  <a:schemeClr val="tx1"/>
                </a:solidFill>
                <a:effectLst/>
                <a:latin typeface="+mn-lt"/>
              </a:rPr>
              <a: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Biến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đổi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Logarit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mức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lương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chuẩn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hóa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để</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xử</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lý</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phân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phối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lệch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đồng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thời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loại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bỏ</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hoàn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toàn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cột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chứa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thông</a:t>
            </a:r>
            <a:r>
              <a:rPr kumimoji="0" lang="en-US" altLang="en-US" sz="1200" b="0" i="0" u="none" strike="noStrike" cap="none" normalizeH="0" baseline="0" dirty="0">
                <a:ln>
                  <a:noFill/>
                </a:ln>
                <a:solidFill>
                  <a:schemeClr val="tx1"/>
                </a:solidFill>
                <a:effectLst/>
                <a:latin typeface="+mn-lt"/>
              </a:rPr>
              <a:t> tin </a:t>
            </a:r>
            <a:r>
              <a:rPr kumimoji="0" lang="en-US" altLang="en-US" sz="1200" b="0" i="0" u="none" strike="noStrike" cap="none" normalizeH="0" baseline="0" dirty="0" err="1">
                <a:ln>
                  <a:noFill/>
                </a:ln>
                <a:solidFill>
                  <a:schemeClr val="tx1"/>
                </a:solidFill>
                <a:effectLst/>
                <a:latin typeface="+mn-lt"/>
              </a:rPr>
              <a:t>lương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trực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tiếp</a:t>
            </a:r>
            <a:r>
              <a:rPr kumimoji="0" lang="en-US" altLang="en-US" sz="1200" b="0" i="0" u="none" strike="noStrike" cap="none" normalizeH="0" baseline="0" dirty="0">
                <a:ln>
                  <a:noFill/>
                </a:ln>
                <a:solidFill>
                  <a:schemeClr val="tx1"/>
                </a:solidFill>
                <a:effectLst/>
                <a:latin typeface="+mn-lt"/>
              </a:rPr>
              <a:t> (min/max salary) </a:t>
            </a:r>
            <a:r>
              <a:rPr kumimoji="0" lang="en-US" altLang="en-US" sz="1200" b="0" i="0" u="none" strike="noStrike" cap="none" normalizeH="0" baseline="0" dirty="0" err="1">
                <a:ln>
                  <a:noFill/>
                </a:ln>
                <a:solidFill>
                  <a:schemeClr val="tx1"/>
                </a:solidFill>
                <a:effectLst/>
                <a:latin typeface="+mn-lt"/>
              </a:rPr>
              <a:t>khỏi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tập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huấn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luyện</a:t>
            </a:r>
            <a:r>
              <a:rPr kumimoji="0" lang="en-US" altLang="en-US" sz="1200" b="0" i="0" u="none" strike="noStrike" cap="none" normalizeH="0" baseline="0" dirty="0">
                <a:ln>
                  <a:noFill/>
                </a:ln>
                <a:solidFill>
                  <a:schemeClr val="tx1"/>
                </a:solidFill>
                <a:effectLst/>
                <a:latin typeface="+mn-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Xây</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dựng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đặc</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trưng</a:t>
            </a:r>
            <a:r>
              <a:rPr lang="en-US" altLang="en-US" sz="1200" b="1" dirty="0">
                <a:solidFill>
                  <a:schemeClr val="tx1"/>
                </a:solidFill>
                <a:latin typeface="+mn-lt"/>
              </a:rPr>
              <a:t>: </a:t>
            </a:r>
            <a:r>
              <a:rPr kumimoji="0" lang="en-US" altLang="en-US" sz="1200" b="0" i="0" u="none" strike="noStrike" cap="none" normalizeH="0" baseline="0" dirty="0" err="1">
                <a:ln>
                  <a:noFill/>
                </a:ln>
                <a:solidFill>
                  <a:schemeClr val="tx1"/>
                </a:solidFill>
                <a:effectLst/>
                <a:latin typeface="+mn-lt"/>
              </a:rPr>
              <a:t>Tạo</a:t>
            </a:r>
            <a:r>
              <a:rPr kumimoji="0" lang="en-US" altLang="en-US" sz="1200" b="0" i="0" u="none" strike="noStrike" cap="none" normalizeH="0" baseline="0" dirty="0">
                <a:ln>
                  <a:noFill/>
                </a:ln>
                <a:solidFill>
                  <a:schemeClr val="tx1"/>
                </a:solidFill>
                <a:effectLst/>
                <a:latin typeface="+mn-lt"/>
              </a:rPr>
              <a:t> ra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biến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mới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phản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ánh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độ</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phức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tạp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cảnh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công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việc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như</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độ</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dài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mô</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tả</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số</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lượng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yêu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cầu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thâm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niên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quy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mô</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nhân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sự</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của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công</a:t>
            </a:r>
            <a:r>
              <a:rPr kumimoji="0" lang="en-US" altLang="en-US" sz="1200" b="0" i="0" u="none" strike="noStrike" cap="none" normalizeH="0" baseline="0" dirty="0">
                <a:ln>
                  <a:noFill/>
                </a:ln>
                <a:solidFill>
                  <a:schemeClr val="tx1"/>
                </a:solidFill>
                <a:effectLst/>
                <a:latin typeface="+mn-lt"/>
              </a:rPr>
              <a:t> ty.</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Huấn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luyện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và</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Giải</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thích</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mô</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hình</a:t>
            </a:r>
            <a:r>
              <a:rPr kumimoji="0" lang="en-US" altLang="en-US" sz="1200" b="1" i="0" u="none" strike="noStrike" cap="none" normalizeH="0" baseline="0" dirty="0">
                <a:ln>
                  <a:noFill/>
                </a:ln>
                <a:solidFill>
                  <a:schemeClr val="tx1"/>
                </a:solidFill>
                <a:effectLst/>
                <a:latin typeface="+mn-lt"/>
              </a:rPr>
              <a: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Sử</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dụng</a:t>
            </a:r>
            <a:r>
              <a:rPr kumimoji="0" lang="en-US" altLang="en-US" sz="1200" b="0" i="0" u="none" strike="noStrike" cap="none" normalizeH="0" baseline="0" dirty="0">
                <a:ln>
                  <a:noFill/>
                </a:ln>
                <a:solidFill>
                  <a:schemeClr val="tx1"/>
                </a:solidFill>
                <a:effectLst/>
                <a:latin typeface="+mn-lt"/>
              </a:rPr>
              <a:t> Random Forest Regressor </a:t>
            </a:r>
            <a:r>
              <a:rPr kumimoji="0" lang="en-US" altLang="en-US" sz="1200" b="0" i="0" u="none" strike="noStrike" cap="none" normalizeH="0" baseline="0" dirty="0" err="1">
                <a:ln>
                  <a:noFill/>
                </a:ln>
                <a:solidFill>
                  <a:schemeClr val="tx1"/>
                </a:solidFill>
                <a:effectLst/>
                <a:latin typeface="+mn-lt"/>
              </a:rPr>
              <a:t>để</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nắm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bắt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quan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hệ</a:t>
            </a:r>
            <a:r>
              <a:rPr kumimoji="0" lang="en-US" altLang="en-US" sz="1200" b="0" i="0" u="none" strike="noStrike" cap="none" normalizeH="0" baseline="0" dirty="0">
                <a:ln>
                  <a:noFill/>
                </a:ln>
                <a:solidFill>
                  <a:schemeClr val="tx1"/>
                </a:solidFill>
                <a:effectLst/>
                <a:latin typeface="+mn-lt"/>
              </a:rPr>
              <a:t> phi </a:t>
            </a:r>
            <a:r>
              <a:rPr kumimoji="0" lang="en-US" altLang="en-US" sz="1200" b="0" i="0" u="none" strike="noStrike" cap="none" normalizeH="0" baseline="0" dirty="0" err="1">
                <a:ln>
                  <a:noFill/>
                </a:ln>
                <a:solidFill>
                  <a:schemeClr val="tx1"/>
                </a:solidFill>
                <a:effectLst/>
                <a:latin typeface="+mn-lt"/>
              </a:rPr>
              <a:t>tuyến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kết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hợp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với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thuật</a:t>
            </a:r>
            <a:r>
              <a:rPr kumimoji="0" lang="en-US" altLang="en-US" sz="1200" b="0" i="0" u="none" strike="noStrike" cap="none" normalizeH="0" baseline="0" dirty="0">
                <a:ln>
                  <a:noFill/>
                </a:ln>
                <a:solidFill>
                  <a:schemeClr val="tx1"/>
                </a:solidFill>
                <a:effectLst/>
                <a:latin typeface="+mn-lt"/>
              </a:rPr>
              <a:t> Permutation Importance </a:t>
            </a:r>
            <a:r>
              <a:rPr kumimoji="0" lang="en-US" altLang="en-US" sz="1200" b="0" i="0" u="none" strike="noStrike" cap="none" normalizeH="0" baseline="0" dirty="0" err="1">
                <a:ln>
                  <a:noFill/>
                </a:ln>
                <a:solidFill>
                  <a:schemeClr val="tx1"/>
                </a:solidFill>
                <a:effectLst/>
                <a:latin typeface="+mn-lt"/>
              </a:rPr>
              <a:t>để</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xếp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hạng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mức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độ</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ảnh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hưởng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của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từng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yếu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tố</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đến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mức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lương</a:t>
            </a:r>
            <a:r>
              <a:rPr kumimoji="0" lang="en-US" altLang="en-US" sz="12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pic>
        <p:nvPicPr>
          <p:cNvPr id="13" name="Picture 12">
            <a:extLst>
              <a:ext uri="{FF2B5EF4-FFF2-40B4-BE49-F238E27FC236}">
                <a16:creationId xmlns:a16="http://schemas.microsoft.com/office/drawing/2014/main" id="{3FF9FBB7-AC05-4F73-980F-85F1C7C45B5A}"/>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84731" y="1415812"/>
            <a:ext cx="4872348" cy="3026431"/>
          </a:xfrm>
          <a:prstGeom prst="rect">
            <a:avLst/>
          </a:prstGeom>
        </p:spPr>
      </p:pic>
    </p:spTree>
    <p:extLst>
      <p:ext uri="{BB962C8B-B14F-4D97-AF65-F5344CB8AC3E}">
        <p14:creationId xmlns:p14="http://schemas.microsoft.com/office/powerpoint/2010/main" val="3064765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latin typeface="+mn-lt"/>
              </a:rPr>
              <a:t>15</a:t>
            </a:fld>
            <a:endParaRPr sz="1400">
              <a:latin typeface="+mn-lt"/>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algn="ctr"/>
            <a:r>
              <a:rPr lang="en" dirty="0">
                <a:latin typeface="+mn-lt"/>
              </a:rPr>
              <a:t>4. </a:t>
            </a:r>
            <a:r>
              <a:rPr lang="en-US" dirty="0" err="1">
                <a:latin typeface="+mn-lt"/>
              </a:rPr>
              <a:t>Kết</a:t>
            </a:r>
            <a:r>
              <a:rPr lang="en-US" dirty="0">
                <a:latin typeface="+mn-lt"/>
              </a:rPr>
              <a:t> </a:t>
            </a:r>
            <a:r>
              <a:rPr lang="en-US" dirty="0" err="1">
                <a:latin typeface="+mn-lt"/>
              </a:rPr>
              <a:t>quả</a:t>
            </a:r>
            <a:r>
              <a:rPr lang="en-US" dirty="0">
                <a:latin typeface="+mn-lt"/>
              </a:rPr>
              <a:t> </a:t>
            </a:r>
            <a:r>
              <a:rPr lang="en-US" dirty="0" err="1">
                <a:latin typeface="+mn-lt"/>
              </a:rPr>
              <a:t>thực</a:t>
            </a:r>
            <a:r>
              <a:rPr lang="en-US" dirty="0">
                <a:latin typeface="+mn-lt"/>
              </a:rPr>
              <a:t> </a:t>
            </a:r>
            <a:r>
              <a:rPr lang="en-US" dirty="0" err="1">
                <a:latin typeface="+mn-lt"/>
              </a:rPr>
              <a:t>nghiệm</a:t>
            </a:r>
            <a:r>
              <a:rPr lang="en-US" dirty="0">
                <a:latin typeface="+mn-lt"/>
              </a:rPr>
              <a:t> </a:t>
            </a:r>
            <a:r>
              <a:rPr lang="en-US" dirty="0" err="1">
                <a:latin typeface="+mn-lt"/>
              </a:rPr>
              <a:t>và</a:t>
            </a:r>
            <a:r>
              <a:rPr lang="en-US" dirty="0">
                <a:latin typeface="+mn-lt"/>
              </a:rPr>
              <a:t> </a:t>
            </a:r>
            <a:r>
              <a:rPr lang="en-US" dirty="0" err="1">
                <a:latin typeface="+mn-lt"/>
              </a:rPr>
              <a:t>phân</a:t>
            </a:r>
            <a:r>
              <a:rPr lang="en-US" dirty="0">
                <a:latin typeface="+mn-lt"/>
              </a:rPr>
              <a:t> </a:t>
            </a:r>
            <a:r>
              <a:rPr lang="en-US" dirty="0" err="1">
                <a:latin typeface="+mn-lt"/>
              </a:rPr>
              <a:t>tích</a:t>
            </a:r>
            <a:br>
              <a:rPr lang="en-US" dirty="0">
                <a:latin typeface="+mn-lt"/>
              </a:rPr>
            </a:br>
            <a:endParaRPr dirty="0">
              <a:latin typeface="+mn-lt"/>
            </a:endParaRPr>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mn-lt"/>
            </a:endParaRPr>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latin typeface="+mn-lt"/>
            </a:endParaRPr>
          </a:p>
        </p:txBody>
      </p:sp>
      <p:sp>
        <p:nvSpPr>
          <p:cNvPr id="345" name="Google Shape;345;p33"/>
          <p:cNvSpPr txBox="1">
            <a:spLocks noGrp="1"/>
          </p:cNvSpPr>
          <p:nvPr>
            <p:ph type="subTitle" idx="4"/>
          </p:nvPr>
        </p:nvSpPr>
        <p:spPr>
          <a:xfrm>
            <a:off x="335063" y="1022855"/>
            <a:ext cx="4312351"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latin typeface="+mn-lt"/>
              </a:rPr>
              <a:t>Kết</a:t>
            </a:r>
            <a:r>
              <a:rPr lang="en-US" sz="1400" dirty="0">
                <a:latin typeface="+mn-lt"/>
              </a:rPr>
              <a:t> </a:t>
            </a:r>
            <a:r>
              <a:rPr lang="en-US" sz="1400" dirty="0" err="1">
                <a:latin typeface="+mn-lt"/>
              </a:rPr>
              <a:t>quả</a:t>
            </a:r>
            <a:r>
              <a:rPr lang="en-US" sz="1400" dirty="0">
                <a:latin typeface="+mn-lt"/>
              </a:rPr>
              <a:t> RQ1 (</a:t>
            </a:r>
            <a:r>
              <a:rPr lang="en-US" sz="1400" dirty="0" err="1">
                <a:latin typeface="+mn-lt"/>
              </a:rPr>
              <a:t>Đánh</a:t>
            </a:r>
            <a:r>
              <a:rPr lang="en-US" sz="1400" dirty="0">
                <a:latin typeface="+mn-lt"/>
              </a:rPr>
              <a:t> </a:t>
            </a:r>
            <a:r>
              <a:rPr lang="en-US" sz="1400" dirty="0" err="1">
                <a:latin typeface="+mn-lt"/>
              </a:rPr>
              <a:t>giá</a:t>
            </a:r>
            <a:r>
              <a:rPr lang="en-US" sz="1400" dirty="0">
                <a:latin typeface="+mn-lt"/>
              </a:rPr>
              <a:t> </a:t>
            </a:r>
            <a:r>
              <a:rPr lang="en-US" sz="1400" dirty="0" err="1">
                <a:latin typeface="+mn-lt"/>
              </a:rPr>
              <a:t>mô</a:t>
            </a:r>
            <a:r>
              <a:rPr lang="en-US" sz="1400" dirty="0">
                <a:latin typeface="+mn-lt"/>
              </a:rPr>
              <a:t> </a:t>
            </a:r>
            <a:r>
              <a:rPr lang="en-US" sz="1400" dirty="0" err="1">
                <a:latin typeface="+mn-lt"/>
              </a:rPr>
              <a:t>hình</a:t>
            </a:r>
            <a:r>
              <a:rPr lang="en-US" sz="1400" dirty="0">
                <a:latin typeface="+mn-lt"/>
              </a:rPr>
              <a:t> </a:t>
            </a:r>
            <a:r>
              <a:rPr lang="en-US" sz="1400" dirty="0" err="1">
                <a:latin typeface="+mn-lt"/>
              </a:rPr>
              <a:t>và</a:t>
            </a:r>
            <a:r>
              <a:rPr lang="en-US" sz="1400" dirty="0">
                <a:latin typeface="+mn-lt"/>
              </a:rPr>
              <a:t> </a:t>
            </a:r>
            <a:r>
              <a:rPr lang="en-US" sz="1400" dirty="0" err="1">
                <a:latin typeface="+mn-lt"/>
              </a:rPr>
              <a:t>phân</a:t>
            </a:r>
            <a:r>
              <a:rPr lang="en-US" sz="1400" dirty="0">
                <a:latin typeface="+mn-lt"/>
              </a:rPr>
              <a:t> </a:t>
            </a:r>
            <a:r>
              <a:rPr lang="en-US" sz="1400" dirty="0" err="1">
                <a:latin typeface="+mn-lt"/>
              </a:rPr>
              <a:t>bố</a:t>
            </a:r>
            <a:r>
              <a:rPr lang="en-US" sz="1400" dirty="0">
                <a:latin typeface="+mn-lt"/>
              </a:rPr>
              <a:t>)</a:t>
            </a:r>
          </a:p>
        </p:txBody>
      </p:sp>
      <p:sp>
        <p:nvSpPr>
          <p:cNvPr id="4" name="TextBox 3">
            <a:extLst>
              <a:ext uri="{FF2B5EF4-FFF2-40B4-BE49-F238E27FC236}">
                <a16:creationId xmlns:a16="http://schemas.microsoft.com/office/drawing/2014/main" id="{E761789C-A483-4AAD-A77F-FF66E8681925}"/>
              </a:ext>
            </a:extLst>
          </p:cNvPr>
          <p:cNvSpPr txBox="1"/>
          <p:nvPr/>
        </p:nvSpPr>
        <p:spPr>
          <a:xfrm>
            <a:off x="413925" y="4442243"/>
            <a:ext cx="4480049" cy="430887"/>
          </a:xfrm>
          <a:prstGeom prst="rect">
            <a:avLst/>
          </a:prstGeom>
          <a:noFill/>
        </p:spPr>
        <p:txBody>
          <a:bodyPr wrap="square" rtlCol="0">
            <a:spAutoFit/>
          </a:bodyPr>
          <a:lstStyle/>
          <a:p>
            <a:pPr algn="ctr"/>
            <a:r>
              <a:rPr lang="en-US" sz="1100" b="1" i="1" dirty="0" err="1">
                <a:effectLst/>
                <a:latin typeface="+mn-lt"/>
                <a:ea typeface="Times New Roman" panose="02020603050405020304" pitchFamily="18" charset="0"/>
              </a:rPr>
              <a:t>Hình</a:t>
            </a:r>
            <a:r>
              <a:rPr lang="en-US" sz="1100" b="1" i="1" dirty="0">
                <a:effectLst/>
                <a:latin typeface="+mn-lt"/>
                <a:ea typeface="Times New Roman" panose="02020603050405020304" pitchFamily="18" charset="0"/>
              </a:rPr>
              <a:t> 8</a:t>
            </a:r>
            <a:r>
              <a:rPr lang="en-US" sz="1100" b="1" i="1">
                <a:effectLst/>
                <a:latin typeface="+mn-lt"/>
                <a:ea typeface="Times New Roman" panose="02020603050405020304" pitchFamily="18" charset="0"/>
              </a:rPr>
              <a:t>: </a:t>
            </a:r>
            <a:r>
              <a:rPr lang="en-US" sz="1100" b="1" i="1">
                <a:latin typeface="+mn-lt"/>
                <a:ea typeface="Times New Roman" panose="02020603050405020304" pitchFamily="18" charset="0"/>
              </a:rPr>
              <a:t>Biểu đồ kết quả Silhoutte</a:t>
            </a:r>
            <a:endParaRPr lang="en-US" sz="1100" dirty="0">
              <a:effectLst/>
              <a:latin typeface="+mn-lt"/>
              <a:ea typeface="Times New Roman" panose="02020603050405020304" pitchFamily="18" charset="0"/>
            </a:endParaRPr>
          </a:p>
          <a:p>
            <a:pPr algn="ctr"/>
            <a:endParaRPr lang="en-US" sz="1100" b="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sp>
        <p:nvSpPr>
          <p:cNvPr id="3" name="Rectangle 1">
            <a:extLst>
              <a:ext uri="{FF2B5EF4-FFF2-40B4-BE49-F238E27FC236}">
                <a16:creationId xmlns:a16="http://schemas.microsoft.com/office/drawing/2014/main" id="{63143878-4DAF-4773-9E7A-D39E2B3C3A78}"/>
              </a:ext>
            </a:extLst>
          </p:cNvPr>
          <p:cNvSpPr>
            <a:spLocks noGrp="1" noChangeArrowheads="1"/>
          </p:cNvSpPr>
          <p:nvPr>
            <p:ph type="subTitle" idx="1"/>
          </p:nvPr>
        </p:nvSpPr>
        <p:spPr bwMode="auto">
          <a:xfrm>
            <a:off x="5045832" y="1564849"/>
            <a:ext cx="3874332"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lvl="0" indent="-171450" eaLnBrk="0" fontAlgn="base" hangingPunct="0">
              <a:lnSpc>
                <a:spcPct val="100000"/>
              </a:lnSpc>
              <a:spcBef>
                <a:spcPct val="0"/>
              </a:spcBef>
              <a:spcAft>
                <a:spcPct val="0"/>
              </a:spcAft>
              <a:buClrTx/>
              <a:buSzTx/>
              <a:buFont typeface="Arial" panose="020B0604020202020204" pitchFamily="34" charset="0"/>
              <a:buChar char="•"/>
            </a:pPr>
            <a:r>
              <a:rPr kumimoji="0" lang="en-US" altLang="en-US" b="1" i="0" u="none" strike="noStrike" cap="none" normalizeH="0" baseline="0" dirty="0" err="1">
                <a:ln>
                  <a:noFill/>
                </a:ln>
                <a:solidFill>
                  <a:schemeClr val="tx1"/>
                </a:solidFill>
                <a:effectLst/>
                <a:latin typeface="+mj-lt"/>
              </a:rPr>
              <a:t>Lựa</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chọn</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số</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cụm</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tối</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ưu</a:t>
            </a:r>
            <a:r>
              <a:rPr kumimoji="0" lang="en-US" altLang="en-US" b="1" i="0" u="none" strike="noStrike" cap="none" normalizeH="0" baseline="0" dirty="0">
                <a:ln>
                  <a:noFill/>
                </a:ln>
                <a:solidFill>
                  <a:schemeClr val="tx1"/>
                </a:solidFill>
                <a:effectLst/>
                <a:latin typeface="+mj-lt"/>
              </a:rPr>
              <a:t>:</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Biểu</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đồ</a:t>
            </a:r>
            <a:r>
              <a:rPr kumimoji="0" lang="en-US" altLang="en-US" b="0" i="0" u="none" strike="noStrike" cap="none" normalizeH="0" baseline="0" dirty="0">
                <a:ln>
                  <a:noFill/>
                </a:ln>
                <a:solidFill>
                  <a:schemeClr val="tx1"/>
                </a:solidFill>
                <a:effectLst/>
                <a:latin typeface="+mj-lt"/>
              </a:rPr>
              <a:t> Silhouette Score </a:t>
            </a:r>
            <a:r>
              <a:rPr kumimoji="0" lang="en-US" altLang="en-US" b="0" i="0" u="none" strike="noStrike" cap="none" normalizeH="0" baseline="0" dirty="0" err="1">
                <a:ln>
                  <a:noFill/>
                </a:ln>
                <a:solidFill>
                  <a:schemeClr val="tx1"/>
                </a:solidFill>
                <a:effectLst/>
                <a:latin typeface="+mj-lt"/>
              </a:rPr>
              <a:t>cho</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thấy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chỉ</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số</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tăng</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dần</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err="1">
                <a:ln>
                  <a:noFill/>
                </a:ln>
                <a:solidFill>
                  <a:schemeClr val="tx1"/>
                </a:solidFill>
                <a:effectLst/>
                <a:latin typeface="+mj-lt"/>
              </a:rPr>
              <a:t>theo</a:t>
            </a:r>
            <a:r>
              <a:rPr kumimoji="0" lang="en-US" altLang="en-US" b="0" i="0" u="none" strike="noStrike" cap="none" normalizeH="0" baseline="0">
                <a:ln>
                  <a:noFill/>
                </a:ln>
                <a:solidFill>
                  <a:schemeClr val="tx1"/>
                </a:solidFill>
                <a:effectLst/>
                <a:latin typeface="+mj-lt"/>
              </a:rPr>
              <a:t> K. </a:t>
            </a:r>
            <a:r>
              <a:rPr lang="en-US">
                <a:latin typeface="+mj-lt"/>
              </a:rPr>
              <a:t>Trên cơ sở cân bằng giữa chất lượng phân cụm và khả năng diễn giải,</a:t>
            </a:r>
            <a:r>
              <a:rPr kumimoji="0" lang="en-US" altLang="en-US" b="0" i="0" u="none" strike="noStrike" cap="none" normalizeH="0" baseline="0">
                <a:ln>
                  <a:noFill/>
                </a:ln>
                <a:solidFill>
                  <a:schemeClr val="tx1"/>
                </a:solidFill>
                <a:effectLst/>
                <a:latin typeface="+mj-lt"/>
              </a:rPr>
              <a:t> </a:t>
            </a:r>
            <a:r>
              <a:rPr lang="en-US" altLang="en-US" dirty="0">
                <a:solidFill>
                  <a:schemeClr val="tx1"/>
                </a:solidFill>
                <a:latin typeface="+mj-lt"/>
              </a:rPr>
              <a:t>n</a:t>
            </a:r>
            <a:r>
              <a:rPr kumimoji="0" lang="en-US" altLang="en-US" b="0" i="0" u="none" strike="noStrike" cap="none" normalizeH="0" baseline="0">
                <a:ln>
                  <a:noFill/>
                </a:ln>
                <a:solidFill>
                  <a:schemeClr val="tx1"/>
                </a:solidFill>
                <a:effectLst/>
                <a:latin typeface="+mj-lt"/>
              </a:rPr>
              <a:t>hóm </a:t>
            </a:r>
            <a:r>
              <a:rPr kumimoji="0" lang="en-US" altLang="en-US" b="0" i="0" u="none" strike="noStrike" cap="none" normalizeH="0" baseline="0" dirty="0" err="1">
                <a:ln>
                  <a:noFill/>
                </a:ln>
                <a:solidFill>
                  <a:schemeClr val="tx1"/>
                </a:solidFill>
                <a:effectLst/>
                <a:latin typeface="+mj-lt"/>
              </a:rPr>
              <a:t>chọn</a:t>
            </a:r>
            <a:r>
              <a:rPr lang="en-US" altLang="en-US" dirty="0">
                <a:solidFill>
                  <a:schemeClr val="tx1"/>
                </a:solidFill>
                <a:latin typeface="+mj-lt"/>
              </a:rPr>
              <a:t> </a:t>
            </a:r>
            <a:r>
              <a:rPr kumimoji="0" lang="en-US" altLang="en-US" b="0" i="0" u="none" strike="noStrike" cap="none" normalizeH="0" baseline="0" dirty="0">
                <a:ln>
                  <a:noFill/>
                </a:ln>
                <a:solidFill>
                  <a:schemeClr val="tx1"/>
                </a:solidFill>
                <a:effectLst/>
                <a:latin typeface="+mj-lt"/>
              </a:rPr>
              <a:t>K=15 </a:t>
            </a:r>
            <a:r>
              <a:rPr kumimoji="0" lang="en-US" altLang="en-US" b="0" i="0" u="none" strike="noStrike" cap="none" normalizeH="0" baseline="0" dirty="0" err="1">
                <a:ln>
                  <a:noFill/>
                </a:ln>
                <a:solidFill>
                  <a:schemeClr val="tx1"/>
                </a:solidFill>
                <a:effectLst/>
                <a:latin typeface="+mj-lt"/>
              </a:rPr>
              <a:t>để</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đảm</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bảo</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độ</a:t>
            </a:r>
            <a:r>
              <a:rPr kumimoji="0" lang="en-US" altLang="en-US" b="0" i="0" u="none" strike="noStrike" cap="none" normalizeH="0" baseline="0" dirty="0">
                <a:ln>
                  <a:noFill/>
                </a:ln>
                <a:solidFill>
                  <a:schemeClr val="tx1"/>
                </a:solidFill>
                <a:effectLst/>
                <a:latin typeface="+mj-lt"/>
              </a:rPr>
              <a:t> chi </a:t>
            </a:r>
            <a:r>
              <a:rPr kumimoji="0" lang="en-US" altLang="en-US" b="0" i="0" u="none" strike="noStrike" cap="none" normalizeH="0" baseline="0" dirty="0" err="1">
                <a:ln>
                  <a:noFill/>
                </a:ln>
                <a:solidFill>
                  <a:schemeClr val="tx1"/>
                </a:solidFill>
                <a:effectLst/>
                <a:latin typeface="+mj-lt"/>
              </a:rPr>
              <a:t>tiết</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vừa</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đủ</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cho</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việc</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diễn</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giải</a:t>
            </a:r>
            <a:r>
              <a:rPr lang="en-US" altLang="en-US" dirty="0">
                <a:solidFill>
                  <a:schemeClr val="tx1"/>
                </a:solidFill>
                <a:latin typeface="+mj-lt"/>
              </a:rPr>
              <a:t>.</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pic>
        <p:nvPicPr>
          <p:cNvPr id="12" name="Picture 11">
            <a:extLst>
              <a:ext uri="{FF2B5EF4-FFF2-40B4-BE49-F238E27FC236}">
                <a16:creationId xmlns:a16="http://schemas.microsoft.com/office/drawing/2014/main" id="{3822CCB3-2B0C-49A4-BF93-5B0E64588C33}"/>
              </a:ext>
            </a:extLst>
          </p:cNvPr>
          <p:cNvPicPr/>
          <p:nvPr/>
        </p:nvPicPr>
        <p:blipFill>
          <a:blip r:embed="rId3"/>
          <a:stretch>
            <a:fillRect/>
          </a:stretch>
        </p:blipFill>
        <p:spPr>
          <a:xfrm>
            <a:off x="335063" y="1564849"/>
            <a:ext cx="4710769" cy="2877394"/>
          </a:xfrm>
          <a:prstGeom prst="rect">
            <a:avLst/>
          </a:prstGeom>
        </p:spPr>
      </p:pic>
    </p:spTree>
    <p:extLst>
      <p:ext uri="{BB962C8B-B14F-4D97-AF65-F5344CB8AC3E}">
        <p14:creationId xmlns:p14="http://schemas.microsoft.com/office/powerpoint/2010/main" val="1718692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latin typeface="+mn-lt"/>
              </a:rPr>
              <a:t>16</a:t>
            </a:fld>
            <a:endParaRPr sz="1400">
              <a:latin typeface="+mn-lt"/>
            </a:endParaRPr>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algn="ctr"/>
            <a:r>
              <a:rPr lang="en" dirty="0">
                <a:latin typeface="+mn-lt"/>
              </a:rPr>
              <a:t>4. </a:t>
            </a:r>
            <a:r>
              <a:rPr lang="en-US" dirty="0" err="1">
                <a:latin typeface="+mn-lt"/>
              </a:rPr>
              <a:t>Kết</a:t>
            </a:r>
            <a:r>
              <a:rPr lang="en-US" dirty="0">
                <a:latin typeface="+mn-lt"/>
              </a:rPr>
              <a:t> </a:t>
            </a:r>
            <a:r>
              <a:rPr lang="en-US" dirty="0" err="1">
                <a:latin typeface="+mn-lt"/>
              </a:rPr>
              <a:t>quả</a:t>
            </a:r>
            <a:r>
              <a:rPr lang="en-US" dirty="0">
                <a:latin typeface="+mn-lt"/>
              </a:rPr>
              <a:t> </a:t>
            </a:r>
            <a:r>
              <a:rPr lang="en-US" dirty="0" err="1">
                <a:latin typeface="+mn-lt"/>
              </a:rPr>
              <a:t>thực</a:t>
            </a:r>
            <a:r>
              <a:rPr lang="en-US" dirty="0">
                <a:latin typeface="+mn-lt"/>
              </a:rPr>
              <a:t> </a:t>
            </a:r>
            <a:r>
              <a:rPr lang="en-US" dirty="0" err="1">
                <a:latin typeface="+mn-lt"/>
              </a:rPr>
              <a:t>nghiệm</a:t>
            </a:r>
            <a:r>
              <a:rPr lang="en-US" dirty="0">
                <a:latin typeface="+mn-lt"/>
              </a:rPr>
              <a:t> </a:t>
            </a:r>
            <a:r>
              <a:rPr lang="en-US" dirty="0" err="1">
                <a:latin typeface="+mn-lt"/>
              </a:rPr>
              <a:t>và</a:t>
            </a:r>
            <a:r>
              <a:rPr lang="en-US" dirty="0">
                <a:latin typeface="+mn-lt"/>
              </a:rPr>
              <a:t> </a:t>
            </a:r>
            <a:r>
              <a:rPr lang="en-US" dirty="0" err="1">
                <a:latin typeface="+mn-lt"/>
              </a:rPr>
              <a:t>phân</a:t>
            </a:r>
            <a:r>
              <a:rPr lang="en-US" dirty="0">
                <a:latin typeface="+mn-lt"/>
              </a:rPr>
              <a:t> </a:t>
            </a:r>
            <a:r>
              <a:rPr lang="en-US" dirty="0" err="1">
                <a:latin typeface="+mn-lt"/>
              </a:rPr>
              <a:t>tích</a:t>
            </a:r>
            <a:br>
              <a:rPr lang="en-US" dirty="0">
                <a:latin typeface="+mn-lt"/>
              </a:rPr>
            </a:br>
            <a:endParaRPr dirty="0">
              <a:latin typeface="+mn-lt"/>
            </a:endParaRPr>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mn-lt"/>
            </a:endParaRPr>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latin typeface="+mn-lt"/>
            </a:endParaRPr>
          </a:p>
        </p:txBody>
      </p:sp>
      <p:sp>
        <p:nvSpPr>
          <p:cNvPr id="4" name="TextBox 3">
            <a:extLst>
              <a:ext uri="{FF2B5EF4-FFF2-40B4-BE49-F238E27FC236}">
                <a16:creationId xmlns:a16="http://schemas.microsoft.com/office/drawing/2014/main" id="{E761789C-A483-4AAD-A77F-FF66E8681925}"/>
              </a:ext>
            </a:extLst>
          </p:cNvPr>
          <p:cNvSpPr txBox="1"/>
          <p:nvPr/>
        </p:nvSpPr>
        <p:spPr>
          <a:xfrm>
            <a:off x="4964443" y="4275523"/>
            <a:ext cx="3721069" cy="215444"/>
          </a:xfrm>
          <a:prstGeom prst="rect">
            <a:avLst/>
          </a:prstGeom>
          <a:noFill/>
        </p:spPr>
        <p:txBody>
          <a:bodyPr wrap="square" rtlCol="0">
            <a:spAutoFit/>
          </a:bodyPr>
          <a:lstStyle/>
          <a:p>
            <a:pPr algn="ctr"/>
            <a:r>
              <a:rPr lang="en-US" sz="800" b="1" i="1">
                <a:latin typeface="+mn-lt"/>
              </a:rPr>
              <a:t>Bảng 1: Các chủ đề nội dung công việc</a:t>
            </a:r>
            <a:endParaRPr lang="en-US" sz="800" i="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pic>
        <p:nvPicPr>
          <p:cNvPr id="6" name="Picture 5">
            <a:extLst>
              <a:ext uri="{FF2B5EF4-FFF2-40B4-BE49-F238E27FC236}">
                <a16:creationId xmlns:a16="http://schemas.microsoft.com/office/drawing/2014/main" id="{0553B99C-1AF4-43D4-8834-07D587B3AB34}"/>
              </a:ext>
            </a:extLst>
          </p:cNvPr>
          <p:cNvPicPr>
            <a:picLocks noChangeAspect="1"/>
          </p:cNvPicPr>
          <p:nvPr/>
        </p:nvPicPr>
        <p:blipFill>
          <a:blip r:embed="rId3"/>
          <a:stretch>
            <a:fillRect/>
          </a:stretch>
        </p:blipFill>
        <p:spPr>
          <a:xfrm>
            <a:off x="5026156" y="1017725"/>
            <a:ext cx="3721068" cy="3257798"/>
          </a:xfrm>
          <a:prstGeom prst="rect">
            <a:avLst/>
          </a:prstGeom>
        </p:spPr>
      </p:pic>
      <p:sp>
        <p:nvSpPr>
          <p:cNvPr id="7" name="Rectangle 1">
            <a:extLst>
              <a:ext uri="{FF2B5EF4-FFF2-40B4-BE49-F238E27FC236}">
                <a16:creationId xmlns:a16="http://schemas.microsoft.com/office/drawing/2014/main" id="{7EDCAD50-A351-4DF7-A176-E82EB5950603}"/>
              </a:ext>
            </a:extLst>
          </p:cNvPr>
          <p:cNvSpPr>
            <a:spLocks noGrp="1" noChangeArrowheads="1"/>
          </p:cNvSpPr>
          <p:nvPr>
            <p:ph type="subTitle" idx="1"/>
          </p:nvPr>
        </p:nvSpPr>
        <p:spPr bwMode="auto">
          <a:xfrm>
            <a:off x="126168" y="953880"/>
            <a:ext cx="4576764" cy="42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Arial" panose="020B0604020202020204" pitchFamily="34" charset="0"/>
              <a:buChar char="•"/>
            </a:pPr>
            <a:r>
              <a:rPr lang="vi-VN" sz="1200" b="1"/>
              <a:t>Công nghệ thông tin – Phát triển phần mềm – Dữ liệu (Clusters 0, 13)</a:t>
            </a:r>
            <a:r>
              <a:rPr lang="en-US" sz="1200" b="1"/>
              <a:t> </a:t>
            </a:r>
            <a:r>
              <a:rPr lang="vi-VN" sz="1200"/>
              <a:t>phản ánh vai trò </a:t>
            </a:r>
            <a:r>
              <a:rPr lang="vi-VN" sz="1200" b="1"/>
              <a:t>xuyên ngành</a:t>
            </a:r>
            <a:r>
              <a:rPr lang="vi-VN" sz="1200"/>
              <a:t> của CNTT và dữ liệu trong thị trường lao động hiện đại.</a:t>
            </a:r>
          </a:p>
          <a:p>
            <a:pPr algn="just">
              <a:buFont typeface="Arial" panose="020B0604020202020204" pitchFamily="34" charset="0"/>
              <a:buChar char="•"/>
            </a:pPr>
            <a:r>
              <a:rPr lang="vi-VN" sz="1200" b="1"/>
              <a:t>Giáo dục – Đào tạo (Cluster 1)</a:t>
            </a:r>
            <a:r>
              <a:rPr lang="en-US" sz="1200" b="1"/>
              <a:t> </a:t>
            </a:r>
            <a:r>
              <a:rPr lang="vi-VN" sz="1200"/>
              <a:t>Các từ khóa </a:t>
            </a:r>
            <a:r>
              <a:rPr lang="vi-VN" sz="1200" b="1"/>
              <a:t>rất rõ ràng và tách biệt</a:t>
            </a:r>
            <a:r>
              <a:rPr lang="vi-VN" sz="1200"/>
              <a:t>, cho thấy cấu trúc nội dung đặc thù của lĩnh vực giáo dục.</a:t>
            </a:r>
          </a:p>
          <a:p>
            <a:pPr algn="just">
              <a:buFont typeface="Arial" panose="020B0604020202020204" pitchFamily="34" charset="0"/>
              <a:buChar char="•"/>
            </a:pPr>
            <a:r>
              <a:rPr lang="vi-VN" sz="1200" b="1"/>
              <a:t>Bán lẻ – Bán hàng – Dịch vụ khách hàng (Clusters 2, 3, 10)</a:t>
            </a:r>
            <a:r>
              <a:rPr lang="en-US" sz="1200" b="1"/>
              <a:t> </a:t>
            </a:r>
            <a:r>
              <a:rPr lang="vi-VN" sz="1200"/>
              <a:t>phản ánh </a:t>
            </a:r>
            <a:r>
              <a:rPr lang="vi-VN" sz="1200" b="1"/>
              <a:t>sự đa dạng vai trò</a:t>
            </a:r>
            <a:r>
              <a:rPr lang="vi-VN" sz="1200"/>
              <a:t> từ bán lẻ đến bán hàng B2B và chăm sóc khách hàng.</a:t>
            </a:r>
          </a:p>
          <a:p>
            <a:pPr algn="just">
              <a:buFont typeface="Arial" panose="020B0604020202020204" pitchFamily="34" charset="0"/>
              <a:buChar char="•"/>
            </a:pPr>
            <a:r>
              <a:rPr lang="vi-VN" sz="1200" b="1"/>
              <a:t>Vận hành – Sản xuất – Lao động kỹ thuật (Cluster 4)</a:t>
            </a:r>
            <a:br>
              <a:rPr lang="vi-VN" sz="1200"/>
            </a:br>
            <a:r>
              <a:rPr lang="vi-VN" sz="1200"/>
              <a:t>đại diện cho các công việc </a:t>
            </a:r>
            <a:r>
              <a:rPr lang="vi-VN" sz="1200" b="1"/>
              <a:t>kỹ thuật thực địa và vận hành</a:t>
            </a:r>
            <a:r>
              <a:rPr lang="vi-VN" sz="1200"/>
              <a:t>.</a:t>
            </a:r>
          </a:p>
          <a:p>
            <a:pPr algn="just">
              <a:buFont typeface="Arial" panose="020B0604020202020204" pitchFamily="34" charset="0"/>
              <a:buChar char="•"/>
            </a:pPr>
            <a:r>
              <a:rPr lang="vi-VN" sz="1200" b="1"/>
              <a:t>Tài chính – Kế toán – Kinh doanh chuyên môn (Clusters 5, 14)</a:t>
            </a:r>
            <a:r>
              <a:rPr lang="en-US" sz="1200" b="1"/>
              <a:t> </a:t>
            </a:r>
            <a:r>
              <a:rPr lang="vi-VN" sz="1200"/>
              <a:t>cho thấy </a:t>
            </a:r>
            <a:r>
              <a:rPr lang="vi-VN" sz="1200" b="1"/>
              <a:t>sự phân hóa về cấp độ chuyên môn</a:t>
            </a:r>
            <a:r>
              <a:rPr lang="vi-VN" sz="1200"/>
              <a:t> trong lĩnh vực tài chính – kinh doanh.</a:t>
            </a:r>
          </a:p>
          <a:p>
            <a:pPr algn="just">
              <a:buFont typeface="Arial" panose="020B0604020202020204" pitchFamily="34" charset="0"/>
              <a:buChar char="•"/>
            </a:pPr>
            <a:r>
              <a:rPr lang="vi-VN" sz="1200" b="1"/>
              <a:t>Y tế – Chăm sóc sức khỏe (Clusters 6, 9, 11, 12)</a:t>
            </a:r>
            <a:r>
              <a:rPr lang="en-US" sz="1200" b="1"/>
              <a:t> </a:t>
            </a:r>
            <a:r>
              <a:rPr lang="vi-VN" sz="1200"/>
              <a:t>phản ánh </a:t>
            </a:r>
            <a:r>
              <a:rPr lang="vi-VN" sz="1200" b="1"/>
              <a:t>cấu trúc nội dung phức tạp và chuyên biệt</a:t>
            </a:r>
            <a:r>
              <a:rPr lang="vi-VN" sz="1200"/>
              <a:t> của lĩnh vực y tế.</a:t>
            </a:r>
          </a:p>
          <a:p>
            <a:pPr algn="just">
              <a:buFont typeface="Arial" panose="020B0604020202020204" pitchFamily="34" charset="0"/>
              <a:buChar char="•"/>
            </a:pPr>
            <a:r>
              <a:rPr lang="vi-VN" sz="1200" b="1"/>
              <a:t>Quản lý dự án &amp; Marketing số (Clusters 7, 8)</a:t>
            </a:r>
            <a:r>
              <a:rPr lang="en-US" sz="1200" b="1"/>
              <a:t> </a:t>
            </a:r>
            <a:r>
              <a:rPr lang="vi-VN" sz="1200"/>
              <a:t>đại diện cho các </a:t>
            </a:r>
            <a:r>
              <a:rPr lang="vi-VN" sz="1200" b="1"/>
              <a:t>chức năng then chốt trong doanh nghiệp hiện đại</a:t>
            </a:r>
            <a:r>
              <a:rPr lang="vi-VN" sz="1200"/>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632419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17</a:t>
            </a:fld>
            <a:endParaRPr sz="140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algn="ctr"/>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br>
              <a:rPr lang="en-US" dirty="0"/>
            </a:b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5063" y="1022855"/>
            <a:ext cx="4312351" cy="44343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Kết</a:t>
            </a:r>
            <a:r>
              <a:rPr lang="en-US" sz="1400" dirty="0"/>
              <a:t> </a:t>
            </a:r>
            <a:r>
              <a:rPr lang="en-US" sz="1400" dirty="0" err="1"/>
              <a:t>quả</a:t>
            </a:r>
            <a:r>
              <a:rPr lang="en-US" sz="1400" dirty="0"/>
              <a:t> RQ1 (</a:t>
            </a:r>
            <a:r>
              <a:rPr lang="en-US" sz="1400" dirty="0" err="1"/>
              <a:t>Phân</a:t>
            </a:r>
            <a:r>
              <a:rPr lang="en-US" sz="1400" dirty="0"/>
              <a:t> </a:t>
            </a:r>
            <a:r>
              <a:rPr lang="en-US" sz="1400" dirty="0" err="1"/>
              <a:t>bố</a:t>
            </a:r>
            <a:r>
              <a:rPr lang="en-US" sz="1400" dirty="0"/>
              <a:t> </a:t>
            </a:r>
            <a:r>
              <a:rPr lang="en-US" sz="1400" dirty="0" err="1"/>
              <a:t>số</a:t>
            </a:r>
            <a:r>
              <a:rPr lang="en-US" sz="1400" dirty="0"/>
              <a:t> </a:t>
            </a:r>
            <a:r>
              <a:rPr lang="en-US" sz="1400" dirty="0" err="1"/>
              <a:t>lượng</a:t>
            </a:r>
            <a:r>
              <a:rPr lang="en-US" sz="1400" dirty="0"/>
              <a:t> </a:t>
            </a:r>
            <a:r>
              <a:rPr lang="en-US" sz="1400" dirty="0" err="1"/>
              <a:t>mô</a:t>
            </a:r>
            <a:r>
              <a:rPr lang="en-US" sz="1400" dirty="0"/>
              <a:t> </a:t>
            </a:r>
            <a:r>
              <a:rPr lang="en-US" sz="1400" dirty="0" err="1"/>
              <a:t>tả</a:t>
            </a:r>
            <a:r>
              <a:rPr lang="en-US" sz="1400" dirty="0"/>
              <a:t> </a:t>
            </a:r>
            <a:r>
              <a:rPr lang="en-US" sz="1400" dirty="0" err="1"/>
              <a:t>công</a:t>
            </a:r>
            <a:r>
              <a:rPr lang="en-US" sz="1400" dirty="0"/>
              <a:t> </a:t>
            </a:r>
            <a:r>
              <a:rPr lang="en-US" sz="1400" dirty="0" err="1"/>
              <a:t>việc</a:t>
            </a:r>
            <a:r>
              <a:rPr lang="en-US" sz="1400" dirty="0"/>
              <a:t> </a:t>
            </a:r>
            <a:r>
              <a:rPr lang="en-US" sz="1400" dirty="0" err="1"/>
              <a:t>theo</a:t>
            </a:r>
            <a:r>
              <a:rPr lang="en-US" sz="1400" dirty="0"/>
              <a:t> </a:t>
            </a:r>
            <a:r>
              <a:rPr lang="en-US" sz="1400" dirty="0" err="1"/>
              <a:t>cụm</a:t>
            </a:r>
            <a:r>
              <a:rPr lang="en-US" sz="1400" dirty="0"/>
              <a:t>)</a:t>
            </a:r>
          </a:p>
        </p:txBody>
      </p:sp>
      <p:sp>
        <p:nvSpPr>
          <p:cNvPr id="4" name="TextBox 3">
            <a:extLst>
              <a:ext uri="{FF2B5EF4-FFF2-40B4-BE49-F238E27FC236}">
                <a16:creationId xmlns:a16="http://schemas.microsoft.com/office/drawing/2014/main" id="{E761789C-A483-4AAD-A77F-FF66E8681925}"/>
              </a:ext>
            </a:extLst>
          </p:cNvPr>
          <p:cNvSpPr txBox="1"/>
          <p:nvPr/>
        </p:nvSpPr>
        <p:spPr>
          <a:xfrm>
            <a:off x="413925" y="4442243"/>
            <a:ext cx="4480049" cy="461665"/>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10: </a:t>
            </a:r>
            <a:r>
              <a:rPr lang="en-US" sz="800" b="1" i="1" dirty="0" err="1">
                <a:effectLst/>
                <a:latin typeface="Times New Roman" panose="02020603050405020304" pitchFamily="18" charset="0"/>
                <a:ea typeface="Times New Roman" panose="02020603050405020304" pitchFamily="18" charset="0"/>
              </a:rPr>
              <a:t>Phân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bố</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số</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lượng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mô</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tả</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công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việc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thuộc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mỗi</a:t>
            </a:r>
            <a:r>
              <a:rPr lang="en-US" sz="800" b="1" i="1" dirty="0">
                <a:effectLst/>
                <a:latin typeface="Times New Roman" panose="02020603050405020304" pitchFamily="18" charset="0"/>
                <a:ea typeface="Times New Roman" panose="02020603050405020304" pitchFamily="18" charset="0"/>
              </a:rPr>
              <a:t> cluster </a:t>
            </a:r>
            <a:r>
              <a:rPr lang="en-US" sz="800" b="1" i="1" dirty="0" err="1">
                <a:effectLst/>
                <a:latin typeface="Times New Roman" panose="02020603050405020304" pitchFamily="18" charset="0"/>
                <a:ea typeface="Times New Roman" panose="02020603050405020304" pitchFamily="18" charset="0"/>
              </a:rPr>
              <a:t>sau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quá</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trình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phân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cụm</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mô</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tả</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công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việc</a:t>
            </a:r>
            <a:endParaRPr lang="en-US" sz="800" dirty="0">
              <a:effectLst/>
              <a:latin typeface="Times New Roman" panose="02020603050405020304" pitchFamily="18" charset="0"/>
              <a:ea typeface="Times New Roman" panose="02020603050405020304" pitchFamily="18" charset="0"/>
            </a:endParaRPr>
          </a:p>
          <a:p>
            <a:pPr algn="ctr"/>
            <a:endParaRPr lang="en-US" sz="800" b="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pic>
        <p:nvPicPr>
          <p:cNvPr id="14" name="Picture 13">
            <a:extLst>
              <a:ext uri="{FF2B5EF4-FFF2-40B4-BE49-F238E27FC236}">
                <a16:creationId xmlns:a16="http://schemas.microsoft.com/office/drawing/2014/main" id="{FA0E624E-F863-43E6-A8A3-0EC21883012F}"/>
              </a:ext>
            </a:extLst>
          </p:cNvPr>
          <p:cNvPicPr/>
          <p:nvPr/>
        </p:nvPicPr>
        <p:blipFill>
          <a:blip r:embed="rId3">
            <a:extLst>
              <a:ext uri="{28A0092B-C50C-407E-A947-70E740481C1C}">
                <a14:useLocalDpi xmlns:a14="http://schemas.microsoft.com/office/drawing/2010/main" val="0"/>
              </a:ext>
            </a:extLst>
          </a:blip>
          <a:stretch>
            <a:fillRect/>
          </a:stretch>
        </p:blipFill>
        <p:spPr>
          <a:xfrm>
            <a:off x="413926" y="1509148"/>
            <a:ext cx="4596420" cy="2933094"/>
          </a:xfrm>
          <a:prstGeom prst="rect">
            <a:avLst/>
          </a:prstGeom>
        </p:spPr>
      </p:pic>
      <p:sp>
        <p:nvSpPr>
          <p:cNvPr id="5" name="Rectangle 2">
            <a:extLst>
              <a:ext uri="{FF2B5EF4-FFF2-40B4-BE49-F238E27FC236}">
                <a16:creationId xmlns:a16="http://schemas.microsoft.com/office/drawing/2014/main" id="{2070C3E7-5F65-4789-80F6-53A78082C2F6}"/>
              </a:ext>
            </a:extLst>
          </p:cNvPr>
          <p:cNvSpPr>
            <a:spLocks noGrp="1" noChangeArrowheads="1"/>
          </p:cNvSpPr>
          <p:nvPr>
            <p:ph type="subTitle" idx="1"/>
          </p:nvPr>
        </p:nvSpPr>
        <p:spPr bwMode="auto">
          <a:xfrm>
            <a:off x="5074444" y="1509148"/>
            <a:ext cx="3890502"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Phân bố số lượng JD giữa các cluster </a:t>
            </a:r>
            <a:r>
              <a:rPr kumimoji="0" lang="en-US" altLang="en-US" sz="1200" b="1" i="0" u="none" strike="noStrike" cap="none" normalizeH="0" baseline="0">
                <a:ln>
                  <a:noFill/>
                </a:ln>
                <a:solidFill>
                  <a:schemeClr val="tx1"/>
                </a:solidFill>
                <a:effectLst/>
                <a:latin typeface="+mj-lt"/>
              </a:rPr>
              <a:t>không đồng đều</a:t>
            </a:r>
            <a:r>
              <a:rPr kumimoji="0" lang="en-US" altLang="en-US" sz="1200" b="0" i="0" u="none" strike="noStrike" cap="none" normalizeH="0" baseline="0">
                <a:ln>
                  <a:noFill/>
                </a:ln>
                <a:solidFill>
                  <a:schemeClr val="tx1"/>
                </a:solidFill>
                <a:effectLst/>
                <a:latin typeface="+mj-lt"/>
              </a:rPr>
              <a:t>, cho thấy mức độ phổ biến khác nhau của các chủ đề nội dung công việc.</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Một số cluster lớn (ví dụ </a:t>
            </a:r>
            <a:r>
              <a:rPr kumimoji="0" lang="en-US" altLang="en-US" sz="1200" b="1" i="0" u="none" strike="noStrike" cap="none" normalizeH="0" baseline="0">
                <a:ln>
                  <a:noFill/>
                </a:ln>
                <a:solidFill>
                  <a:schemeClr val="tx1"/>
                </a:solidFill>
                <a:effectLst/>
                <a:latin typeface="+mj-lt"/>
              </a:rPr>
              <a:t>cluster 3, 4, 0, 12</a:t>
            </a:r>
            <a:r>
              <a:rPr kumimoji="0" lang="en-US" altLang="en-US" sz="1200" b="0" i="0" u="none" strike="noStrike" cap="none" normalizeH="0" baseline="0">
                <a:ln>
                  <a:noFill/>
                </a:ln>
                <a:solidFill>
                  <a:schemeClr val="tx1"/>
                </a:solidFill>
                <a:effectLst/>
                <a:latin typeface="+mj-lt"/>
              </a:rPr>
              <a:t>) chiếm tỷ trọng đáng kể, phản ánh các </a:t>
            </a:r>
            <a:r>
              <a:rPr kumimoji="0" lang="en-US" altLang="en-US" sz="1200" b="1" i="0" u="none" strike="noStrike" cap="none" normalizeH="0" baseline="0">
                <a:ln>
                  <a:noFill/>
                </a:ln>
                <a:solidFill>
                  <a:schemeClr val="tx1"/>
                </a:solidFill>
                <a:effectLst/>
                <a:latin typeface="+mj-lt"/>
              </a:rPr>
              <a:t>nhóm công việc phổ biến</a:t>
            </a:r>
            <a:r>
              <a:rPr kumimoji="0" lang="en-US" altLang="en-US" sz="1200" b="0" i="0" u="none" strike="noStrike" cap="none" normalizeH="0" baseline="0">
                <a:ln>
                  <a:noFill/>
                </a:ln>
                <a:solidFill>
                  <a:schemeClr val="tx1"/>
                </a:solidFill>
                <a:effectLst/>
                <a:latin typeface="+mj-lt"/>
              </a:rPr>
              <a:t> như dịch vụ, quản lý, kỹ thuật và y tế.</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Nhiều cluster nhỏ hơn (ví dụ </a:t>
            </a:r>
            <a:r>
              <a:rPr kumimoji="0" lang="en-US" altLang="en-US" sz="1200" b="1" i="0" u="none" strike="noStrike" cap="none" normalizeH="0" baseline="0">
                <a:ln>
                  <a:noFill/>
                </a:ln>
                <a:solidFill>
                  <a:schemeClr val="tx1"/>
                </a:solidFill>
                <a:effectLst/>
                <a:latin typeface="+mj-lt"/>
              </a:rPr>
              <a:t>cluster 1, 9, 11, 14</a:t>
            </a:r>
            <a:r>
              <a:rPr kumimoji="0" lang="en-US" altLang="en-US" sz="1200" b="0" i="0" u="none" strike="noStrike" cap="none" normalizeH="0" baseline="0">
                <a:ln>
                  <a:noFill/>
                </a:ln>
                <a:solidFill>
                  <a:schemeClr val="tx1"/>
                </a:solidFill>
                <a:effectLst/>
                <a:latin typeface="+mj-lt"/>
              </a:rPr>
              <a:t>) đại diện cho các </a:t>
            </a:r>
            <a:r>
              <a:rPr kumimoji="0" lang="en-US" altLang="en-US" sz="1200" b="1" i="0" u="none" strike="noStrike" cap="none" normalizeH="0" baseline="0">
                <a:ln>
                  <a:noFill/>
                </a:ln>
                <a:solidFill>
                  <a:schemeClr val="tx1"/>
                </a:solidFill>
                <a:effectLst/>
                <a:latin typeface="+mj-lt"/>
              </a:rPr>
              <a:t>lĩnh vực chuyên biệt hoặc ngách</a:t>
            </a:r>
            <a:r>
              <a:rPr kumimoji="0" lang="en-US" altLang="en-US" sz="1200" b="0" i="0" u="none" strike="noStrike" cap="none" normalizeH="0" baseline="0">
                <a:ln>
                  <a:noFill/>
                </a:ln>
                <a:solidFill>
                  <a:schemeClr val="tx1"/>
                </a:solidFill>
                <a:effectLst/>
                <a:latin typeface="+mj-lt"/>
              </a:rPr>
              <a:t>, với số lượng JD hạn chế nhưng nội dung đặc thù.</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Kết quả cho thấy mô hình phân cụm không chỉ tách được các chủ đề chính mà còn phát hiện được </a:t>
            </a:r>
            <a:r>
              <a:rPr kumimoji="0" lang="en-US" altLang="en-US" sz="1200" b="1" i="0" u="none" strike="noStrike" cap="none" normalizeH="0" baseline="0">
                <a:ln>
                  <a:noFill/>
                </a:ln>
                <a:solidFill>
                  <a:schemeClr val="tx1"/>
                </a:solidFill>
                <a:effectLst/>
                <a:latin typeface="+mj-lt"/>
              </a:rPr>
              <a:t>cấu trúc phân tầng</a:t>
            </a:r>
            <a:r>
              <a:rPr kumimoji="0" lang="en-US" altLang="en-US" sz="1200" b="0" i="0" u="none" strike="noStrike" cap="none" normalizeH="0" baseline="0">
                <a:ln>
                  <a:noFill/>
                </a:ln>
                <a:solidFill>
                  <a:schemeClr val="tx1"/>
                </a:solidFill>
                <a:effectLst/>
                <a:latin typeface="+mj-lt"/>
              </a:rPr>
              <a:t> giữa các nhóm nghề phổ biến và chuyên môn hóa cao.</a:t>
            </a:r>
          </a:p>
        </p:txBody>
      </p:sp>
    </p:spTree>
    <p:extLst>
      <p:ext uri="{BB962C8B-B14F-4D97-AF65-F5344CB8AC3E}">
        <p14:creationId xmlns:p14="http://schemas.microsoft.com/office/powerpoint/2010/main" val="300081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18</a:t>
            </a:fld>
            <a:endParaRPr sz="140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algn="ctr"/>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br>
              <a:rPr lang="en-US" dirty="0"/>
            </a:b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5063" y="1022854"/>
            <a:ext cx="4312351" cy="457153"/>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Kết</a:t>
            </a:r>
            <a:r>
              <a:rPr lang="en-US" sz="1400" dirty="0"/>
              <a:t> </a:t>
            </a:r>
            <a:r>
              <a:rPr lang="en-US" sz="1400" dirty="0" err="1"/>
              <a:t>quả</a:t>
            </a:r>
            <a:r>
              <a:rPr lang="en-US" sz="1400" dirty="0"/>
              <a:t> RQ1 (</a:t>
            </a:r>
            <a:r>
              <a:rPr lang="en-US" sz="1400" dirty="0" err="1"/>
              <a:t>Trực</a:t>
            </a:r>
            <a:r>
              <a:rPr lang="en-US" sz="1400" dirty="0"/>
              <a:t> </a:t>
            </a:r>
            <a:r>
              <a:rPr lang="en-US" sz="1400" dirty="0" err="1"/>
              <a:t>quan</a:t>
            </a:r>
            <a:r>
              <a:rPr lang="en-US" sz="1400" dirty="0"/>
              <a:t> </a:t>
            </a:r>
            <a:r>
              <a:rPr lang="en-US" sz="1400" dirty="0" err="1"/>
              <a:t>hóa</a:t>
            </a:r>
            <a:r>
              <a:rPr lang="en-US" sz="1400" dirty="0"/>
              <a:t> </a:t>
            </a:r>
            <a:r>
              <a:rPr lang="en-US" sz="1400" dirty="0" err="1"/>
              <a:t>cấu</a:t>
            </a:r>
            <a:r>
              <a:rPr lang="en-US" sz="1400" dirty="0"/>
              <a:t> </a:t>
            </a:r>
            <a:r>
              <a:rPr lang="en-US" sz="1400" dirty="0" err="1"/>
              <a:t>trúc</a:t>
            </a:r>
            <a:r>
              <a:rPr lang="en-US" sz="1400" dirty="0"/>
              <a:t> </a:t>
            </a:r>
            <a:r>
              <a:rPr lang="en-US" sz="1400" dirty="0" err="1"/>
              <a:t>phân</a:t>
            </a:r>
            <a:r>
              <a:rPr lang="en-US" sz="1400" dirty="0"/>
              <a:t> </a:t>
            </a:r>
            <a:r>
              <a:rPr lang="en-US" sz="1400" dirty="0" err="1"/>
              <a:t>cụm</a:t>
            </a:r>
            <a:r>
              <a:rPr lang="en-US" sz="1400" dirty="0"/>
              <a:t> </a:t>
            </a:r>
            <a:r>
              <a:rPr lang="en-US" sz="1400" dirty="0" err="1"/>
              <a:t>trên</a:t>
            </a:r>
            <a:r>
              <a:rPr lang="en-US" sz="1400" dirty="0"/>
              <a:t> </a:t>
            </a:r>
            <a:r>
              <a:rPr lang="en-US" sz="1400" dirty="0" err="1"/>
              <a:t>không</a:t>
            </a:r>
            <a:r>
              <a:rPr lang="en-US" sz="1400" dirty="0"/>
              <a:t> </a:t>
            </a:r>
            <a:r>
              <a:rPr lang="en-US" sz="1400" dirty="0" err="1"/>
              <a:t>gian</a:t>
            </a:r>
            <a:r>
              <a:rPr lang="en-US" sz="1400" dirty="0"/>
              <a:t> 2D)</a:t>
            </a:r>
          </a:p>
        </p:txBody>
      </p:sp>
      <p:sp>
        <p:nvSpPr>
          <p:cNvPr id="4" name="TextBox 3">
            <a:extLst>
              <a:ext uri="{FF2B5EF4-FFF2-40B4-BE49-F238E27FC236}">
                <a16:creationId xmlns:a16="http://schemas.microsoft.com/office/drawing/2014/main" id="{E761789C-A483-4AAD-A77F-FF66E8681925}"/>
              </a:ext>
            </a:extLst>
          </p:cNvPr>
          <p:cNvSpPr txBox="1"/>
          <p:nvPr/>
        </p:nvSpPr>
        <p:spPr>
          <a:xfrm>
            <a:off x="184732" y="4442243"/>
            <a:ext cx="4707780" cy="33855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11: </a:t>
            </a:r>
            <a:r>
              <a:rPr lang="en-US" sz="800" b="1" i="1" dirty="0" err="1">
                <a:effectLst/>
                <a:latin typeface="Times New Roman" panose="02020603050405020304" pitchFamily="18" charset="0"/>
                <a:ea typeface="Times New Roman" panose="02020603050405020304" pitchFamily="18" charset="0"/>
              </a:rPr>
              <a:t>Trực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quan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hóa</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cấu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trúc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phân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cụm</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mô</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tả</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công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việc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bằng</a:t>
            </a:r>
            <a:r>
              <a:rPr lang="en-US" sz="800" b="1" i="1" dirty="0">
                <a:effectLst/>
                <a:latin typeface="Times New Roman" panose="02020603050405020304" pitchFamily="18" charset="0"/>
                <a:ea typeface="Times New Roman" panose="02020603050405020304" pitchFamily="18" charset="0"/>
              </a:rPr>
              <a:t> t-SNE </a:t>
            </a:r>
            <a:r>
              <a:rPr lang="en-US" sz="800" b="1" i="1" dirty="0" err="1">
                <a:effectLst/>
                <a:latin typeface="Times New Roman" panose="02020603050405020304" pitchFamily="18" charset="0"/>
                <a:ea typeface="Times New Roman" panose="02020603050405020304" pitchFamily="18" charset="0"/>
              </a:rPr>
              <a:t>trong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không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gian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hai</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chiều</a:t>
            </a:r>
            <a:endParaRPr lang="en-US" sz="800" dirty="0">
              <a:effectLst/>
              <a:latin typeface="Times New Roman" panose="02020603050405020304" pitchFamily="18" charset="0"/>
              <a:ea typeface="Times New Roman" panose="02020603050405020304" pitchFamily="18" charset="0"/>
            </a:endParaRPr>
          </a:p>
          <a:p>
            <a:pPr algn="ctr"/>
            <a:endParaRPr lang="en-US" sz="800" b="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pic>
        <p:nvPicPr>
          <p:cNvPr id="12" name="Picture 11">
            <a:extLst>
              <a:ext uri="{FF2B5EF4-FFF2-40B4-BE49-F238E27FC236}">
                <a16:creationId xmlns:a16="http://schemas.microsoft.com/office/drawing/2014/main" id="{2DE07F5E-7477-471C-9FF6-F0ACFD02892C}"/>
              </a:ext>
            </a:extLst>
          </p:cNvPr>
          <p:cNvPicPr/>
          <p:nvPr/>
        </p:nvPicPr>
        <p:blipFill>
          <a:blip r:embed="rId3">
            <a:extLst>
              <a:ext uri="{28A0092B-C50C-407E-A947-70E740481C1C}">
                <a14:useLocalDpi xmlns:a14="http://schemas.microsoft.com/office/drawing/2010/main" val="0"/>
              </a:ext>
            </a:extLst>
          </a:blip>
          <a:stretch>
            <a:fillRect/>
          </a:stretch>
        </p:blipFill>
        <p:spPr>
          <a:xfrm>
            <a:off x="184731" y="1541282"/>
            <a:ext cx="4896316" cy="2900961"/>
          </a:xfrm>
          <a:prstGeom prst="rect">
            <a:avLst/>
          </a:prstGeom>
        </p:spPr>
      </p:pic>
      <p:sp>
        <p:nvSpPr>
          <p:cNvPr id="7" name="Rectangle 3">
            <a:extLst>
              <a:ext uri="{FF2B5EF4-FFF2-40B4-BE49-F238E27FC236}">
                <a16:creationId xmlns:a16="http://schemas.microsoft.com/office/drawing/2014/main" id="{64D45BBB-CB03-477D-9F6D-83D8E2F2229A}"/>
              </a:ext>
            </a:extLst>
          </p:cNvPr>
          <p:cNvSpPr>
            <a:spLocks noGrp="1" noChangeArrowheads="1"/>
          </p:cNvSpPr>
          <p:nvPr>
            <p:ph type="subTitle" idx="1"/>
          </p:nvPr>
        </p:nvSpPr>
        <p:spPr bwMode="auto">
          <a:xfrm>
            <a:off x="5145881" y="1541282"/>
            <a:ext cx="372734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Biểu đồ t-SNE cho thấy các mô tả công việc được </a:t>
            </a:r>
            <a:r>
              <a:rPr kumimoji="0" lang="en-US" altLang="en-US" sz="1200" b="1" i="0" u="none" strike="noStrike" cap="none" normalizeH="0" baseline="0">
                <a:ln>
                  <a:noFill/>
                </a:ln>
                <a:solidFill>
                  <a:schemeClr val="tx1"/>
                </a:solidFill>
                <a:effectLst/>
                <a:latin typeface="+mj-lt"/>
              </a:rPr>
              <a:t>nhóm thành các vùng tương đối rõ ràng</a:t>
            </a:r>
            <a:r>
              <a:rPr kumimoji="0" lang="en-US" altLang="en-US" sz="1200" b="0" i="0" u="none" strike="noStrike" cap="none" normalizeH="0" baseline="0">
                <a:ln>
                  <a:noFill/>
                </a:ln>
                <a:solidFill>
                  <a:schemeClr val="tx1"/>
                </a:solidFill>
                <a:effectLst/>
                <a:latin typeface="+mj-lt"/>
              </a:rPr>
              <a:t>, phản ánh sự tồn tại của nhiều </a:t>
            </a:r>
            <a:r>
              <a:rPr kumimoji="0" lang="en-US" altLang="en-US" sz="1200" b="1" i="0" u="none" strike="noStrike" cap="none" normalizeH="0" baseline="0">
                <a:ln>
                  <a:noFill/>
                </a:ln>
                <a:solidFill>
                  <a:schemeClr val="tx1"/>
                </a:solidFill>
                <a:effectLst/>
                <a:latin typeface="+mj-lt"/>
              </a:rPr>
              <a:t>chủ đề nội dung khác nhau</a:t>
            </a:r>
            <a:r>
              <a:rPr kumimoji="0" lang="en-US" altLang="en-US" sz="1200" b="0" i="0" u="none" strike="noStrike" cap="none" normalizeH="0" baseline="0">
                <a:ln>
                  <a:noFill/>
                </a:ln>
                <a:solidFill>
                  <a:schemeClr val="tx1"/>
                </a:solidFill>
                <a:effectLst/>
                <a:latin typeface="+mj-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Một số cluster tạo thành </a:t>
            </a:r>
            <a:r>
              <a:rPr kumimoji="0" lang="en-US" altLang="en-US" sz="1200" b="1" i="0" u="none" strike="noStrike" cap="none" normalizeH="0" baseline="0">
                <a:ln>
                  <a:noFill/>
                </a:ln>
                <a:solidFill>
                  <a:schemeClr val="tx1"/>
                </a:solidFill>
                <a:effectLst/>
                <a:latin typeface="+mj-lt"/>
              </a:rPr>
              <a:t>cụm chặt chẽ</a:t>
            </a:r>
            <a:r>
              <a:rPr kumimoji="0" lang="en-US" altLang="en-US" sz="1200" b="0" i="0" u="none" strike="noStrike" cap="none" normalizeH="0" baseline="0">
                <a:ln>
                  <a:noFill/>
                </a:ln>
                <a:solidFill>
                  <a:schemeClr val="tx1"/>
                </a:solidFill>
                <a:effectLst/>
                <a:latin typeface="+mj-lt"/>
              </a:rPr>
              <a:t>, cho thấy ngôn ngữ JD trong các lĩnh vực này có tính đồng nhất cao (ví dụ giáo dục, y tế, CNTT).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Đồng thời vẫn tồn tại </a:t>
            </a:r>
            <a:r>
              <a:rPr kumimoji="0" lang="en-US" altLang="en-US" sz="1200" b="1" i="0" u="none" strike="noStrike" cap="none" normalizeH="0" baseline="0">
                <a:ln>
                  <a:noFill/>
                </a:ln>
                <a:solidFill>
                  <a:schemeClr val="tx1"/>
                </a:solidFill>
                <a:effectLst/>
                <a:latin typeface="+mj-lt"/>
              </a:rPr>
              <a:t>vùng chồng lấn giữa các cluster</a:t>
            </a:r>
            <a:r>
              <a:rPr kumimoji="0" lang="en-US" altLang="en-US" sz="1200" b="0" i="0" u="none" strike="noStrike" cap="none" normalizeH="0" baseline="0">
                <a:ln>
                  <a:noFill/>
                </a:ln>
                <a:solidFill>
                  <a:schemeClr val="tx1"/>
                </a:solidFill>
                <a:effectLst/>
                <a:latin typeface="+mj-lt"/>
              </a:rPr>
              <a:t>, phản ánh các công việc mang tính </a:t>
            </a:r>
            <a:r>
              <a:rPr kumimoji="0" lang="en-US" altLang="en-US" sz="1200" b="1" i="0" u="none" strike="noStrike" cap="none" normalizeH="0" baseline="0">
                <a:ln>
                  <a:noFill/>
                </a:ln>
                <a:solidFill>
                  <a:schemeClr val="tx1"/>
                </a:solidFill>
                <a:effectLst/>
                <a:latin typeface="+mj-lt"/>
              </a:rPr>
              <a:t>liên ngành hoặc đa kỹ năng</a:t>
            </a:r>
            <a:r>
              <a:rPr kumimoji="0" lang="en-US" altLang="en-US" sz="1200" b="0" i="0" u="none" strike="noStrike" cap="none" normalizeH="0" baseline="0">
                <a:ln>
                  <a:noFill/>
                </a:ln>
                <a:solidFill>
                  <a:schemeClr val="tx1"/>
                </a:solidFill>
                <a:effectLst/>
                <a:latin typeface="+mj-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Kết quả trực quan củng cố rằng mô hình phân cụm đã nắm bắt được </a:t>
            </a:r>
            <a:r>
              <a:rPr kumimoji="0" lang="en-US" altLang="en-US" sz="1200" b="1" i="0" u="none" strike="noStrike" cap="none" normalizeH="0" baseline="0">
                <a:ln>
                  <a:noFill/>
                </a:ln>
                <a:solidFill>
                  <a:schemeClr val="tx1"/>
                </a:solidFill>
                <a:effectLst/>
                <a:latin typeface="+mj-lt"/>
              </a:rPr>
              <a:t>cấu trúc nội dung tiềm ẩn</a:t>
            </a:r>
            <a:r>
              <a:rPr kumimoji="0" lang="en-US" altLang="en-US" sz="1200" b="0" i="0" u="none" strike="noStrike" cap="none" normalizeH="0" baseline="0">
                <a:ln>
                  <a:noFill/>
                </a:ln>
                <a:solidFill>
                  <a:schemeClr val="tx1"/>
                </a:solidFill>
                <a:effectLst/>
                <a:latin typeface="+mj-lt"/>
              </a:rPr>
              <a:t> của mô tả công việc, thay vì chỉ phân tách ngẫu nhiên.</a:t>
            </a:r>
          </a:p>
        </p:txBody>
      </p:sp>
    </p:spTree>
    <p:extLst>
      <p:ext uri="{BB962C8B-B14F-4D97-AF65-F5344CB8AC3E}">
        <p14:creationId xmlns:p14="http://schemas.microsoft.com/office/powerpoint/2010/main" val="176569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19</a:t>
            </a:fld>
            <a:endParaRPr sz="140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algn="ctr"/>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br>
              <a:rPr lang="en-US" dirty="0"/>
            </a:b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4" name="TextBox 3">
            <a:extLst>
              <a:ext uri="{FF2B5EF4-FFF2-40B4-BE49-F238E27FC236}">
                <a16:creationId xmlns:a16="http://schemas.microsoft.com/office/drawing/2014/main" id="{E761789C-A483-4AAD-A77F-FF66E8681925}"/>
              </a:ext>
            </a:extLst>
          </p:cNvPr>
          <p:cNvSpPr txBox="1"/>
          <p:nvPr/>
        </p:nvSpPr>
        <p:spPr>
          <a:xfrm>
            <a:off x="3150495" y="4120646"/>
            <a:ext cx="5729141" cy="21544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12: </a:t>
            </a:r>
            <a:r>
              <a:rPr lang="en-US" sz="800" b="1" i="1" dirty="0" err="1">
                <a:effectLst/>
                <a:latin typeface="Times New Roman" panose="02020603050405020304" pitchFamily="18" charset="0"/>
                <a:ea typeface="Times New Roman" panose="02020603050405020304" pitchFamily="18" charset="0"/>
              </a:rPr>
              <a:t>Biểu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đồ</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nhiệt</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thể</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hiện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phân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phối</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số</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lượng</a:t>
            </a:r>
            <a:r>
              <a:rPr lang="en-US" sz="800" b="1" i="1" dirty="0">
                <a:effectLst/>
                <a:latin typeface="Times New Roman" panose="02020603050405020304" pitchFamily="18" charset="0"/>
                <a:ea typeface="Times New Roman" panose="02020603050405020304" pitchFamily="18" charset="0"/>
              </a:rPr>
              <a:t> tin </a:t>
            </a:r>
            <a:r>
              <a:rPr lang="en-US" sz="800" b="1" i="1" dirty="0" err="1">
                <a:effectLst/>
                <a:latin typeface="Times New Roman" panose="02020603050405020304" pitchFamily="18" charset="0"/>
                <a:ea typeface="Times New Roman" panose="02020603050405020304" pitchFamily="18" charset="0"/>
              </a:rPr>
              <a:t>tuyển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dụng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theo</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ngành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nghề</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trong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từng</a:t>
            </a:r>
            <a:r>
              <a:rPr lang="en-US" sz="800" b="1" i="1" dirty="0">
                <a:effectLst/>
                <a:latin typeface="Times New Roman" panose="02020603050405020304" pitchFamily="18" charset="0"/>
                <a:ea typeface="Times New Roman" panose="02020603050405020304" pitchFamily="18" charset="0"/>
              </a:rPr>
              <a:t> cluster </a:t>
            </a:r>
            <a:r>
              <a:rPr lang="en-US" sz="800" b="1" i="1" dirty="0" err="1">
                <a:effectLst/>
                <a:latin typeface="Times New Roman" panose="02020603050405020304" pitchFamily="18" charset="0"/>
                <a:ea typeface="Times New Roman" panose="02020603050405020304" pitchFamily="18" charset="0"/>
              </a:rPr>
              <a:t>mô</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tả</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công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việc</a:t>
            </a:r>
            <a:endParaRPr lang="en-US" sz="800" b="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pic>
        <p:nvPicPr>
          <p:cNvPr id="13" name="Picture 12">
            <a:extLst>
              <a:ext uri="{FF2B5EF4-FFF2-40B4-BE49-F238E27FC236}">
                <a16:creationId xmlns:a16="http://schemas.microsoft.com/office/drawing/2014/main" id="{ADA22522-E6BA-4343-8105-4E74296F5FAC}"/>
              </a:ext>
            </a:extLst>
          </p:cNvPr>
          <p:cNvPicPr/>
          <p:nvPr/>
        </p:nvPicPr>
        <p:blipFill>
          <a:blip r:embed="rId3">
            <a:extLst>
              <a:ext uri="{28A0092B-C50C-407E-A947-70E740481C1C}">
                <a14:useLocalDpi xmlns:a14="http://schemas.microsoft.com/office/drawing/2010/main" val="0"/>
              </a:ext>
            </a:extLst>
          </a:blip>
          <a:stretch>
            <a:fillRect/>
          </a:stretch>
        </p:blipFill>
        <p:spPr>
          <a:xfrm>
            <a:off x="3150496" y="1369826"/>
            <a:ext cx="5658441" cy="2750820"/>
          </a:xfrm>
          <a:prstGeom prst="rect">
            <a:avLst/>
          </a:prstGeom>
        </p:spPr>
      </p:pic>
      <p:sp>
        <p:nvSpPr>
          <p:cNvPr id="3" name="Rectangle 1">
            <a:extLst>
              <a:ext uri="{FF2B5EF4-FFF2-40B4-BE49-F238E27FC236}">
                <a16:creationId xmlns:a16="http://schemas.microsoft.com/office/drawing/2014/main" id="{09F18B43-B807-465B-BA1F-F05F800A806F}"/>
              </a:ext>
            </a:extLst>
          </p:cNvPr>
          <p:cNvSpPr>
            <a:spLocks noGrp="1" noChangeArrowheads="1"/>
          </p:cNvSpPr>
          <p:nvPr>
            <p:ph type="subTitle" idx="1"/>
          </p:nvPr>
        </p:nvSpPr>
        <p:spPr bwMode="auto">
          <a:xfrm>
            <a:off x="335063" y="1186555"/>
            <a:ext cx="28853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mj-lt"/>
              </a:rPr>
              <a:t>Heatmap cho thấy </a:t>
            </a:r>
            <a:r>
              <a:rPr kumimoji="0" lang="en-US" altLang="en-US" sz="1200" b="1" i="0" u="none" strike="noStrike" cap="none" normalizeH="0" baseline="0">
                <a:ln>
                  <a:noFill/>
                </a:ln>
                <a:solidFill>
                  <a:schemeClr val="tx1"/>
                </a:solidFill>
                <a:effectLst/>
                <a:latin typeface="+mj-lt"/>
              </a:rPr>
              <a:t>mối liên hệ rõ ràng giữa các cluster nội dung và ngành nghề tuyển dụng</a:t>
            </a:r>
            <a:r>
              <a:rPr kumimoji="0" lang="en-US" altLang="en-US" sz="1200" b="0" i="0" u="none" strike="noStrike" cap="none" normalizeH="0" baseline="0">
                <a:ln>
                  <a:noFill/>
                </a:ln>
                <a:solidFill>
                  <a:schemeClr val="tx1"/>
                </a:solidFill>
                <a:effectLst/>
                <a:latin typeface="+mj-lt"/>
              </a:rPr>
              <a:t>, dù phân cụm không sử dụng nhãn ngành khi huấn luyện.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mj-lt"/>
              </a:rPr>
              <a:t>Một số cluster </a:t>
            </a:r>
            <a:r>
              <a:rPr kumimoji="0" lang="en-US" altLang="en-US" sz="1200" b="1" i="0" u="none" strike="noStrike" cap="none" normalizeH="0" baseline="0">
                <a:ln>
                  <a:noFill/>
                </a:ln>
                <a:solidFill>
                  <a:schemeClr val="tx1"/>
                </a:solidFill>
                <a:effectLst/>
                <a:latin typeface="+mj-lt"/>
              </a:rPr>
              <a:t>tập trung mạnh vào các ngành cụ thể</a:t>
            </a:r>
            <a:r>
              <a:rPr kumimoji="0" lang="en-US" altLang="en-US" sz="1200" b="0" i="0" u="none" strike="noStrike" cap="none" normalizeH="0" baseline="0">
                <a:ln>
                  <a:noFill/>
                </a:ln>
                <a:solidFill>
                  <a:schemeClr val="tx1"/>
                </a:solidFill>
                <a:effectLst/>
                <a:latin typeface="+mj-lt"/>
              </a:rPr>
              <a:t> (ví dụ: CNTT – Software Development, Healthcare, Retail, Manufacturing), cho thấy </a:t>
            </a:r>
            <a:r>
              <a:rPr kumimoji="0" lang="en-US" altLang="en-US" sz="1200" b="1" i="0" u="none" strike="noStrike" cap="none" normalizeH="0" baseline="0">
                <a:ln>
                  <a:noFill/>
                </a:ln>
                <a:solidFill>
                  <a:schemeClr val="tx1"/>
                </a:solidFill>
                <a:effectLst/>
                <a:latin typeface="+mj-lt"/>
              </a:rPr>
              <a:t>chủ đề nội dung JD phản ánh cấu trúc ngành nghề thực tế</a:t>
            </a:r>
            <a:r>
              <a:rPr kumimoji="0" lang="en-US" altLang="en-US" sz="1200" b="0" i="0" u="none" strike="noStrike" cap="none" normalizeH="0" baseline="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mj-lt"/>
              </a:rPr>
              <a:t>Các cluster mang tính </a:t>
            </a:r>
            <a:r>
              <a:rPr kumimoji="0" lang="en-US" altLang="en-US" sz="1200" b="1" i="0" u="none" strike="noStrike" cap="none" normalizeH="0" baseline="0">
                <a:ln>
                  <a:noFill/>
                </a:ln>
                <a:solidFill>
                  <a:schemeClr val="tx1"/>
                </a:solidFill>
                <a:effectLst/>
                <a:latin typeface="+mj-lt"/>
              </a:rPr>
              <a:t>xuyên ngành</a:t>
            </a:r>
            <a:r>
              <a:rPr kumimoji="0" lang="en-US" altLang="en-US" sz="1200" b="0" i="0" u="none" strike="noStrike" cap="none" normalizeH="0" baseline="0">
                <a:ln>
                  <a:noFill/>
                </a:ln>
                <a:solidFill>
                  <a:schemeClr val="tx1"/>
                </a:solidFill>
                <a:effectLst/>
                <a:latin typeface="+mj-lt"/>
              </a:rPr>
              <a:t> (như bán hàng, quản lý, hỗ trợ khách hàng) phân bố rộng trên nhiều ngành khác nhau, phản ánh tính phổ quát của các vai trò này.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mj-lt"/>
              </a:rPr>
              <a:t>Kết quả hậu nghiệm khẳng định phân cụm đã </a:t>
            </a:r>
            <a:r>
              <a:rPr kumimoji="0" lang="en-US" altLang="en-US" sz="1200" b="1" i="0" u="none" strike="noStrike" cap="none" normalizeH="0" baseline="0">
                <a:ln>
                  <a:noFill/>
                </a:ln>
                <a:solidFill>
                  <a:schemeClr val="tx1"/>
                </a:solidFill>
                <a:effectLst/>
                <a:latin typeface="+mj-lt"/>
              </a:rPr>
              <a:t>khai phá được cấu trúc nội dung tiềm ẩn có ý nghĩa thực tiễn</a:t>
            </a:r>
            <a:r>
              <a:rPr kumimoji="0" lang="en-US" altLang="en-US" sz="1200" b="0" i="0" u="none" strike="noStrike" cap="none" normalizeH="0" baseline="0">
                <a:ln>
                  <a:noFill/>
                </a:ln>
                <a:solidFill>
                  <a:schemeClr val="tx1"/>
                </a:solidFill>
                <a:effectLst/>
                <a:latin typeface="+mj-lt"/>
              </a:rPr>
              <a:t>, không chỉ dựa trên từ vựng bề mặt.</a:t>
            </a:r>
          </a:p>
        </p:txBody>
      </p:sp>
    </p:spTree>
    <p:extLst>
      <p:ext uri="{BB962C8B-B14F-4D97-AF65-F5344CB8AC3E}">
        <p14:creationId xmlns:p14="http://schemas.microsoft.com/office/powerpoint/2010/main" val="2239597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20</a:t>
            </a:fld>
            <a:endParaRPr sz="140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algn="ctr"/>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br>
              <a:rPr lang="en-US" dirty="0"/>
            </a:b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5063" y="1022854"/>
            <a:ext cx="4849679" cy="457153"/>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Kết</a:t>
            </a:r>
            <a:r>
              <a:rPr lang="en-US" sz="1400" dirty="0"/>
              <a:t> </a:t>
            </a:r>
            <a:r>
              <a:rPr lang="en-US" sz="1400" dirty="0" err="1"/>
              <a:t>quả</a:t>
            </a:r>
            <a:r>
              <a:rPr lang="en-US" sz="1400" dirty="0"/>
              <a:t> RQ2 (</a:t>
            </a:r>
            <a:r>
              <a:rPr lang="en-US" sz="1400" dirty="0" err="1"/>
              <a:t>Các</a:t>
            </a:r>
            <a:r>
              <a:rPr lang="en-US" sz="1400" dirty="0"/>
              <a:t> </a:t>
            </a:r>
            <a:r>
              <a:rPr lang="en-US" sz="1400" dirty="0" err="1"/>
              <a:t>mẫu</a:t>
            </a:r>
            <a:r>
              <a:rPr lang="en-US" sz="1400" dirty="0"/>
              <a:t> </a:t>
            </a:r>
            <a:r>
              <a:rPr lang="en-US" sz="1400" dirty="0" err="1"/>
              <a:t>đồng</a:t>
            </a:r>
            <a:r>
              <a:rPr lang="en-US" sz="1400" dirty="0"/>
              <a:t> </a:t>
            </a:r>
            <a:r>
              <a:rPr lang="en-US" sz="1400" dirty="0" err="1"/>
              <a:t>xuất</a:t>
            </a:r>
            <a:r>
              <a:rPr lang="en-US" sz="1400" dirty="0"/>
              <a:t> </a:t>
            </a:r>
            <a:r>
              <a:rPr lang="en-US" sz="1400" dirty="0" err="1"/>
              <a:t>hiện</a:t>
            </a:r>
            <a:r>
              <a:rPr lang="en-US" sz="1400" dirty="0"/>
              <a:t> </a:t>
            </a:r>
            <a:r>
              <a:rPr lang="en-US" sz="1400" dirty="0" err="1"/>
              <a:t>kĩ</a:t>
            </a:r>
            <a:r>
              <a:rPr lang="en-US" sz="1400" dirty="0"/>
              <a:t> </a:t>
            </a:r>
            <a:r>
              <a:rPr lang="en-US" sz="1400" dirty="0" err="1"/>
              <a:t>năng</a:t>
            </a:r>
            <a:r>
              <a:rPr lang="en-US" sz="1400" dirty="0"/>
              <a:t> </a:t>
            </a:r>
            <a:r>
              <a:rPr lang="en-US" sz="1400" dirty="0" err="1"/>
              <a:t>tiêu</a:t>
            </a:r>
            <a:r>
              <a:rPr lang="en-US" sz="1400" dirty="0"/>
              <a:t> </a:t>
            </a:r>
            <a:r>
              <a:rPr lang="en-US" sz="1400" dirty="0" err="1"/>
              <a:t>biểu</a:t>
            </a:r>
            <a:r>
              <a:rPr lang="en-US" sz="1400" dirty="0"/>
              <a:t>)</a:t>
            </a:r>
          </a:p>
        </p:txBody>
      </p:sp>
      <p:sp>
        <p:nvSpPr>
          <p:cNvPr id="4" name="TextBox 3">
            <a:extLst>
              <a:ext uri="{FF2B5EF4-FFF2-40B4-BE49-F238E27FC236}">
                <a16:creationId xmlns:a16="http://schemas.microsoft.com/office/drawing/2014/main" id="{E761789C-A483-4AAD-A77F-FF66E8681925}"/>
              </a:ext>
            </a:extLst>
          </p:cNvPr>
          <p:cNvSpPr txBox="1"/>
          <p:nvPr/>
        </p:nvSpPr>
        <p:spPr>
          <a:xfrm>
            <a:off x="183823" y="4380807"/>
            <a:ext cx="5146126" cy="33855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13: Top 20 </a:t>
            </a:r>
            <a:r>
              <a:rPr lang="en-US" sz="800" b="1" i="1" dirty="0" err="1">
                <a:effectLst/>
                <a:latin typeface="Times New Roman" panose="02020603050405020304" pitchFamily="18" charset="0"/>
                <a:ea typeface="Times New Roman" panose="02020603050405020304" pitchFamily="18" charset="0"/>
              </a:rPr>
              <a:t>các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cặp</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kỹ</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năng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đồng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xuất</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hiện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có</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độ</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liên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kết</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cao</a:t>
            </a:r>
            <a:r>
              <a:rPr lang="en-US" sz="800" b="1" i="1" dirty="0">
                <a:effectLst/>
                <a:latin typeface="Times New Roman" panose="02020603050405020304" pitchFamily="18" charset="0"/>
                <a:ea typeface="Times New Roman" panose="02020603050405020304" pitchFamily="18" charset="0"/>
              </a:rPr>
              <a:t> (lift </a:t>
            </a:r>
            <a:r>
              <a:rPr lang="en-US" sz="800" b="1" i="1" dirty="0" err="1">
                <a:effectLst/>
                <a:latin typeface="Times New Roman" panose="02020603050405020304" pitchFamily="18" charset="0"/>
                <a:ea typeface="Times New Roman" panose="02020603050405020304" pitchFamily="18" charset="0"/>
              </a:rPr>
              <a:t>lớn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được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khai</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phá</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từ</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mô</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tả</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công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việc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dựa</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trên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kỹ</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năng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chuẩn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hóa</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theo</a:t>
            </a:r>
            <a:r>
              <a:rPr lang="en-US" sz="800" b="1" i="1" dirty="0">
                <a:effectLst/>
                <a:latin typeface="Times New Roman" panose="02020603050405020304" pitchFamily="18" charset="0"/>
                <a:ea typeface="Times New Roman" panose="02020603050405020304" pitchFamily="18" charset="0"/>
              </a:rPr>
              <a:t> ESCO</a:t>
            </a:r>
            <a:endParaRPr lang="en-US" sz="800" b="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sp>
        <p:nvSpPr>
          <p:cNvPr id="5" name="Rectangle 1">
            <a:extLst>
              <a:ext uri="{FF2B5EF4-FFF2-40B4-BE49-F238E27FC236}">
                <a16:creationId xmlns:a16="http://schemas.microsoft.com/office/drawing/2014/main" id="{9FBF5251-1224-4F7E-A0B0-0E7445A7154E}"/>
              </a:ext>
            </a:extLst>
          </p:cNvPr>
          <p:cNvSpPr>
            <a:spLocks noGrp="1" noChangeArrowheads="1"/>
          </p:cNvSpPr>
          <p:nvPr>
            <p:ph type="subTitle" idx="1"/>
          </p:nvPr>
        </p:nvSpPr>
        <p:spPr bwMode="auto">
          <a:xfrm>
            <a:off x="5329949" y="1795366"/>
            <a:ext cx="362841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Các</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cặp</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kỹ</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năng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có</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liên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kết</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mạnh</a:t>
            </a:r>
            <a:r>
              <a:rPr kumimoji="0" lang="en-US" altLang="en-US" sz="1200" b="1" i="0" u="none" strike="noStrike" cap="none" normalizeH="0" baseline="0" dirty="0">
                <a:ln>
                  <a:noFill/>
                </a:ln>
                <a:solidFill>
                  <a:schemeClr val="tx1"/>
                </a:solidFill>
                <a:effectLst/>
                <a:latin typeface="+mn-lt"/>
              </a:rPr>
              <a:t> (High Lift):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Kết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quả</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khai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phá</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luật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kết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hợp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chỉ</a:t>
            </a:r>
            <a:r>
              <a:rPr kumimoji="0" lang="en-US" altLang="en-US" sz="1200" b="0" i="0" u="none" strike="noStrike" cap="none" normalizeH="0" baseline="0" dirty="0">
                <a:ln>
                  <a:noFill/>
                </a:ln>
                <a:solidFill>
                  <a:schemeClr val="tx1"/>
                </a:solidFill>
                <a:effectLst/>
                <a:latin typeface="+mn-lt"/>
              </a:rPr>
              <a:t> ra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cặp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có</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chỉ</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số</a:t>
            </a:r>
            <a:r>
              <a:rPr kumimoji="0" lang="en-US" altLang="en-US" sz="1200" b="0" i="0" u="none" strike="noStrike" cap="none" normalizeH="0" baseline="0" dirty="0">
                <a:ln>
                  <a:noFill/>
                </a:ln>
                <a:solidFill>
                  <a:schemeClr val="tx1"/>
                </a:solidFill>
                <a:effectLst/>
                <a:latin typeface="+mn-lt"/>
              </a:rPr>
              <a:t> Lift </a:t>
            </a:r>
            <a:r>
              <a:rPr kumimoji="0" lang="en-US" altLang="en-US" sz="1200" b="0" i="0" u="none" strike="noStrike" cap="none" normalizeH="0" baseline="0" dirty="0" err="1">
                <a:ln>
                  <a:noFill/>
                </a:ln>
                <a:solidFill>
                  <a:schemeClr val="tx1"/>
                </a:solidFill>
                <a:effectLst/>
                <a:latin typeface="+mn-lt"/>
              </a:rPr>
              <a:t>rất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cao</a:t>
            </a:r>
            <a:r>
              <a:rPr kumimoji="0" lang="en-US" altLang="en-US" sz="1200" b="0" i="0" u="none" strike="noStrike" cap="none" normalizeH="0" baseline="0" dirty="0">
                <a:ln>
                  <a:noFill/>
                </a:ln>
                <a:solidFill>
                  <a:schemeClr val="tx1"/>
                </a:solidFill>
                <a:effectLst/>
                <a:latin typeface="+mn-lt"/>
              </a:rPr>
              <a:t> (&gt;100), </a:t>
            </a:r>
            <a:r>
              <a:rPr kumimoji="0" lang="en-US" altLang="en-US" sz="1200" b="0" i="0" u="none" strike="noStrike" cap="none" normalizeH="0" baseline="0" dirty="0" err="1">
                <a:ln>
                  <a:noFill/>
                </a:ln>
                <a:solidFill>
                  <a:schemeClr val="tx1"/>
                </a:solidFill>
                <a:effectLst/>
                <a:latin typeface="+mn-lt"/>
              </a:rPr>
              <a:t>cho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thấy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chúng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những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cặp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bài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trùng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không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thể</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tách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rời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Ví</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dụ</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0" dirty="0">
                <a:ln>
                  <a:noFill/>
                </a:ln>
                <a:solidFill>
                  <a:schemeClr val="tx1"/>
                </a:solidFill>
                <a:effectLst/>
                <a:latin typeface="+mn-lt"/>
              </a:rPr>
              <a:t>Dietetics</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Dinh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dưỡng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luôn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kèm</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0" dirty="0">
                <a:ln>
                  <a:noFill/>
                </a:ln>
                <a:solidFill>
                  <a:schemeClr val="tx1"/>
                </a:solidFill>
                <a:effectLst/>
                <a:latin typeface="+mn-lt"/>
              </a:rPr>
              <a:t>Evaluate employees</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trong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cảnh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quản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lý</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dịch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vụ</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thực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phẩm</a:t>
            </a:r>
            <a:r>
              <a:rPr kumimoji="0" lang="en-US" altLang="en-US" sz="1200" b="0" i="0" u="none" strike="noStrike" cap="none" normalizeH="0" baseline="0" dirty="0">
                <a:ln>
                  <a:noFill/>
                </a:ln>
                <a:solidFill>
                  <a:schemeClr val="tx1"/>
                </a:solidFill>
                <a:effectLst/>
                <a:latin typeface="+mn-lt"/>
              </a:rPr>
              <a:t> y </a:t>
            </a:r>
            <a:r>
              <a:rPr kumimoji="0" lang="en-US" altLang="en-US" sz="1200" b="0" i="0" u="none" strike="noStrike" cap="none" normalizeH="0" baseline="0" dirty="0" err="1">
                <a:ln>
                  <a:noFill/>
                </a:ln>
                <a:solidFill>
                  <a:schemeClr val="tx1"/>
                </a:solidFill>
                <a:effectLst/>
                <a:latin typeface="+mn-lt"/>
              </a:rPr>
              <a:t>tế</a:t>
            </a:r>
            <a:r>
              <a:rPr kumimoji="0" lang="en-US" altLang="en-US" sz="1200" b="0" i="0" u="none" strike="noStrike" cap="none" normalizeH="0" baseline="0" dirty="0">
                <a:ln>
                  <a:noFill/>
                </a:ln>
                <a:solidFill>
                  <a:schemeClr val="tx1"/>
                </a:solidFill>
                <a:effectLst/>
                <a:latin typeface="+mn-lt"/>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Sự</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kết</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hợp</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giữa</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chuyên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môn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và</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quản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lý</a:t>
            </a:r>
            <a:r>
              <a:rPr kumimoji="0" lang="en-US" altLang="en-US" sz="1200" b="1" i="0" u="none" strike="noStrike" cap="none" normalizeH="0" baseline="0" dirty="0">
                <a:ln>
                  <a:noFill/>
                </a:ln>
                <a:solidFill>
                  <a:schemeClr val="tx1"/>
                </a:solidFill>
                <a:effectLst/>
                <a:latin typeface="+mn-lt"/>
              </a:rPr>
              <a: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Bảng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kết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quả</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làm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nổi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bật</a:t>
            </a:r>
            <a:r>
              <a:rPr kumimoji="0" lang="en-US" altLang="en-US" sz="1200" b="0" i="0" u="none" strike="noStrike" cap="none" normalizeH="0" baseline="0" dirty="0">
                <a:ln>
                  <a:noFill/>
                </a:ln>
                <a:solidFill>
                  <a:schemeClr val="tx1"/>
                </a:solidFill>
                <a:effectLst/>
                <a:latin typeface="+mn-lt"/>
              </a:rPr>
              <a:t> xu </a:t>
            </a:r>
            <a:r>
              <a:rPr kumimoji="0" lang="en-US" altLang="en-US" sz="1200" b="0" i="0" u="none" strike="noStrike" cap="none" normalizeH="0" baseline="0" dirty="0" err="1">
                <a:ln>
                  <a:noFill/>
                </a:ln>
                <a:solidFill>
                  <a:schemeClr val="tx1"/>
                </a:solidFill>
                <a:effectLst/>
                <a:latin typeface="+mn-lt"/>
              </a:rPr>
              <a:t>hướng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tuyển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dụng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nhân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sự</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kép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Ví</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dụ</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0" dirty="0">
                <a:ln>
                  <a:noFill/>
                </a:ln>
                <a:solidFill>
                  <a:schemeClr val="tx1"/>
                </a:solidFill>
                <a:effectLst/>
                <a:latin typeface="+mn-lt"/>
              </a:rPr>
              <a:t>Business management principles</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thường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được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yêu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cầu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cùng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với</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0" dirty="0">
                <a:ln>
                  <a:noFill/>
                </a:ln>
                <a:solidFill>
                  <a:schemeClr val="tx1"/>
                </a:solidFill>
                <a:effectLst/>
                <a:latin typeface="+mn-lt"/>
              </a:rPr>
              <a:t>Thermodynamics</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Nhiệt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động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lực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học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vị</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trí</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quản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lý</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thuật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đòi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hỏi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cả</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tư</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duy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kinh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doanh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lẫn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kiến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thức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vật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lý</a:t>
            </a:r>
            <a:r>
              <a:rPr kumimoji="0" lang="en-US" altLang="en-US" sz="1200" b="0" i="0" u="none" strike="noStrike" cap="none" normalizeH="0" baseline="0" dirty="0">
                <a:ln>
                  <a:noFill/>
                </a:ln>
                <a:solidFill>
                  <a:schemeClr val="tx1"/>
                </a:solidFill>
                <a:effectLst/>
                <a:latin typeface="+mn-lt"/>
              </a:rPr>
              <a:t> .</a:t>
            </a:r>
          </a:p>
        </p:txBody>
      </p:sp>
      <p:pic>
        <p:nvPicPr>
          <p:cNvPr id="13" name="Picture 12">
            <a:extLst>
              <a:ext uri="{FF2B5EF4-FFF2-40B4-BE49-F238E27FC236}">
                <a16:creationId xmlns:a16="http://schemas.microsoft.com/office/drawing/2014/main" id="{B213705A-E973-46C5-8163-32C9720AB85D}"/>
              </a:ext>
            </a:extLst>
          </p:cNvPr>
          <p:cNvPicPr/>
          <p:nvPr/>
        </p:nvPicPr>
        <p:blipFill>
          <a:blip r:embed="rId3"/>
          <a:stretch>
            <a:fillRect/>
          </a:stretch>
        </p:blipFill>
        <p:spPr>
          <a:xfrm>
            <a:off x="183823" y="1460172"/>
            <a:ext cx="5146126" cy="2907636"/>
          </a:xfrm>
          <a:prstGeom prst="rect">
            <a:avLst/>
          </a:prstGeom>
        </p:spPr>
      </p:pic>
    </p:spTree>
    <p:extLst>
      <p:ext uri="{BB962C8B-B14F-4D97-AF65-F5344CB8AC3E}">
        <p14:creationId xmlns:p14="http://schemas.microsoft.com/office/powerpoint/2010/main" val="3034019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21</a:t>
            </a:fld>
            <a:endParaRPr sz="1400" dirty="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algn="ctr"/>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br>
              <a:rPr lang="en-US" dirty="0"/>
            </a:b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5063" y="1022854"/>
            <a:ext cx="4849679" cy="457153"/>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Kết</a:t>
            </a:r>
            <a:r>
              <a:rPr lang="en-US" sz="1400" dirty="0"/>
              <a:t> </a:t>
            </a:r>
            <a:r>
              <a:rPr lang="en-US" sz="1400" dirty="0" err="1"/>
              <a:t>quả</a:t>
            </a:r>
            <a:r>
              <a:rPr lang="en-US" sz="1400" dirty="0"/>
              <a:t> RQ2 (</a:t>
            </a:r>
            <a:r>
              <a:rPr lang="en-US" sz="1400" dirty="0" err="1"/>
              <a:t>Tổng</a:t>
            </a:r>
            <a:r>
              <a:rPr lang="en-US" sz="1400" dirty="0"/>
              <a:t> </a:t>
            </a:r>
            <a:r>
              <a:rPr lang="en-US" sz="1400" dirty="0" err="1"/>
              <a:t>quan</a:t>
            </a:r>
            <a:r>
              <a:rPr lang="en-US" sz="1400" dirty="0"/>
              <a:t> </a:t>
            </a:r>
            <a:r>
              <a:rPr lang="en-US" sz="1400" dirty="0" err="1"/>
              <a:t>mạng</a:t>
            </a:r>
            <a:r>
              <a:rPr lang="en-US" sz="1400" dirty="0"/>
              <a:t> </a:t>
            </a:r>
            <a:r>
              <a:rPr lang="en-US" sz="1400" dirty="0" err="1"/>
              <a:t>lưới</a:t>
            </a:r>
            <a:r>
              <a:rPr lang="en-US" sz="1400" dirty="0"/>
              <a:t> </a:t>
            </a:r>
            <a:r>
              <a:rPr lang="en-US" sz="1400" dirty="0" err="1"/>
              <a:t>cộng</a:t>
            </a:r>
            <a:r>
              <a:rPr lang="en-US" sz="1400" dirty="0"/>
              <a:t> </a:t>
            </a:r>
            <a:r>
              <a:rPr lang="en-US" sz="1400" dirty="0" err="1"/>
              <a:t>đồng</a:t>
            </a:r>
            <a:r>
              <a:rPr lang="en-US" sz="1400" dirty="0"/>
              <a:t> </a:t>
            </a:r>
            <a:r>
              <a:rPr lang="en-US" sz="1400" dirty="0" err="1"/>
              <a:t>kĩ</a:t>
            </a:r>
            <a:r>
              <a:rPr lang="en-US" sz="1400" dirty="0"/>
              <a:t> </a:t>
            </a:r>
            <a:r>
              <a:rPr lang="en-US" sz="1400" dirty="0" err="1"/>
              <a:t>năng</a:t>
            </a:r>
            <a:r>
              <a:rPr lang="en-US" sz="1400" dirty="0"/>
              <a:t>)</a:t>
            </a:r>
          </a:p>
        </p:txBody>
      </p:sp>
      <p:sp>
        <p:nvSpPr>
          <p:cNvPr id="4" name="TextBox 3">
            <a:extLst>
              <a:ext uri="{FF2B5EF4-FFF2-40B4-BE49-F238E27FC236}">
                <a16:creationId xmlns:a16="http://schemas.microsoft.com/office/drawing/2014/main" id="{E761789C-A483-4AAD-A77F-FF66E8681925}"/>
              </a:ext>
            </a:extLst>
          </p:cNvPr>
          <p:cNvSpPr txBox="1"/>
          <p:nvPr/>
        </p:nvSpPr>
        <p:spPr>
          <a:xfrm>
            <a:off x="215431" y="4446794"/>
            <a:ext cx="5205953" cy="21544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14: Network graph </a:t>
            </a:r>
            <a:r>
              <a:rPr lang="en-US" sz="800" b="1" i="1" dirty="0" err="1">
                <a:effectLst/>
                <a:latin typeface="Times New Roman" panose="02020603050405020304" pitchFamily="18" charset="0"/>
                <a:ea typeface="Times New Roman" panose="02020603050405020304" pitchFamily="18" charset="0"/>
              </a:rPr>
              <a:t>các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kỹ</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năng</a:t>
            </a:r>
            <a:r>
              <a:rPr lang="en-US" sz="800" b="1" i="1" dirty="0">
                <a:effectLst/>
                <a:latin typeface="Times New Roman" panose="02020603050405020304" pitchFamily="18" charset="0"/>
                <a:ea typeface="Times New Roman" panose="02020603050405020304" pitchFamily="18" charset="0"/>
              </a:rPr>
              <a:t> ESCO </a:t>
            </a:r>
            <a:endParaRPr lang="en-US" sz="800" b="1" i="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pic>
        <p:nvPicPr>
          <p:cNvPr id="11" name="Picture 10">
            <a:extLst>
              <a:ext uri="{FF2B5EF4-FFF2-40B4-BE49-F238E27FC236}">
                <a16:creationId xmlns:a16="http://schemas.microsoft.com/office/drawing/2014/main" id="{73F22324-B035-46A6-B9C8-B9FF0AF8E513}"/>
              </a:ext>
            </a:extLst>
          </p:cNvPr>
          <p:cNvPicPr/>
          <p:nvPr/>
        </p:nvPicPr>
        <p:blipFill>
          <a:blip r:embed="rId3"/>
          <a:stretch>
            <a:fillRect/>
          </a:stretch>
        </p:blipFill>
        <p:spPr>
          <a:xfrm>
            <a:off x="215431" y="1480007"/>
            <a:ext cx="5205953" cy="2952492"/>
          </a:xfrm>
          <a:prstGeom prst="rect">
            <a:avLst/>
          </a:prstGeom>
          <a:effectLst>
            <a:outerShdw blurRad="63500" sx="102000" sy="102000" algn="ctr" rotWithShape="0">
              <a:prstClr val="black">
                <a:alpha val="40000"/>
              </a:prstClr>
            </a:outerShdw>
          </a:effectLst>
        </p:spPr>
      </p:pic>
      <p:sp>
        <p:nvSpPr>
          <p:cNvPr id="3" name="Rectangle 1">
            <a:extLst>
              <a:ext uri="{FF2B5EF4-FFF2-40B4-BE49-F238E27FC236}">
                <a16:creationId xmlns:a16="http://schemas.microsoft.com/office/drawing/2014/main" id="{DC119C1C-D898-4518-9670-16B2119A16CB}"/>
              </a:ext>
            </a:extLst>
          </p:cNvPr>
          <p:cNvSpPr>
            <a:spLocks noGrp="1" noChangeArrowheads="1"/>
          </p:cNvSpPr>
          <p:nvPr>
            <p:ph type="subTitle" idx="1"/>
          </p:nvPr>
        </p:nvSpPr>
        <p:spPr bwMode="auto">
          <a:xfrm>
            <a:off x="5443539" y="1601272"/>
            <a:ext cx="348503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Cấu</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trúc</a:t>
            </a:r>
            <a:r>
              <a:rPr kumimoji="0" lang="en-US" altLang="en-US" sz="1200" b="1" i="0" u="none" strike="noStrike" cap="none" normalizeH="0" baseline="0" dirty="0">
                <a:ln>
                  <a:noFill/>
                </a:ln>
                <a:solidFill>
                  <a:schemeClr val="tx1"/>
                </a:solidFill>
                <a:effectLst/>
                <a:latin typeface="+mn-lt"/>
              </a:rPr>
              <a:t> 16 </a:t>
            </a:r>
            <a:r>
              <a:rPr kumimoji="0" lang="en-US" altLang="en-US" sz="1200" b="1" i="0" u="none" strike="noStrike" cap="none" normalizeH="0" baseline="0" dirty="0" err="1">
                <a:ln>
                  <a:noFill/>
                </a:ln>
                <a:solidFill>
                  <a:schemeClr val="tx1"/>
                </a:solidFill>
                <a:effectLst/>
                <a:latin typeface="+mn-lt"/>
              </a:rPr>
              <a:t>Cộng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đồng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Kỹ</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năng</a:t>
            </a:r>
            <a:r>
              <a:rPr kumimoji="0" lang="en-US" altLang="en-US" sz="1200" b="1" i="0" u="none" strike="noStrike" cap="none" normalizeH="0" baseline="0" dirty="0">
                <a:ln>
                  <a:noFill/>
                </a:ln>
                <a:solidFill>
                  <a:schemeClr val="tx1"/>
                </a:solidFill>
                <a:effectLst/>
                <a:latin typeface="+mn-lt"/>
              </a:rPr>
              <a:t> (Skill Communities):</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Toàn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bộ</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hệ</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sinh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thái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được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phân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tách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thành</a:t>
            </a:r>
            <a:r>
              <a:rPr kumimoji="0" lang="en-US" altLang="en-US" sz="1200" b="0" i="0" u="none" strike="noStrike" cap="none" normalizeH="0" baseline="0" dirty="0">
                <a:ln>
                  <a:noFill/>
                </a:ln>
                <a:solidFill>
                  <a:schemeClr val="tx1"/>
                </a:solidFill>
                <a:effectLst/>
                <a:latin typeface="+mn-lt"/>
              </a:rPr>
              <a:t> 16 </a:t>
            </a:r>
            <a:r>
              <a:rPr kumimoji="0" lang="en-US" altLang="en-US" sz="1200" b="0" i="0" u="none" strike="noStrike" cap="none" normalizeH="0" baseline="0" dirty="0" err="1">
                <a:ln>
                  <a:noFill/>
                </a:ln>
                <a:solidFill>
                  <a:schemeClr val="tx1"/>
                </a:solidFill>
                <a:effectLst/>
                <a:latin typeface="+mn-lt"/>
              </a:rPr>
              <a:t>nhóm</a:t>
            </a:r>
            <a:r>
              <a:rPr kumimoji="0" lang="en-US" altLang="en-US" sz="1200" b="0" i="0" u="none" strike="noStrike" cap="none" normalizeH="0" baseline="0" dirty="0">
                <a:ln>
                  <a:noFill/>
                </a:ln>
                <a:solidFill>
                  <a:schemeClr val="tx1"/>
                </a:solidFill>
                <a:effectLst/>
                <a:latin typeface="+mn-lt"/>
              </a:rPr>
              <a:t> (nodes </a:t>
            </a:r>
            <a:r>
              <a:rPr kumimoji="0" lang="en-US" altLang="en-US" sz="1200" b="0" i="0" u="none" strike="noStrike" cap="none" normalizeH="0" baseline="0" dirty="0" err="1">
                <a:ln>
                  <a:noFill/>
                </a:ln>
                <a:solidFill>
                  <a:schemeClr val="tx1"/>
                </a:solidFill>
                <a:effectLst/>
                <a:latin typeface="+mn-lt"/>
              </a:rPr>
              <a:t>cùng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màu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đại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diện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gói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(skill bundles) </a:t>
            </a:r>
            <a:r>
              <a:rPr kumimoji="0" lang="en-US" altLang="en-US" sz="1200" b="0" i="0" u="none" strike="noStrike" cap="none" normalizeH="0" baseline="0" dirty="0" err="1">
                <a:ln>
                  <a:noFill/>
                </a:ln>
                <a:solidFill>
                  <a:schemeClr val="tx1"/>
                </a:solidFill>
                <a:effectLst/>
                <a:latin typeface="+mn-lt"/>
              </a:rPr>
              <a:t>trọn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vẹn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Sự</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tách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biệt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giữa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nhóm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màu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thấy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tính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chuyên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môn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hóa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cao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của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thị</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trường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lao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động</a:t>
            </a:r>
            <a:r>
              <a:rPr kumimoji="0" lang="en-US" altLang="en-US" sz="1200" b="0" i="0" u="none" strike="noStrike" cap="none" normalizeH="0" baseline="0" dirty="0">
                <a:ln>
                  <a:noFill/>
                </a:ln>
                <a:solidFill>
                  <a:schemeClr val="tx1"/>
                </a:solidFill>
                <a:effectLst/>
                <a:latin typeface="+mn-lt"/>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Từ</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kỹ</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năng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đơn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lẻ</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đến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Gói</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kỹ</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năng</a:t>
            </a:r>
            <a:r>
              <a:rPr kumimoji="0" lang="en-US" altLang="en-US" sz="1200" b="1" i="0" u="none" strike="noStrike" cap="none" normalizeH="0" baseline="0" dirty="0">
                <a:ln>
                  <a:noFill/>
                </a:ln>
                <a:solidFill>
                  <a:schemeClr val="tx1"/>
                </a:solidFill>
                <a:effectLst/>
                <a:latin typeface="+mn-lt"/>
              </a:rPr>
              <a: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Biểu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đồ</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mạng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lưới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chứng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minh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rằng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tuyển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dụng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không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tìm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kiếm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rời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rạc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Thay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vào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đó</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họ</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tìm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kiếm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ứng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viên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sở</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hữu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một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tập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hợp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có</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liên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hệ</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mật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thiết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tạo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thành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lực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thực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công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việc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hoàn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chỉnh</a:t>
            </a:r>
            <a:r>
              <a:rPr kumimoji="0" lang="en-US" altLang="en-US" sz="1200" b="0" i="0" u="none" strike="noStrike" cap="none" normalizeH="0" baseline="0" dirty="0">
                <a:ln>
                  <a:noFill/>
                </a:ln>
                <a:solidFill>
                  <a:schemeClr val="tx1"/>
                </a:solidFill>
                <a:effectLst/>
                <a:latin typeface="+mn-lt"/>
              </a:rPr>
              <a:t> .</a:t>
            </a:r>
          </a:p>
        </p:txBody>
      </p:sp>
    </p:spTree>
    <p:extLst>
      <p:ext uri="{BB962C8B-B14F-4D97-AF65-F5344CB8AC3E}">
        <p14:creationId xmlns:p14="http://schemas.microsoft.com/office/powerpoint/2010/main" val="2415085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22</a:t>
            </a:fld>
            <a:endParaRPr sz="1400" dirty="0"/>
          </a:p>
        </p:txBody>
      </p:sp>
      <p:sp>
        <p:nvSpPr>
          <p:cNvPr id="341" name="Google Shape;341;p33"/>
          <p:cNvSpPr txBox="1">
            <a:spLocks noGrp="1"/>
          </p:cNvSpPr>
          <p:nvPr>
            <p:ph type="title"/>
          </p:nvPr>
        </p:nvSpPr>
        <p:spPr>
          <a:xfrm>
            <a:off x="333089" y="386184"/>
            <a:ext cx="4526161" cy="1056096"/>
          </a:xfrm>
          <a:prstGeom prst="rect">
            <a:avLst/>
          </a:prstGeom>
        </p:spPr>
        <p:txBody>
          <a:bodyPr spcFirstLastPara="1" wrap="square" lIns="91425" tIns="91425" rIns="91425" bIns="91425" anchor="t" anchorCtr="0">
            <a:noAutofit/>
          </a:bodyPr>
          <a:lstStyle/>
          <a:p>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br>
              <a:rPr lang="en-US" dirty="0"/>
            </a:br>
            <a:br>
              <a:rPr lang="en" dirty="0"/>
            </a:b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3089" y="1372180"/>
            <a:ext cx="4849679" cy="457153"/>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Kết</a:t>
            </a:r>
            <a:r>
              <a:rPr lang="en-US" sz="1400" dirty="0"/>
              <a:t> </a:t>
            </a:r>
            <a:r>
              <a:rPr lang="en-US" sz="1400" dirty="0" err="1"/>
              <a:t>quả</a:t>
            </a:r>
            <a:r>
              <a:rPr lang="en-US" sz="1400" dirty="0"/>
              <a:t> RQ2 (</a:t>
            </a:r>
            <a:r>
              <a:rPr lang="en-US" sz="1400" dirty="0" err="1"/>
              <a:t>Tổng</a:t>
            </a:r>
            <a:r>
              <a:rPr lang="en-US" sz="1400" dirty="0"/>
              <a:t> </a:t>
            </a:r>
            <a:r>
              <a:rPr lang="en-US" sz="1400" dirty="0" err="1"/>
              <a:t>quan</a:t>
            </a:r>
            <a:r>
              <a:rPr lang="en-US" sz="1400" dirty="0"/>
              <a:t> </a:t>
            </a:r>
            <a:r>
              <a:rPr lang="en-US" sz="1400" dirty="0" err="1"/>
              <a:t>mạng</a:t>
            </a:r>
            <a:r>
              <a:rPr lang="en-US" sz="1400" dirty="0"/>
              <a:t> </a:t>
            </a:r>
            <a:r>
              <a:rPr lang="en-US" sz="1400" dirty="0" err="1"/>
              <a:t>lưới</a:t>
            </a:r>
            <a:r>
              <a:rPr lang="en-US" sz="1400" dirty="0"/>
              <a:t> </a:t>
            </a:r>
            <a:r>
              <a:rPr lang="en-US" sz="1400" dirty="0" err="1"/>
              <a:t>cộng</a:t>
            </a:r>
            <a:r>
              <a:rPr lang="en-US" sz="1400" dirty="0"/>
              <a:t> </a:t>
            </a:r>
            <a:r>
              <a:rPr lang="en-US" sz="1400" dirty="0" err="1"/>
              <a:t>đồng</a:t>
            </a:r>
            <a:r>
              <a:rPr lang="en-US" sz="1400" dirty="0"/>
              <a:t> </a:t>
            </a:r>
            <a:r>
              <a:rPr lang="en-US" sz="1400" dirty="0" err="1"/>
              <a:t>kĩ</a:t>
            </a:r>
            <a:r>
              <a:rPr lang="en-US" sz="1400" dirty="0"/>
              <a:t> </a:t>
            </a:r>
            <a:r>
              <a:rPr lang="en-US" sz="1400" dirty="0" err="1"/>
              <a:t>năng</a:t>
            </a:r>
            <a:r>
              <a:rPr lang="en-US" sz="1400" dirty="0"/>
              <a:t>)</a:t>
            </a: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sp>
        <p:nvSpPr>
          <p:cNvPr id="5" name="Rectangle 1">
            <a:extLst>
              <a:ext uri="{FF2B5EF4-FFF2-40B4-BE49-F238E27FC236}">
                <a16:creationId xmlns:a16="http://schemas.microsoft.com/office/drawing/2014/main" id="{BEE00F12-AF9E-47D9-B785-E3AEA147EE14}"/>
              </a:ext>
            </a:extLst>
          </p:cNvPr>
          <p:cNvSpPr>
            <a:spLocks noGrp="1" noChangeArrowheads="1"/>
          </p:cNvSpPr>
          <p:nvPr>
            <p:ph type="subTitle" idx="1"/>
          </p:nvPr>
        </p:nvSpPr>
        <p:spPr bwMode="auto">
          <a:xfrm>
            <a:off x="496164" y="1778702"/>
            <a:ext cx="3869391"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err="1">
                <a:ln>
                  <a:noFill/>
                </a:ln>
                <a:solidFill>
                  <a:schemeClr val="tx1"/>
                </a:solidFill>
                <a:effectLst/>
                <a:latin typeface="+mn-lt"/>
              </a:rPr>
              <a:t>Nhóm</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Kỹ</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thuật</a:t>
            </a:r>
            <a:r>
              <a:rPr kumimoji="0" lang="en-US" altLang="en-US" sz="1000" b="1" i="0" u="none" strike="noStrike" cap="none" normalizeH="0" baseline="0" dirty="0">
                <a:ln>
                  <a:noFill/>
                </a:ln>
                <a:solidFill>
                  <a:schemeClr val="tx1"/>
                </a:solidFill>
                <a:effectLst/>
                <a:latin typeface="+mn-lt"/>
              </a:rPr>
              <a:t> &amp; </a:t>
            </a:r>
            <a:r>
              <a:rPr kumimoji="0" lang="en-US" altLang="en-US" sz="1000" b="1" i="0" u="none" strike="noStrike" cap="none" normalizeH="0" baseline="0" dirty="0" err="1">
                <a:ln>
                  <a:noFill/>
                </a:ln>
                <a:solidFill>
                  <a:schemeClr val="tx1"/>
                </a:solidFill>
                <a:effectLst/>
                <a:latin typeface="+mn-lt"/>
              </a:rPr>
              <a:t>Sản</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xuất</a:t>
            </a:r>
            <a:r>
              <a:rPr kumimoji="0" lang="en-US" altLang="en-US" sz="1000" b="1" i="0" u="none" strike="noStrike" cap="none" normalizeH="0" baseline="0" dirty="0">
                <a:ln>
                  <a:noFill/>
                </a:ln>
                <a:solidFill>
                  <a:schemeClr val="tx1"/>
                </a:solidFill>
                <a:effectLst/>
                <a:latin typeface="+mn-lt"/>
              </a:rPr>
              <a:t> (Cluster 0):</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Sự</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tích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hợp</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chặt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chẽ</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giữa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kiến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thức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nền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tảng</a:t>
            </a:r>
            <a:r>
              <a:rPr kumimoji="0" lang="en-US" altLang="en-US" sz="1000" b="0" i="0"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Luyện</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kim</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Cơ</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học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và</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vận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hành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tối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ưu</a:t>
            </a:r>
            <a:r>
              <a:rPr kumimoji="0" lang="en-US" altLang="en-US" sz="1000" b="0" i="0" u="none" strike="noStrike" cap="none" normalizeH="0" baseline="0" dirty="0">
                <a:ln>
                  <a:noFill/>
                </a:ln>
                <a:solidFill>
                  <a:schemeClr val="tx1"/>
                </a:solidFill>
                <a:effectLst/>
                <a:latin typeface="+mn-lt"/>
              </a:rPr>
              <a:t> (</a:t>
            </a:r>
            <a:r>
              <a:rPr kumimoji="0" lang="en-US" altLang="en-US" sz="1000" b="0" i="1" u="none" strike="noStrike" cap="none" normalizeH="0" baseline="0" dirty="0">
                <a:ln>
                  <a:noFill/>
                </a:ln>
                <a:solidFill>
                  <a:schemeClr val="tx1"/>
                </a:solidFill>
                <a:effectLst/>
                <a:latin typeface="+mn-lt"/>
              </a:rPr>
              <a:t>SMED, </a:t>
            </a:r>
            <a:r>
              <a:rPr kumimoji="0" lang="en-US" altLang="en-US" sz="1000" b="0" i="1" u="none" strike="noStrike" cap="none" normalizeH="0" baseline="0" dirty="0" err="1">
                <a:ln>
                  <a:noFill/>
                </a:ln>
                <a:solidFill>
                  <a:schemeClr val="tx1"/>
                </a:solidFill>
                <a:effectLst/>
                <a:latin typeface="+mn-lt"/>
              </a:rPr>
              <a:t>Quản</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lý</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sản</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xuất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Đây</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là</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chân</a:t>
            </a:r>
            <a:r>
              <a:rPr kumimoji="0" lang="en-US" altLang="en-US" sz="1000" b="0" i="0" u="none" strike="noStrike" cap="none" normalizeH="0" baseline="0" dirty="0">
                <a:ln>
                  <a:noFill/>
                </a:ln>
                <a:solidFill>
                  <a:schemeClr val="tx1"/>
                </a:solidFill>
                <a:effectLst/>
                <a:latin typeface="+mn-lt"/>
              </a:rPr>
              <a:t> dung </a:t>
            </a:r>
            <a:r>
              <a:rPr kumimoji="0" lang="en-US" altLang="en-US" sz="1000" b="0" i="0" u="none" strike="noStrike" cap="none" normalizeH="0" baseline="0" dirty="0" err="1">
                <a:ln>
                  <a:noFill/>
                </a:ln>
                <a:solidFill>
                  <a:schemeClr val="tx1"/>
                </a:solidFill>
                <a:effectLst/>
                <a:latin typeface="+mn-lt"/>
              </a:rPr>
              <a:t>của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sư</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hiện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đại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vừa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giỏi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chuyên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môn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sâu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vừa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mạnh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về</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lực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quản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trị</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dây</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chuyền</a:t>
            </a:r>
            <a:r>
              <a:rPr lang="en-US" altLang="en-US" sz="1000" dirty="0">
                <a:solidFill>
                  <a:schemeClr val="tx1"/>
                </a:solidFill>
                <a:latin typeface="+mn-lt"/>
              </a:rPr>
              <a:t>.</a:t>
            </a:r>
            <a:endParaRPr kumimoji="0" lang="en-US" altLang="en-US" sz="1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b="1"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b="1"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b="1"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b="1" i="0" u="none" strike="noStrike" cap="none" normalizeH="0" baseline="0" dirty="0">
              <a:ln>
                <a:noFill/>
              </a:ln>
              <a:solidFill>
                <a:schemeClr val="tx1"/>
              </a:solidFill>
              <a:effectLst/>
              <a:latin typeface="+mn-l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err="1">
                <a:ln>
                  <a:noFill/>
                </a:ln>
                <a:solidFill>
                  <a:schemeClr val="tx1"/>
                </a:solidFill>
                <a:effectLst/>
                <a:latin typeface="+mn-lt"/>
              </a:rPr>
              <a:t>Nhóm</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Liên</a:t>
            </a:r>
            <a:r>
              <a:rPr kumimoji="0" lang="en-US" altLang="en-US" sz="1000" b="1" i="0" u="none" strike="noStrike" cap="none" normalizeH="0" baseline="0" dirty="0">
                <a:ln>
                  <a:noFill/>
                </a:ln>
                <a:solidFill>
                  <a:schemeClr val="tx1"/>
                </a:solidFill>
                <a:effectLst/>
                <a:latin typeface="+mn-lt"/>
              </a:rPr>
              <a:t> </a:t>
            </a:r>
            <a:r>
              <a:rPr kumimoji="0" lang="en-US" altLang="en-US" sz="1000" b="1" i="0" u="none" strike="noStrike" cap="none" normalizeH="0" baseline="0" dirty="0" err="1">
                <a:ln>
                  <a:noFill/>
                </a:ln>
                <a:solidFill>
                  <a:schemeClr val="tx1"/>
                </a:solidFill>
                <a:effectLst/>
                <a:latin typeface="+mn-lt"/>
              </a:rPr>
              <a:t>ngành</a:t>
            </a:r>
            <a:r>
              <a:rPr kumimoji="0" lang="en-US" altLang="en-US" sz="1000" b="1" i="0" u="none" strike="noStrike" cap="none" normalizeH="0" baseline="0" dirty="0">
                <a:ln>
                  <a:noFill/>
                </a:ln>
                <a:solidFill>
                  <a:schemeClr val="tx1"/>
                </a:solidFill>
                <a:effectLst/>
                <a:latin typeface="+mn-lt"/>
              </a:rPr>
              <a:t> &amp; R&amp;D (Cluster 1):</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Đại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diện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cho</a:t>
            </a:r>
            <a:r>
              <a:rPr kumimoji="0" lang="en-US" altLang="en-US" sz="1000" b="0" i="0" u="none" strike="noStrike" cap="none" normalizeH="0" baseline="0" dirty="0">
                <a:ln>
                  <a:noFill/>
                </a:ln>
                <a:solidFill>
                  <a:schemeClr val="tx1"/>
                </a:solidFill>
                <a:effectLst/>
                <a:latin typeface="+mn-lt"/>
              </a:rPr>
              <a:t> xu </a:t>
            </a:r>
            <a:r>
              <a:rPr kumimoji="0" lang="en-US" altLang="en-US" sz="1000" b="0" i="0" u="none" strike="noStrike" cap="none" normalizeH="0" baseline="0" dirty="0" err="1">
                <a:ln>
                  <a:noFill/>
                </a:ln>
                <a:solidFill>
                  <a:schemeClr val="tx1"/>
                </a:solidFill>
                <a:effectLst/>
                <a:latin typeface="+mn-lt"/>
              </a:rPr>
              <a:t>hướng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lai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ghép</a:t>
            </a:r>
            <a:r>
              <a:rPr kumimoji="0" lang="en-US" altLang="en-US" sz="1000" b="0" i="0" u="none" strike="noStrike" cap="none" normalizeH="0" baseline="0" dirty="0">
                <a:ln>
                  <a:noFill/>
                </a:ln>
                <a:solidFill>
                  <a:schemeClr val="tx1"/>
                </a:solidFill>
                <a:effectLst/>
                <a:latin typeface="+mn-lt"/>
              </a:rPr>
              <a:t> (Hybrid Skills) </a:t>
            </a:r>
            <a:r>
              <a:rPr kumimoji="0" lang="en-US" altLang="en-US" sz="1000" b="0" i="0" u="none" strike="noStrike" cap="none" normalizeH="0" baseline="0" dirty="0" err="1">
                <a:ln>
                  <a:noFill/>
                </a:ln>
                <a:solidFill>
                  <a:schemeClr val="tx1"/>
                </a:solidFill>
                <a:effectLst/>
                <a:latin typeface="+mn-lt"/>
              </a:rPr>
              <a:t>trong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các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vai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trò</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mới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như</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Phát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triển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bền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vững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Nhân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sự</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cần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kết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hợp</a:t>
            </a:r>
            <a:r>
              <a:rPr kumimoji="0" lang="en-US" altLang="en-US" sz="1000" b="0" i="0"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Kỹ</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thuật</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môi</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trường</a:t>
            </a:r>
            <a:r>
              <a:rPr kumimoji="0" lang="en-US" altLang="en-US" sz="1000" b="0" i="0"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Quản</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lý</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dữ</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liệu</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sản</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phẩm</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và</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tư</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duy</a:t>
            </a:r>
            <a:r>
              <a:rPr kumimoji="0" lang="en-US" altLang="en-US" sz="1000" b="0" i="0"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Phân</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tích</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chính</a:t>
            </a:r>
            <a:r>
              <a:rPr kumimoji="0" lang="en-US" altLang="en-US" sz="1000" b="0" i="1" u="none" strike="noStrike" cap="none" normalizeH="0" baseline="0" dirty="0">
                <a:ln>
                  <a:noFill/>
                </a:ln>
                <a:solidFill>
                  <a:schemeClr val="tx1"/>
                </a:solidFill>
                <a:effectLst/>
                <a:latin typeface="+mn-lt"/>
              </a:rPr>
              <a:t> </a:t>
            </a:r>
            <a:r>
              <a:rPr kumimoji="0" lang="en-US" altLang="en-US" sz="1000" b="0" i="1" u="none" strike="noStrike" cap="none" normalizeH="0" baseline="0" dirty="0" err="1">
                <a:ln>
                  <a:noFill/>
                </a:ln>
                <a:solidFill>
                  <a:schemeClr val="tx1"/>
                </a:solidFill>
                <a:effectLst/>
                <a:latin typeface="+mn-lt"/>
              </a:rPr>
              <a:t>sách</a:t>
            </a:r>
            <a:r>
              <a:rPr kumimoji="0" lang="en-US" altLang="en-US" sz="1000" b="0" i="0" u="none" strike="noStrike" cap="none" normalizeH="0" baseline="0" dirty="0">
                <a:ln>
                  <a:noFill/>
                </a:ln>
                <a:solidFill>
                  <a:schemeClr val="tx1"/>
                </a:solidFill>
                <a:effectLst/>
                <a:latin typeface="+mn-lt"/>
              </a:rPr>
              <a:t> .</a:t>
            </a:r>
          </a:p>
        </p:txBody>
      </p:sp>
      <p:pic>
        <p:nvPicPr>
          <p:cNvPr id="12" name="Picture 11">
            <a:extLst>
              <a:ext uri="{FF2B5EF4-FFF2-40B4-BE49-F238E27FC236}">
                <a16:creationId xmlns:a16="http://schemas.microsoft.com/office/drawing/2014/main" id="{D5F135BA-4EA1-498B-BF81-DB8101A6A431}"/>
              </a:ext>
            </a:extLst>
          </p:cNvPr>
          <p:cNvPicPr/>
          <p:nvPr/>
        </p:nvPicPr>
        <p:blipFill>
          <a:blip r:embed="rId3"/>
          <a:stretch>
            <a:fillRect/>
          </a:stretch>
        </p:blipFill>
        <p:spPr>
          <a:xfrm>
            <a:off x="4920963" y="355447"/>
            <a:ext cx="4036115" cy="2059141"/>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BDB977F9-623C-45B7-8F45-525B8A803824}"/>
              </a:ext>
            </a:extLst>
          </p:cNvPr>
          <p:cNvSpPr txBox="1"/>
          <p:nvPr/>
        </p:nvSpPr>
        <p:spPr>
          <a:xfrm>
            <a:off x="4846350" y="2382830"/>
            <a:ext cx="4106403" cy="215444"/>
          </a:xfrm>
          <a:prstGeom prst="rect">
            <a:avLst/>
          </a:prstGeom>
          <a:noFill/>
        </p:spPr>
        <p:txBody>
          <a:bodyPr wrap="square" rtlCol="0">
            <a:spAutoFit/>
          </a:bodyPr>
          <a:lstStyle/>
          <a:p>
            <a:pPr marL="0" marR="0" algn="ctr">
              <a:spcBef>
                <a:spcPts val="1440"/>
              </a:spcBef>
              <a:spcAft>
                <a:spcPts val="1440"/>
              </a:spcAft>
            </a:pP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15: </a:t>
            </a:r>
            <a:r>
              <a:rPr lang="en-US" sz="800" b="1" i="1" dirty="0" err="1">
                <a:effectLst/>
                <a:latin typeface="Times New Roman" panose="02020603050405020304" pitchFamily="18" charset="0"/>
                <a:ea typeface="Times New Roman" panose="02020603050405020304" pitchFamily="18" charset="0"/>
              </a:rPr>
              <a:t>Các</a:t>
            </a:r>
            <a:r>
              <a:rPr lang="en-US" sz="800" b="1" i="1" dirty="0">
                <a:effectLst/>
                <a:latin typeface="Times New Roman" panose="02020603050405020304" pitchFamily="18" charset="0"/>
                <a:ea typeface="Times New Roman" panose="02020603050405020304" pitchFamily="18" charset="0"/>
              </a:rPr>
              <a:t> skill bundles </a:t>
            </a:r>
            <a:r>
              <a:rPr lang="en-US" sz="800" b="1" i="1" dirty="0" err="1">
                <a:effectLst/>
                <a:latin typeface="Times New Roman" panose="02020603050405020304" pitchFamily="18" charset="0"/>
                <a:ea typeface="Times New Roman" panose="02020603050405020304" pitchFamily="18" charset="0"/>
              </a:rPr>
              <a:t>lĩnh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vực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kỹ</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thuật</a:t>
            </a:r>
            <a:r>
              <a:rPr lang="en-US" sz="800" b="1" i="1" dirty="0">
                <a:effectLst/>
                <a:latin typeface="Times New Roman" panose="02020603050405020304" pitchFamily="18" charset="0"/>
                <a:ea typeface="Times New Roman" panose="02020603050405020304" pitchFamily="18" charset="0"/>
              </a:rPr>
              <a:t> – </a:t>
            </a:r>
            <a:r>
              <a:rPr lang="en-US" sz="800" b="1" i="1" dirty="0" err="1">
                <a:effectLst/>
                <a:latin typeface="Times New Roman" panose="02020603050405020304" pitchFamily="18" charset="0"/>
                <a:ea typeface="Times New Roman" panose="02020603050405020304" pitchFamily="18" charset="0"/>
              </a:rPr>
              <a:t>sản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xuất</a:t>
            </a:r>
            <a:r>
              <a:rPr lang="en-US" sz="800" b="1" i="1" dirty="0">
                <a:effectLst/>
                <a:latin typeface="Times New Roman" panose="02020603050405020304" pitchFamily="18" charset="0"/>
                <a:ea typeface="Times New Roman" panose="02020603050405020304" pitchFamily="18" charset="0"/>
              </a:rPr>
              <a:t> – khoa </a:t>
            </a:r>
            <a:r>
              <a:rPr lang="en-US" sz="800" b="1" i="1" dirty="0" err="1">
                <a:effectLst/>
                <a:latin typeface="Times New Roman" panose="02020603050405020304" pitchFamily="18" charset="0"/>
                <a:ea typeface="Times New Roman" panose="02020603050405020304" pitchFamily="18" charset="0"/>
              </a:rPr>
              <a:t>học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vật</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liệu</a:t>
            </a:r>
            <a:r>
              <a:rPr lang="en-US" sz="800" b="1" i="1" dirty="0">
                <a:effectLst/>
                <a:latin typeface="Times New Roman" panose="02020603050405020304" pitchFamily="18" charset="0"/>
                <a:ea typeface="Times New Roman" panose="02020603050405020304" pitchFamily="18" charset="0"/>
              </a:rPr>
              <a:t> (cluster 0) </a:t>
            </a:r>
            <a:endParaRPr lang="en-US" sz="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5C2D4194-1C99-4A51-91F4-0797010F3853}"/>
              </a:ext>
            </a:extLst>
          </p:cNvPr>
          <p:cNvSpPr txBox="1"/>
          <p:nvPr/>
        </p:nvSpPr>
        <p:spPr>
          <a:xfrm>
            <a:off x="4846350" y="4593350"/>
            <a:ext cx="4091253" cy="215444"/>
          </a:xfrm>
          <a:prstGeom prst="rect">
            <a:avLst/>
          </a:prstGeom>
          <a:noFill/>
        </p:spPr>
        <p:txBody>
          <a:bodyPr wrap="square" rtlCol="0">
            <a:spAutoFit/>
          </a:bodyPr>
          <a:lstStyle/>
          <a:p>
            <a:pPr marL="0" marR="0" algn="ctr">
              <a:spcBef>
                <a:spcPts val="1440"/>
              </a:spcBef>
              <a:spcAft>
                <a:spcPts val="1440"/>
              </a:spcAft>
            </a:pP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16: </a:t>
            </a:r>
            <a:r>
              <a:rPr lang="en-US" sz="800" b="1" i="1" dirty="0" err="1">
                <a:effectLst/>
                <a:latin typeface="Times New Roman" panose="02020603050405020304" pitchFamily="18" charset="0"/>
                <a:ea typeface="Times New Roman" panose="02020603050405020304" pitchFamily="18" charset="0"/>
              </a:rPr>
              <a:t>Các</a:t>
            </a:r>
            <a:r>
              <a:rPr lang="en-US" sz="800" b="1" i="1" dirty="0">
                <a:effectLst/>
                <a:latin typeface="Times New Roman" panose="02020603050405020304" pitchFamily="18" charset="0"/>
                <a:ea typeface="Times New Roman" panose="02020603050405020304" pitchFamily="18" charset="0"/>
              </a:rPr>
              <a:t> skill bundles </a:t>
            </a:r>
            <a:r>
              <a:rPr lang="en-US" sz="800" b="1" i="1" dirty="0" err="1">
                <a:effectLst/>
                <a:latin typeface="Times New Roman" panose="02020603050405020304" pitchFamily="18" charset="0"/>
                <a:ea typeface="Times New Roman" panose="02020603050405020304" pitchFamily="18" charset="0"/>
              </a:rPr>
              <a:t>mang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tính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liên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ngành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kỹ</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thuật</a:t>
            </a:r>
            <a:r>
              <a:rPr lang="en-US" sz="800" b="1" i="1" dirty="0">
                <a:effectLst/>
                <a:latin typeface="Times New Roman" panose="02020603050405020304" pitchFamily="18" charset="0"/>
                <a:ea typeface="Times New Roman" panose="02020603050405020304" pitchFamily="18" charset="0"/>
              </a:rPr>
              <a:t> – </a:t>
            </a:r>
            <a:r>
              <a:rPr lang="en-US" sz="800" b="1" i="1" dirty="0" err="1">
                <a:effectLst/>
                <a:latin typeface="Times New Roman" panose="02020603050405020304" pitchFamily="18" charset="0"/>
                <a:ea typeface="Times New Roman" panose="02020603050405020304" pitchFamily="18" charset="0"/>
              </a:rPr>
              <a:t>dữ</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liệu</a:t>
            </a:r>
            <a:r>
              <a:rPr lang="en-US" sz="800" b="1" i="1" dirty="0">
                <a:effectLst/>
                <a:latin typeface="Times New Roman" panose="02020603050405020304" pitchFamily="18" charset="0"/>
                <a:ea typeface="Times New Roman" panose="02020603050405020304" pitchFamily="18" charset="0"/>
              </a:rPr>
              <a:t> – </a:t>
            </a:r>
            <a:r>
              <a:rPr lang="en-US" sz="800" b="1" i="1" dirty="0" err="1">
                <a:effectLst/>
                <a:latin typeface="Times New Roman" panose="02020603050405020304" pitchFamily="18" charset="0"/>
                <a:ea typeface="Times New Roman" panose="02020603050405020304" pitchFamily="18" charset="0"/>
              </a:rPr>
              <a:t>chính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sách</a:t>
            </a:r>
            <a:r>
              <a:rPr lang="en-US" sz="800" b="1" i="1" dirty="0">
                <a:effectLst/>
                <a:latin typeface="Times New Roman" panose="02020603050405020304" pitchFamily="18" charset="0"/>
                <a:ea typeface="Times New Roman" panose="02020603050405020304" pitchFamily="18" charset="0"/>
              </a:rPr>
              <a:t> (cluster 1)</a:t>
            </a:r>
            <a:endParaRPr lang="en-US" sz="800" dirty="0">
              <a:effectLst/>
              <a:latin typeface="Times New Roman" panose="02020603050405020304" pitchFamily="18" charset="0"/>
              <a:ea typeface="Times New Roman" panose="02020603050405020304" pitchFamily="18" charset="0"/>
            </a:endParaRPr>
          </a:p>
        </p:txBody>
      </p:sp>
      <p:pic>
        <p:nvPicPr>
          <p:cNvPr id="18" name="Picture 17">
            <a:extLst>
              <a:ext uri="{FF2B5EF4-FFF2-40B4-BE49-F238E27FC236}">
                <a16:creationId xmlns:a16="http://schemas.microsoft.com/office/drawing/2014/main" id="{00EC4485-2210-4146-9A06-B2B2701A7A19}"/>
              </a:ext>
            </a:extLst>
          </p:cNvPr>
          <p:cNvPicPr/>
          <p:nvPr/>
        </p:nvPicPr>
        <p:blipFill>
          <a:blip r:embed="rId4"/>
          <a:stretch>
            <a:fillRect/>
          </a:stretch>
        </p:blipFill>
        <p:spPr>
          <a:xfrm>
            <a:off x="4920963" y="2573065"/>
            <a:ext cx="4038278" cy="204896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605590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23</a:t>
            </a:fld>
            <a:endParaRPr sz="1400" dirty="0"/>
          </a:p>
        </p:txBody>
      </p:sp>
      <p:sp>
        <p:nvSpPr>
          <p:cNvPr id="341" name="Google Shape;341;p33"/>
          <p:cNvSpPr txBox="1">
            <a:spLocks noGrp="1"/>
          </p:cNvSpPr>
          <p:nvPr>
            <p:ph type="title"/>
          </p:nvPr>
        </p:nvSpPr>
        <p:spPr>
          <a:xfrm>
            <a:off x="333089" y="386183"/>
            <a:ext cx="4583549" cy="1070257"/>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3089" y="1378894"/>
            <a:ext cx="4849679" cy="457153"/>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Kết</a:t>
            </a:r>
            <a:r>
              <a:rPr lang="en-US" sz="1400" dirty="0"/>
              <a:t> </a:t>
            </a:r>
            <a:r>
              <a:rPr lang="en-US" sz="1400" dirty="0" err="1"/>
              <a:t>quả</a:t>
            </a:r>
            <a:r>
              <a:rPr lang="en-US" sz="1400" dirty="0"/>
              <a:t> RQ2 (</a:t>
            </a:r>
            <a:r>
              <a:rPr lang="en-US" sz="1400" dirty="0" err="1"/>
              <a:t>Tổng</a:t>
            </a:r>
            <a:r>
              <a:rPr lang="en-US" sz="1400" dirty="0"/>
              <a:t> </a:t>
            </a:r>
            <a:r>
              <a:rPr lang="en-US" sz="1400" dirty="0" err="1"/>
              <a:t>quan</a:t>
            </a:r>
            <a:r>
              <a:rPr lang="en-US" sz="1400" dirty="0"/>
              <a:t> </a:t>
            </a:r>
            <a:r>
              <a:rPr lang="en-US" sz="1400" dirty="0" err="1"/>
              <a:t>mạng</a:t>
            </a:r>
            <a:r>
              <a:rPr lang="en-US" sz="1400" dirty="0"/>
              <a:t> </a:t>
            </a:r>
            <a:r>
              <a:rPr lang="en-US" sz="1400" dirty="0" err="1"/>
              <a:t>lưới</a:t>
            </a:r>
            <a:r>
              <a:rPr lang="en-US" sz="1400" dirty="0"/>
              <a:t> </a:t>
            </a:r>
            <a:r>
              <a:rPr lang="en-US" sz="1400" dirty="0" err="1"/>
              <a:t>cộng</a:t>
            </a:r>
            <a:r>
              <a:rPr lang="en-US" sz="1400" dirty="0"/>
              <a:t> </a:t>
            </a:r>
            <a:r>
              <a:rPr lang="en-US" sz="1400" dirty="0" err="1"/>
              <a:t>đồng</a:t>
            </a:r>
            <a:r>
              <a:rPr lang="en-US" sz="1400" dirty="0"/>
              <a:t> </a:t>
            </a:r>
            <a:r>
              <a:rPr lang="en-US" sz="1400" dirty="0" err="1"/>
              <a:t>kĩ</a:t>
            </a:r>
            <a:r>
              <a:rPr lang="en-US" sz="1400" dirty="0"/>
              <a:t> </a:t>
            </a:r>
            <a:r>
              <a:rPr lang="en-US" sz="1400" dirty="0" err="1"/>
              <a:t>năng</a:t>
            </a:r>
            <a:r>
              <a:rPr lang="en-US" sz="1400" dirty="0"/>
              <a:t>)</a:t>
            </a: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sp>
        <p:nvSpPr>
          <p:cNvPr id="5" name="Rectangle 1">
            <a:extLst>
              <a:ext uri="{FF2B5EF4-FFF2-40B4-BE49-F238E27FC236}">
                <a16:creationId xmlns:a16="http://schemas.microsoft.com/office/drawing/2014/main" id="{BEE00F12-AF9E-47D9-B785-E3AEA147EE14}"/>
              </a:ext>
            </a:extLst>
          </p:cNvPr>
          <p:cNvSpPr>
            <a:spLocks noGrp="1" noChangeArrowheads="1"/>
          </p:cNvSpPr>
          <p:nvPr>
            <p:ph type="subTitle" idx="1"/>
          </p:nvPr>
        </p:nvSpPr>
        <p:spPr bwMode="auto">
          <a:xfrm>
            <a:off x="527665" y="1778450"/>
            <a:ext cx="3869391"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vi-VN" sz="1100" b="1" dirty="0"/>
              <a:t>Nhóm Kinh doanh &amp; Pháp lý (Cluster 2):</a:t>
            </a:r>
            <a:r>
              <a:rPr lang="vi-VN" sz="1100" dirty="0"/>
              <a:t> Sự giao thoa tam giác giữa Tài chính - Luật - Công nghệ. Các vị trí Fintech hoặc Tư vấn đòi hỏi hiểu biết về </a:t>
            </a:r>
            <a:r>
              <a:rPr lang="vi-VN" sz="1100" i="1" dirty="0"/>
              <a:t>Luật hợp đồng</a:t>
            </a:r>
            <a:r>
              <a:rPr lang="vi-VN" sz="1100" dirty="0"/>
              <a:t>, </a:t>
            </a:r>
            <a:r>
              <a:rPr lang="vi-VN" sz="1100" i="1" dirty="0"/>
              <a:t>Kỹ thuật tài chính</a:t>
            </a:r>
            <a:r>
              <a:rPr lang="vi-VN" sz="1100" dirty="0"/>
              <a:t> và cả </a:t>
            </a:r>
            <a:r>
              <a:rPr lang="vi-VN" sz="1100" i="1" dirty="0"/>
              <a:t>Phân tích web</a:t>
            </a:r>
            <a:r>
              <a:rPr lang="vi-VN" sz="1100" dirty="0"/>
              <a:t> để thấu hiểu hành vi khách hàng số</a:t>
            </a:r>
            <a:r>
              <a:rPr lang="en-US" sz="1100" dirty="0"/>
              <a:t>.</a:t>
            </a:r>
            <a:endParaRPr kumimoji="0" lang="en-US" altLang="en-US" sz="1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b="1"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b="1"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b="1"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b="1" dirty="0">
              <a:solidFill>
                <a:schemeClr val="tx1"/>
              </a:solidFill>
              <a:latin typeface="+mn-l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vi-VN" sz="1100" b="1" dirty="0"/>
              <a:t>Nhóm Y tế &amp; Dịch vụ (Cluster 3):</a:t>
            </a:r>
            <a:r>
              <a:rPr lang="vi-VN" sz="1100" dirty="0"/>
              <a:t> Mô hình y tế hướng dịch vụ, nơi chuyên môn lâm sàng (</a:t>
            </a:r>
            <a:r>
              <a:rPr lang="vi-VN" sz="1100" i="1" dirty="0"/>
              <a:t>Trị liệu, Thính học</a:t>
            </a:r>
            <a:r>
              <a:rPr lang="vi-VN" sz="1100" dirty="0"/>
              <a:t>) không đứng một mình mà gắn liền với năng lực quản lý vận hành (</a:t>
            </a:r>
            <a:r>
              <a:rPr lang="vi-VN" sz="1100" i="1" dirty="0"/>
              <a:t>Đánh giá nhân viên, Dịch vụ dinh dưỡng</a:t>
            </a:r>
            <a:r>
              <a:rPr lang="vi-VN" sz="1100" dirty="0"/>
              <a:t>) tại các cơ sở y tế lớn .</a:t>
            </a:r>
            <a:endParaRPr kumimoji="0" lang="en-US" altLang="en-US" sz="1000" b="1" i="0" u="none" strike="noStrike" cap="none" normalizeH="0" baseline="0" dirty="0">
              <a:ln>
                <a:noFill/>
              </a:ln>
              <a:solidFill>
                <a:schemeClr val="tx1"/>
              </a:solidFill>
              <a:effectLst/>
              <a:latin typeface="+mn-lt"/>
            </a:endParaRPr>
          </a:p>
        </p:txBody>
      </p:sp>
      <p:sp>
        <p:nvSpPr>
          <p:cNvPr id="6" name="TextBox 5">
            <a:extLst>
              <a:ext uri="{FF2B5EF4-FFF2-40B4-BE49-F238E27FC236}">
                <a16:creationId xmlns:a16="http://schemas.microsoft.com/office/drawing/2014/main" id="{BDB977F9-623C-45B7-8F45-525B8A803824}"/>
              </a:ext>
            </a:extLst>
          </p:cNvPr>
          <p:cNvSpPr txBox="1"/>
          <p:nvPr/>
        </p:nvSpPr>
        <p:spPr>
          <a:xfrm>
            <a:off x="4916638" y="2382830"/>
            <a:ext cx="4036115" cy="215444"/>
          </a:xfrm>
          <a:prstGeom prst="rect">
            <a:avLst/>
          </a:prstGeom>
          <a:noFill/>
        </p:spPr>
        <p:txBody>
          <a:bodyPr wrap="square" rtlCol="0">
            <a:spAutoFit/>
          </a:bodyPr>
          <a:lstStyle/>
          <a:p>
            <a:pPr marL="0" marR="0" algn="ctr">
              <a:spcBef>
                <a:spcPts val="1440"/>
              </a:spcBef>
              <a:spcAft>
                <a:spcPts val="1440"/>
              </a:spcAft>
            </a:pP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17: </a:t>
            </a:r>
            <a:r>
              <a:rPr lang="en-US" sz="800" b="1" i="1" dirty="0" err="1">
                <a:effectLst/>
                <a:latin typeface="Times New Roman" panose="02020603050405020304" pitchFamily="18" charset="0"/>
                <a:ea typeface="Times New Roman" panose="02020603050405020304" pitchFamily="18" charset="0"/>
              </a:rPr>
              <a:t>Các</a:t>
            </a:r>
            <a:r>
              <a:rPr lang="en-US" sz="800" b="1" i="1" dirty="0">
                <a:effectLst/>
                <a:latin typeface="Times New Roman" panose="02020603050405020304" pitchFamily="18" charset="0"/>
                <a:ea typeface="Times New Roman" panose="02020603050405020304" pitchFamily="18" charset="0"/>
              </a:rPr>
              <a:t> skill bundles </a:t>
            </a:r>
            <a:r>
              <a:rPr lang="en-US" sz="800" b="1" i="1" dirty="0" err="1">
                <a:effectLst/>
                <a:latin typeface="Times New Roman" panose="02020603050405020304" pitchFamily="18" charset="0"/>
                <a:ea typeface="Times New Roman" panose="02020603050405020304" pitchFamily="18" charset="0"/>
              </a:rPr>
              <a:t>trong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lĩnh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vực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kinh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doanh</a:t>
            </a:r>
            <a:r>
              <a:rPr lang="en-US" sz="800" b="1" i="1" dirty="0">
                <a:effectLst/>
                <a:latin typeface="Times New Roman" panose="02020603050405020304" pitchFamily="18" charset="0"/>
                <a:ea typeface="Times New Roman" panose="02020603050405020304" pitchFamily="18" charset="0"/>
              </a:rPr>
              <a:t> – </a:t>
            </a:r>
            <a:r>
              <a:rPr lang="en-US" sz="800" b="1" i="1" dirty="0" err="1">
                <a:effectLst/>
                <a:latin typeface="Times New Roman" panose="02020603050405020304" pitchFamily="18" charset="0"/>
                <a:ea typeface="Times New Roman" panose="02020603050405020304" pitchFamily="18" charset="0"/>
              </a:rPr>
              <a:t>tài</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chính</a:t>
            </a:r>
            <a:r>
              <a:rPr lang="en-US" sz="800" b="1" i="1" dirty="0">
                <a:effectLst/>
                <a:latin typeface="Times New Roman" panose="02020603050405020304" pitchFamily="18" charset="0"/>
                <a:ea typeface="Times New Roman" panose="02020603050405020304" pitchFamily="18" charset="0"/>
              </a:rPr>
              <a:t> – </a:t>
            </a:r>
            <a:r>
              <a:rPr lang="en-US" sz="800" b="1" i="1" dirty="0" err="1">
                <a:effectLst/>
                <a:latin typeface="Times New Roman" panose="02020603050405020304" pitchFamily="18" charset="0"/>
                <a:ea typeface="Times New Roman" panose="02020603050405020304" pitchFamily="18" charset="0"/>
              </a:rPr>
              <a:t>pháp</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lý</a:t>
            </a:r>
            <a:endParaRPr lang="en-US" sz="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5C2D4194-1C99-4A51-91F4-0797010F3853}"/>
              </a:ext>
            </a:extLst>
          </p:cNvPr>
          <p:cNvSpPr txBox="1"/>
          <p:nvPr/>
        </p:nvSpPr>
        <p:spPr>
          <a:xfrm>
            <a:off x="4916638" y="4593350"/>
            <a:ext cx="4020965" cy="215444"/>
          </a:xfrm>
          <a:prstGeom prst="rect">
            <a:avLst/>
          </a:prstGeom>
          <a:noFill/>
        </p:spPr>
        <p:txBody>
          <a:bodyPr wrap="square" rtlCol="0">
            <a:spAutoFit/>
          </a:bodyPr>
          <a:lstStyle/>
          <a:p>
            <a:pPr marL="0" marR="0" algn="ctr">
              <a:spcBef>
                <a:spcPts val="1440"/>
              </a:spcBef>
              <a:spcAft>
                <a:spcPts val="1440"/>
              </a:spcAft>
            </a:pP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18: </a:t>
            </a:r>
            <a:r>
              <a:rPr lang="en-US" sz="800" b="1" i="1" dirty="0" err="1">
                <a:effectLst/>
                <a:latin typeface="Times New Roman" panose="02020603050405020304" pitchFamily="18" charset="0"/>
                <a:ea typeface="Times New Roman" panose="02020603050405020304" pitchFamily="18" charset="0"/>
              </a:rPr>
              <a:t>Các</a:t>
            </a:r>
            <a:r>
              <a:rPr lang="en-US" sz="800" b="1" i="1" dirty="0">
                <a:effectLst/>
                <a:latin typeface="Times New Roman" panose="02020603050405020304" pitchFamily="18" charset="0"/>
                <a:ea typeface="Times New Roman" panose="02020603050405020304" pitchFamily="18" charset="0"/>
              </a:rPr>
              <a:t> skill bundles </a:t>
            </a:r>
            <a:r>
              <a:rPr lang="en-US" sz="800" b="1" i="1" dirty="0" err="1">
                <a:effectLst/>
                <a:latin typeface="Times New Roman" panose="02020603050405020304" pitchFamily="18" charset="0"/>
                <a:ea typeface="Times New Roman" panose="02020603050405020304" pitchFamily="18" charset="0"/>
              </a:rPr>
              <a:t>trong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lĩnh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vực</a:t>
            </a:r>
            <a:r>
              <a:rPr lang="en-US" sz="800" b="1" i="1" dirty="0">
                <a:effectLst/>
                <a:latin typeface="Times New Roman" panose="02020603050405020304" pitchFamily="18" charset="0"/>
                <a:ea typeface="Times New Roman" panose="02020603050405020304" pitchFamily="18" charset="0"/>
              </a:rPr>
              <a:t> y </a:t>
            </a:r>
            <a:r>
              <a:rPr lang="en-US" sz="800" b="1" i="1" dirty="0" err="1">
                <a:effectLst/>
                <a:latin typeface="Times New Roman" panose="02020603050405020304" pitchFamily="18" charset="0"/>
                <a:ea typeface="Times New Roman" panose="02020603050405020304" pitchFamily="18" charset="0"/>
              </a:rPr>
              <a:t>tế</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và</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chăm</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sóc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sức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khỏe</a:t>
            </a:r>
            <a:endParaRPr lang="en-US" sz="800" dirty="0">
              <a:effectLst/>
              <a:latin typeface="Times New Roman" panose="02020603050405020304" pitchFamily="18" charset="0"/>
              <a:ea typeface="Times New Roman" panose="02020603050405020304" pitchFamily="18" charset="0"/>
            </a:endParaRPr>
          </a:p>
        </p:txBody>
      </p:sp>
      <p:pic>
        <p:nvPicPr>
          <p:cNvPr id="13" name="Picture 12">
            <a:extLst>
              <a:ext uri="{FF2B5EF4-FFF2-40B4-BE49-F238E27FC236}">
                <a16:creationId xmlns:a16="http://schemas.microsoft.com/office/drawing/2014/main" id="{EEC6B722-72F0-4040-8A54-9124B769A5B0}"/>
              </a:ext>
            </a:extLst>
          </p:cNvPr>
          <p:cNvPicPr/>
          <p:nvPr/>
        </p:nvPicPr>
        <p:blipFill>
          <a:blip r:embed="rId3"/>
          <a:stretch>
            <a:fillRect/>
          </a:stretch>
        </p:blipFill>
        <p:spPr>
          <a:xfrm>
            <a:off x="4920963" y="355722"/>
            <a:ext cx="4031790" cy="2059141"/>
          </a:xfrm>
          <a:prstGeom prst="rect">
            <a:avLst/>
          </a:prstGeom>
          <a:effectLst>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83E98EF0-CECB-4D1B-BC43-B950D0CD6105}"/>
              </a:ext>
            </a:extLst>
          </p:cNvPr>
          <p:cNvPicPr/>
          <p:nvPr/>
        </p:nvPicPr>
        <p:blipFill>
          <a:blip r:embed="rId4"/>
          <a:stretch>
            <a:fillRect/>
          </a:stretch>
        </p:blipFill>
        <p:spPr>
          <a:xfrm>
            <a:off x="4916638" y="2566242"/>
            <a:ext cx="4036116" cy="205914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518356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24</a:t>
            </a:fld>
            <a:endParaRPr sz="1400" dirty="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5063" y="1017725"/>
            <a:ext cx="4849679" cy="457153"/>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Kết</a:t>
            </a:r>
            <a:r>
              <a:rPr lang="en-US" sz="1400" dirty="0"/>
              <a:t> </a:t>
            </a:r>
            <a:r>
              <a:rPr lang="en-US" sz="1400" dirty="0" err="1"/>
              <a:t>quả</a:t>
            </a:r>
            <a:r>
              <a:rPr lang="en-US" sz="1400" dirty="0"/>
              <a:t> RQ3 (</a:t>
            </a:r>
            <a:r>
              <a:rPr lang="en-US" sz="1400" dirty="0" err="1"/>
              <a:t>Đánh</a:t>
            </a:r>
            <a:r>
              <a:rPr lang="en-US" sz="1400" dirty="0"/>
              <a:t> </a:t>
            </a:r>
            <a:r>
              <a:rPr lang="en-US" sz="1400" dirty="0" err="1"/>
              <a:t>giá</a:t>
            </a:r>
            <a:r>
              <a:rPr lang="en-US" sz="1400" dirty="0"/>
              <a:t> </a:t>
            </a:r>
            <a:r>
              <a:rPr lang="en-US" sz="1400" dirty="0" err="1"/>
              <a:t>hiệu</a:t>
            </a:r>
            <a:r>
              <a:rPr lang="en-US" sz="1400" dirty="0"/>
              <a:t> </a:t>
            </a:r>
            <a:r>
              <a:rPr lang="en-US" sz="1400" dirty="0" err="1"/>
              <a:t>suất</a:t>
            </a:r>
            <a:r>
              <a:rPr lang="en-US" sz="1400" dirty="0"/>
              <a:t> </a:t>
            </a:r>
            <a:r>
              <a:rPr lang="en-US" sz="1400" dirty="0" err="1"/>
              <a:t>dự</a:t>
            </a:r>
            <a:r>
              <a:rPr lang="en-US" sz="1400" dirty="0"/>
              <a:t> </a:t>
            </a:r>
            <a:r>
              <a:rPr lang="en-US" sz="1400" dirty="0" err="1"/>
              <a:t>đoán</a:t>
            </a:r>
            <a:r>
              <a:rPr lang="en-US" sz="1400" dirty="0"/>
              <a:t> </a:t>
            </a:r>
            <a:r>
              <a:rPr lang="en-US" sz="1400" dirty="0" err="1"/>
              <a:t>lương</a:t>
            </a:r>
            <a:r>
              <a:rPr lang="en-US" sz="1400" dirty="0"/>
              <a:t>)</a:t>
            </a:r>
          </a:p>
        </p:txBody>
      </p:sp>
      <p:sp>
        <p:nvSpPr>
          <p:cNvPr id="4" name="TextBox 3">
            <a:extLst>
              <a:ext uri="{FF2B5EF4-FFF2-40B4-BE49-F238E27FC236}">
                <a16:creationId xmlns:a16="http://schemas.microsoft.com/office/drawing/2014/main" id="{E761789C-A483-4AAD-A77F-FF66E8681925}"/>
              </a:ext>
            </a:extLst>
          </p:cNvPr>
          <p:cNvSpPr txBox="1"/>
          <p:nvPr/>
        </p:nvSpPr>
        <p:spPr>
          <a:xfrm>
            <a:off x="3841465" y="4287143"/>
            <a:ext cx="5065856" cy="33855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19: </a:t>
            </a:r>
            <a:r>
              <a:rPr lang="en-US" sz="800" b="1" i="1" dirty="0" err="1">
                <a:effectLst/>
                <a:latin typeface="Times New Roman" panose="02020603050405020304" pitchFamily="18" charset="0"/>
                <a:ea typeface="Times New Roman" panose="02020603050405020304" pitchFamily="18" charset="0"/>
              </a:rPr>
              <a:t>Biểu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đồ</a:t>
            </a:r>
            <a:r>
              <a:rPr lang="en-US" sz="800" b="1" i="1" dirty="0">
                <a:effectLst/>
                <a:latin typeface="Times New Roman" panose="02020603050405020304" pitchFamily="18" charset="0"/>
                <a:ea typeface="Times New Roman" panose="02020603050405020304" pitchFamily="18" charset="0"/>
              </a:rPr>
              <a:t> so </a:t>
            </a:r>
            <a:r>
              <a:rPr lang="en-US" sz="800" b="1" i="1" dirty="0" err="1">
                <a:effectLst/>
                <a:latin typeface="Times New Roman" panose="02020603050405020304" pitchFamily="18" charset="0"/>
                <a:ea typeface="Times New Roman" panose="02020603050405020304" pitchFamily="18" charset="0"/>
              </a:rPr>
              <a:t>sánh</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giữa</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mức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lương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thực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tế</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với</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mức</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lương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dự</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đoán</a:t>
            </a:r>
            <a:endParaRPr lang="en-US" sz="800" b="1" i="1" dirty="0">
              <a:effectLst/>
              <a:latin typeface="Times New Roman" panose="02020603050405020304" pitchFamily="18" charset="0"/>
              <a:ea typeface="Times New Roman" panose="02020603050405020304" pitchFamily="18" charset="0"/>
            </a:endParaRPr>
          </a:p>
          <a:p>
            <a:pPr algn="ctr"/>
            <a:endParaRPr lang="en-US" sz="800" b="1" i="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pic>
        <p:nvPicPr>
          <p:cNvPr id="12" name="Picture 11">
            <a:extLst>
              <a:ext uri="{FF2B5EF4-FFF2-40B4-BE49-F238E27FC236}">
                <a16:creationId xmlns:a16="http://schemas.microsoft.com/office/drawing/2014/main" id="{F2F9544D-C2C5-4B2E-A5D1-79CAC913C1B8}"/>
              </a:ext>
            </a:extLst>
          </p:cNvPr>
          <p:cNvPicPr/>
          <p:nvPr/>
        </p:nvPicPr>
        <p:blipFill>
          <a:blip r:embed="rId3"/>
          <a:stretch>
            <a:fillRect/>
          </a:stretch>
        </p:blipFill>
        <p:spPr>
          <a:xfrm>
            <a:off x="3841464" y="1641791"/>
            <a:ext cx="5065856" cy="2483568"/>
          </a:xfrm>
          <a:prstGeom prst="rect">
            <a:avLst/>
          </a:prstGeom>
        </p:spPr>
      </p:pic>
      <p:sp>
        <p:nvSpPr>
          <p:cNvPr id="5" name="Rectangle 1">
            <a:extLst>
              <a:ext uri="{FF2B5EF4-FFF2-40B4-BE49-F238E27FC236}">
                <a16:creationId xmlns:a16="http://schemas.microsoft.com/office/drawing/2014/main" id="{A021BBBC-9B84-47F3-8561-B13D55EFFF2A}"/>
              </a:ext>
            </a:extLst>
          </p:cNvPr>
          <p:cNvSpPr>
            <a:spLocks noGrp="1" noChangeArrowheads="1"/>
          </p:cNvSpPr>
          <p:nvPr>
            <p:ph type="subTitle" idx="1"/>
          </p:nvPr>
        </p:nvSpPr>
        <p:spPr bwMode="auto">
          <a:xfrm>
            <a:off x="433388" y="1474878"/>
            <a:ext cx="340807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Mô hình Random Forest đạt </a:t>
            </a:r>
            <a:r>
              <a:rPr kumimoji="0" lang="en-US" altLang="en-US" sz="1200" b="1" i="0" u="none" strike="noStrike" cap="none" normalizeH="0" baseline="0">
                <a:ln>
                  <a:noFill/>
                </a:ln>
                <a:solidFill>
                  <a:schemeClr val="tx1"/>
                </a:solidFill>
                <a:effectLst/>
                <a:latin typeface="+mj-lt"/>
              </a:rPr>
              <a:t>R² = 0.433</a:t>
            </a:r>
            <a:r>
              <a:rPr kumimoji="0" lang="en-US" altLang="en-US" sz="1200" b="0" i="0" u="none" strike="noStrike" cap="none" normalizeH="0" baseline="0">
                <a:ln>
                  <a:noFill/>
                </a:ln>
                <a:solidFill>
                  <a:schemeClr val="tx1"/>
                </a:solidFill>
                <a:effectLst/>
                <a:latin typeface="+mj-lt"/>
              </a:rPr>
              <a:t>, cho thấy có khả năng giải thích </a:t>
            </a:r>
            <a:r>
              <a:rPr kumimoji="0" lang="en-US" altLang="en-US" sz="1200" b="1" i="0" u="none" strike="noStrike" cap="none" normalizeH="0" baseline="0">
                <a:ln>
                  <a:noFill/>
                </a:ln>
                <a:solidFill>
                  <a:schemeClr val="tx1"/>
                </a:solidFill>
                <a:effectLst/>
                <a:latin typeface="+mj-lt"/>
              </a:rPr>
              <a:t>một phần đáng kể nhưng chưa cao</a:t>
            </a:r>
            <a:r>
              <a:rPr kumimoji="0" lang="en-US" altLang="en-US" sz="1200" b="0" i="0" u="none" strike="noStrike" cap="none" normalizeH="0" baseline="0">
                <a:ln>
                  <a:noFill/>
                </a:ln>
                <a:solidFill>
                  <a:schemeClr val="tx1"/>
                </a:solidFill>
                <a:effectLst/>
                <a:latin typeface="+mj-lt"/>
              </a:rPr>
              <a:t> biến thiên của mức lương từ thông tin tuyển dụng.</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a:ln>
                  <a:noFill/>
                </a:ln>
                <a:solidFill>
                  <a:schemeClr val="tx1"/>
                </a:solidFill>
                <a:effectLst/>
                <a:latin typeface="+mj-lt"/>
              </a:rPr>
              <a:t>MAE ≈ 27.6k USD</a:t>
            </a:r>
            <a:r>
              <a:rPr kumimoji="0" lang="en-US" altLang="en-US" sz="1200" b="0" i="0" u="none" strike="noStrike" cap="none" normalizeH="0" baseline="0">
                <a:ln>
                  <a:noFill/>
                </a:ln>
                <a:solidFill>
                  <a:schemeClr val="tx1"/>
                </a:solidFill>
                <a:effectLst/>
                <a:latin typeface="+mj-lt"/>
              </a:rPr>
              <a:t> và </a:t>
            </a:r>
            <a:r>
              <a:rPr kumimoji="0" lang="en-US" altLang="en-US" sz="1200" b="1" i="0" u="none" strike="noStrike" cap="none" normalizeH="0" baseline="0">
                <a:ln>
                  <a:noFill/>
                </a:ln>
                <a:solidFill>
                  <a:schemeClr val="tx1"/>
                </a:solidFill>
                <a:effectLst/>
                <a:latin typeface="+mj-lt"/>
              </a:rPr>
              <a:t>RMSE ≈ 43.0k USD</a:t>
            </a:r>
            <a:r>
              <a:rPr kumimoji="0" lang="en-US" altLang="en-US" sz="1200" b="0" i="0" u="none" strike="noStrike" cap="none" normalizeH="0" baseline="0">
                <a:ln>
                  <a:noFill/>
                </a:ln>
                <a:solidFill>
                  <a:schemeClr val="tx1"/>
                </a:solidFill>
                <a:effectLst/>
                <a:latin typeface="+mj-lt"/>
              </a:rPr>
              <a:t> phản ánh sai số dự đoán còn tương đối lớn, đặc biệt với các vị trí lương cao.</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Biểu đồ </a:t>
            </a:r>
            <a:r>
              <a:rPr kumimoji="0" lang="en-US" altLang="en-US" sz="1200" b="0" i="1" u="none" strike="noStrike" cap="none" normalizeH="0" baseline="0">
                <a:ln>
                  <a:noFill/>
                </a:ln>
                <a:solidFill>
                  <a:schemeClr val="tx1"/>
                </a:solidFill>
                <a:effectLst/>
                <a:latin typeface="+mj-lt"/>
              </a:rPr>
              <a:t>Actual vs. Predicted</a:t>
            </a:r>
            <a:r>
              <a:rPr kumimoji="0" lang="en-US" altLang="en-US" sz="1200" b="0" i="0" u="none" strike="noStrike" cap="none" normalizeH="0" baseline="0">
                <a:ln>
                  <a:noFill/>
                </a:ln>
                <a:solidFill>
                  <a:schemeClr val="tx1"/>
                </a:solidFill>
                <a:effectLst/>
                <a:latin typeface="+mj-lt"/>
              </a:rPr>
              <a:t> cho thấy mô hình </a:t>
            </a:r>
            <a:r>
              <a:rPr kumimoji="0" lang="en-US" altLang="en-US" sz="1200" b="1" i="0" u="none" strike="noStrike" cap="none" normalizeH="0" baseline="0">
                <a:ln>
                  <a:noFill/>
                </a:ln>
                <a:solidFill>
                  <a:schemeClr val="tx1"/>
                </a:solidFill>
                <a:effectLst/>
                <a:latin typeface="+mj-lt"/>
              </a:rPr>
              <a:t>dự đoán tốt hơn ở dải lương trung bình</a:t>
            </a:r>
            <a:r>
              <a:rPr kumimoji="0" lang="en-US" altLang="en-US" sz="1200" b="0" i="0" u="none" strike="noStrike" cap="none" normalizeH="0" baseline="0">
                <a:ln>
                  <a:noFill/>
                </a:ln>
                <a:solidFill>
                  <a:schemeClr val="tx1"/>
                </a:solidFill>
                <a:effectLst/>
                <a:latin typeface="+mj-lt"/>
              </a:rPr>
              <a:t>, nhưng có xu hướng </a:t>
            </a:r>
            <a:r>
              <a:rPr kumimoji="0" lang="en-US" altLang="en-US" sz="1200" b="1" i="0" u="none" strike="noStrike" cap="none" normalizeH="0" baseline="0">
                <a:ln>
                  <a:noFill/>
                </a:ln>
                <a:solidFill>
                  <a:schemeClr val="tx1"/>
                </a:solidFill>
                <a:effectLst/>
                <a:latin typeface="+mj-lt"/>
              </a:rPr>
              <a:t>đánh giá thấp các mức lương rất cao</a:t>
            </a:r>
            <a:r>
              <a:rPr kumimoji="0" lang="en-US" altLang="en-US" sz="1200" b="0" i="0" u="none" strike="noStrike" cap="none" normalizeH="0" baseline="0">
                <a:ln>
                  <a:noFill/>
                </a:ln>
                <a:solidFill>
                  <a:schemeClr val="tx1"/>
                </a:solidFill>
                <a:effectLst/>
                <a:latin typeface="+mj-lt"/>
              </a:rPr>
              <a:t> (điểm nằm dưới đường dự đoán hoàn hảo).</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latin typeface="+mj-lt"/>
              </a:rPr>
              <a:t>Kết quả phù hợp với mục tiêu </a:t>
            </a:r>
            <a:r>
              <a:rPr kumimoji="0" lang="en-US" altLang="en-US" sz="1200" b="1" i="0" u="none" strike="noStrike" cap="none" normalizeH="0" baseline="0">
                <a:ln>
                  <a:noFill/>
                </a:ln>
                <a:solidFill>
                  <a:schemeClr val="tx1"/>
                </a:solidFill>
                <a:effectLst/>
                <a:latin typeface="+mj-lt"/>
              </a:rPr>
              <a:t>phân tích khám phá</a:t>
            </a:r>
            <a:r>
              <a:rPr kumimoji="0" lang="en-US" altLang="en-US" sz="1200" b="0" i="0" u="none" strike="noStrike" cap="none" normalizeH="0" baseline="0">
                <a:ln>
                  <a:noFill/>
                </a:ln>
                <a:solidFill>
                  <a:schemeClr val="tx1"/>
                </a:solidFill>
                <a:effectLst/>
                <a:latin typeface="+mj-lt"/>
              </a:rPr>
              <a:t>: dữ liệu JD cung cấp tín hiệu hữu ích cho dự đoán lương, nhưng </a:t>
            </a:r>
            <a:r>
              <a:rPr kumimoji="0" lang="en-US" altLang="en-US" sz="1200" b="1" i="0" u="none" strike="noStrike" cap="none" normalizeH="0" baseline="0">
                <a:ln>
                  <a:noFill/>
                </a:ln>
                <a:solidFill>
                  <a:schemeClr val="tx1"/>
                </a:solidFill>
                <a:effectLst/>
                <a:latin typeface="+mj-lt"/>
              </a:rPr>
              <a:t>chưa đủ để dự đoán chính xác tuyệt đối</a:t>
            </a:r>
            <a:r>
              <a:rPr kumimoji="0" lang="en-US" altLang="en-US" sz="1200" b="0" i="0" u="none" strike="noStrike" cap="none" normalizeH="0" baseline="0">
                <a:ln>
                  <a:noFill/>
                </a:ln>
                <a:solidFill>
                  <a:schemeClr val="tx1"/>
                </a:solidFill>
                <a:effectLst/>
                <a:latin typeface="+mj-lt"/>
              </a:rPr>
              <a:t>, do thiếu các yếu tố như kỹ năng chi tiết, hiệu quả cá nhân và bối cảnh thị trường.</a:t>
            </a:r>
          </a:p>
        </p:txBody>
      </p:sp>
    </p:spTree>
    <p:extLst>
      <p:ext uri="{BB962C8B-B14F-4D97-AF65-F5344CB8AC3E}">
        <p14:creationId xmlns:p14="http://schemas.microsoft.com/office/powerpoint/2010/main" val="1281153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sz="1400"/>
              <a:t>25</a:t>
            </a:fld>
            <a:endParaRPr sz="1400" dirty="0"/>
          </a:p>
        </p:txBody>
      </p:sp>
      <p:sp>
        <p:nvSpPr>
          <p:cNvPr id="341" name="Google Shape;341;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4. </a:t>
            </a:r>
            <a:r>
              <a:rPr lang="en-US" dirty="0" err="1"/>
              <a:t>Kết</a:t>
            </a:r>
            <a:r>
              <a:rPr lang="en-US" dirty="0"/>
              <a:t> </a:t>
            </a:r>
            <a:r>
              <a:rPr lang="en-US" dirty="0" err="1"/>
              <a:t>quả</a:t>
            </a:r>
            <a:r>
              <a:rPr lang="en-US" dirty="0"/>
              <a:t> </a:t>
            </a:r>
            <a:r>
              <a:rPr lang="en-US" dirty="0" err="1"/>
              <a:t>thực</a:t>
            </a:r>
            <a:r>
              <a:rPr lang="en-US" dirty="0"/>
              <a:t> </a:t>
            </a:r>
            <a:r>
              <a:rPr lang="en-US" dirty="0" err="1"/>
              <a:t>nghiệm</a:t>
            </a:r>
            <a:r>
              <a:rPr lang="en-US" dirty="0"/>
              <a:t> </a:t>
            </a:r>
            <a:r>
              <a:rPr lang="en-US" dirty="0" err="1"/>
              <a:t>và</a:t>
            </a:r>
            <a:r>
              <a:rPr lang="en-US" dirty="0"/>
              <a:t> </a:t>
            </a:r>
            <a:r>
              <a:rPr lang="en-US" dirty="0" err="1"/>
              <a:t>phân</a:t>
            </a:r>
            <a:r>
              <a:rPr lang="en-US" dirty="0"/>
              <a:t> </a:t>
            </a:r>
            <a:r>
              <a:rPr lang="en-US" dirty="0" err="1"/>
              <a:t>tích</a:t>
            </a:r>
            <a:endParaRPr dirty="0"/>
          </a:p>
        </p:txBody>
      </p:sp>
      <p:sp>
        <p:nvSpPr>
          <p:cNvPr id="343" name="Google Shape;343;p33"/>
          <p:cNvSpPr txBox="1">
            <a:spLocks noGrp="1"/>
          </p:cNvSpPr>
          <p:nvPr>
            <p:ph type="subTitle" idx="2"/>
          </p:nvPr>
        </p:nvSpPr>
        <p:spPr>
          <a:xfrm flipH="1">
            <a:off x="8039063" y="490025"/>
            <a:ext cx="769874"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 name="Google Shape;344;p33"/>
          <p:cNvSpPr txBox="1">
            <a:spLocks noGrp="1"/>
          </p:cNvSpPr>
          <p:nvPr>
            <p:ph type="subTitle" idx="3"/>
          </p:nvPr>
        </p:nvSpPr>
        <p:spPr>
          <a:xfrm>
            <a:off x="8039063" y="521466"/>
            <a:ext cx="708161" cy="419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endParaRPr dirty="0"/>
          </a:p>
        </p:txBody>
      </p:sp>
      <p:sp>
        <p:nvSpPr>
          <p:cNvPr id="345" name="Google Shape;345;p33"/>
          <p:cNvSpPr txBox="1">
            <a:spLocks noGrp="1"/>
          </p:cNvSpPr>
          <p:nvPr>
            <p:ph type="subTitle" idx="4"/>
          </p:nvPr>
        </p:nvSpPr>
        <p:spPr>
          <a:xfrm>
            <a:off x="335063" y="1017725"/>
            <a:ext cx="4849679" cy="457153"/>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err="1"/>
              <a:t>Kết</a:t>
            </a:r>
            <a:r>
              <a:rPr lang="en-US" sz="1400" dirty="0"/>
              <a:t> </a:t>
            </a:r>
            <a:r>
              <a:rPr lang="en-US" sz="1400" dirty="0" err="1"/>
              <a:t>quả</a:t>
            </a:r>
            <a:r>
              <a:rPr lang="en-US" sz="1400" dirty="0"/>
              <a:t> RQ3 (</a:t>
            </a:r>
            <a:r>
              <a:rPr lang="en-US" sz="1400" dirty="0" err="1"/>
              <a:t>Phân</a:t>
            </a:r>
            <a:r>
              <a:rPr lang="en-US" sz="1400" dirty="0"/>
              <a:t> </a:t>
            </a:r>
            <a:r>
              <a:rPr lang="en-US" sz="1400" dirty="0" err="1"/>
              <a:t>tích</a:t>
            </a:r>
            <a:r>
              <a:rPr lang="en-US" sz="1400" dirty="0"/>
              <a:t> </a:t>
            </a:r>
            <a:r>
              <a:rPr lang="en-US" sz="1400" dirty="0" err="1"/>
              <a:t>các</a:t>
            </a:r>
            <a:r>
              <a:rPr lang="en-US" sz="1400" dirty="0"/>
              <a:t> </a:t>
            </a:r>
            <a:r>
              <a:rPr lang="en-US" sz="1400" dirty="0" err="1"/>
              <a:t>yếu</a:t>
            </a:r>
            <a:r>
              <a:rPr lang="en-US" sz="1400" dirty="0"/>
              <a:t> </a:t>
            </a:r>
            <a:r>
              <a:rPr lang="en-US" sz="1400" dirty="0" err="1"/>
              <a:t>tố</a:t>
            </a:r>
            <a:r>
              <a:rPr lang="en-US" sz="1400" dirty="0"/>
              <a:t> </a:t>
            </a:r>
            <a:r>
              <a:rPr lang="en-US" sz="1400" dirty="0" err="1"/>
              <a:t>quyết</a:t>
            </a:r>
            <a:r>
              <a:rPr lang="en-US" sz="1400" dirty="0"/>
              <a:t> </a:t>
            </a:r>
            <a:r>
              <a:rPr lang="en-US" sz="1400" dirty="0" err="1"/>
              <a:t>định</a:t>
            </a:r>
            <a:r>
              <a:rPr lang="en-US" sz="1400" dirty="0"/>
              <a:t> </a:t>
            </a:r>
            <a:r>
              <a:rPr lang="en-US" sz="1400" dirty="0" err="1"/>
              <a:t>lương</a:t>
            </a:r>
            <a:r>
              <a:rPr lang="en-US" sz="1400" dirty="0"/>
              <a:t>)</a:t>
            </a:r>
          </a:p>
        </p:txBody>
      </p:sp>
      <p:sp>
        <p:nvSpPr>
          <p:cNvPr id="4" name="TextBox 3">
            <a:extLst>
              <a:ext uri="{FF2B5EF4-FFF2-40B4-BE49-F238E27FC236}">
                <a16:creationId xmlns:a16="http://schemas.microsoft.com/office/drawing/2014/main" id="{E761789C-A483-4AAD-A77F-FF66E8681925}"/>
              </a:ext>
            </a:extLst>
          </p:cNvPr>
          <p:cNvSpPr txBox="1"/>
          <p:nvPr/>
        </p:nvSpPr>
        <p:spPr>
          <a:xfrm>
            <a:off x="3807120" y="4283480"/>
            <a:ext cx="5065856" cy="338554"/>
          </a:xfrm>
          <a:prstGeom prst="rect">
            <a:avLst/>
          </a:prstGeom>
          <a:noFill/>
        </p:spPr>
        <p:txBody>
          <a:bodyPr wrap="square" rtlCol="0">
            <a:spAutoFit/>
          </a:bodyPr>
          <a:lstStyle/>
          <a:p>
            <a:pPr algn="ctr"/>
            <a:r>
              <a:rPr lang="en-US" sz="800" b="1" i="1" dirty="0" err="1">
                <a:effectLst/>
                <a:latin typeface="Times New Roman" panose="02020603050405020304" pitchFamily="18" charset="0"/>
                <a:ea typeface="Times New Roman" panose="02020603050405020304" pitchFamily="18" charset="0"/>
              </a:rPr>
              <a:t>Hình</a:t>
            </a:r>
            <a:r>
              <a:rPr lang="en-US" sz="800" b="1" i="1" dirty="0">
                <a:effectLst/>
                <a:latin typeface="Times New Roman" panose="02020603050405020304" pitchFamily="18" charset="0"/>
                <a:ea typeface="Times New Roman" panose="02020603050405020304" pitchFamily="18" charset="0"/>
              </a:rPr>
              <a:t> </a:t>
            </a:r>
            <a:r>
              <a:rPr lang="en-US" sz="800" b="1" i="1" dirty="0">
                <a:latin typeface="Times New Roman" panose="02020603050405020304" pitchFamily="18" charset="0"/>
                <a:ea typeface="Times New Roman" panose="02020603050405020304" pitchFamily="18" charset="0"/>
              </a:rPr>
              <a:t>20</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Biểu</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đồ</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các</a:t>
            </a:r>
            <a:r>
              <a:rPr lang="en-US" sz="800" b="1" i="1" dirty="0">
                <a:effectLst/>
                <a:latin typeface="Times New Roman" panose="02020603050405020304" pitchFamily="18" charset="0"/>
                <a:ea typeface="Times New Roman" panose="02020603050405020304" pitchFamily="18" charset="0"/>
              </a:rPr>
              <a:t> feature </a:t>
            </a:r>
            <a:r>
              <a:rPr lang="en-US" sz="800" b="1" i="1" dirty="0" err="1">
                <a:effectLst/>
                <a:latin typeface="Times New Roman" panose="02020603050405020304" pitchFamily="18" charset="0"/>
                <a:ea typeface="Times New Roman" panose="02020603050405020304" pitchFamily="18" charset="0"/>
              </a:rPr>
              <a:t>quan</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trọng</a:t>
            </a:r>
            <a:r>
              <a:rPr lang="en-US" sz="800" b="1" i="1" dirty="0">
                <a:effectLst/>
                <a:latin typeface="Times New Roman" panose="02020603050405020304" pitchFamily="18" charset="0"/>
                <a:ea typeface="Times New Roman" panose="02020603050405020304" pitchFamily="18" charset="0"/>
              </a:rPr>
              <a:t> </a:t>
            </a:r>
            <a:r>
              <a:rPr lang="en-US" sz="800" b="1" i="1" dirty="0" err="1">
                <a:effectLst/>
                <a:latin typeface="Times New Roman" panose="02020603050405020304" pitchFamily="18" charset="0"/>
                <a:ea typeface="Times New Roman" panose="02020603050405020304" pitchFamily="18" charset="0"/>
              </a:rPr>
              <a:t>nhất</a:t>
            </a:r>
            <a:endParaRPr lang="en-US" sz="800" b="1" dirty="0">
              <a:effectLst/>
              <a:latin typeface="Times New Roman" panose="02020603050405020304" pitchFamily="18" charset="0"/>
              <a:ea typeface="Times New Roman" panose="02020603050405020304" pitchFamily="18" charset="0"/>
            </a:endParaRPr>
          </a:p>
          <a:p>
            <a:pPr algn="ctr"/>
            <a:endParaRPr lang="en-US" sz="800" b="1" i="1" dirty="0">
              <a:latin typeface="+mn-lt"/>
            </a:endParaRPr>
          </a:p>
        </p:txBody>
      </p:sp>
      <p:sp>
        <p:nvSpPr>
          <p:cNvPr id="2" name="Rectangle 1">
            <a:extLst>
              <a:ext uri="{FF2B5EF4-FFF2-40B4-BE49-F238E27FC236}">
                <a16:creationId xmlns:a16="http://schemas.microsoft.com/office/drawing/2014/main" id="{AA4140C2-E7FB-4748-9296-B003970DA061}"/>
              </a:ext>
            </a:extLst>
          </p:cNvPr>
          <p:cNvSpPr>
            <a:spLocks noChangeArrowheads="1"/>
          </p:cNvSpPr>
          <p:nvPr/>
        </p:nvSpPr>
        <p:spPr bwMode="auto">
          <a:xfrm>
            <a:off x="0" y="-138500"/>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p:txBody>
      </p:sp>
      <p:sp>
        <p:nvSpPr>
          <p:cNvPr id="5" name="Rectangle 1">
            <a:extLst>
              <a:ext uri="{FF2B5EF4-FFF2-40B4-BE49-F238E27FC236}">
                <a16:creationId xmlns:a16="http://schemas.microsoft.com/office/drawing/2014/main" id="{C0DAF2A9-B3A3-4AC1-822A-9B7890A4AFA9}"/>
              </a:ext>
            </a:extLst>
          </p:cNvPr>
          <p:cNvSpPr>
            <a:spLocks noGrp="1" noChangeArrowheads="1"/>
          </p:cNvSpPr>
          <p:nvPr>
            <p:ph type="subTitle" idx="1"/>
          </p:nvPr>
        </p:nvSpPr>
        <p:spPr bwMode="auto">
          <a:xfrm>
            <a:off x="399358" y="1353355"/>
            <a:ext cx="340776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Thâm</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niên</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là</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yếu</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tố</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số</a:t>
            </a:r>
            <a:r>
              <a:rPr kumimoji="0" lang="en-US" altLang="en-US" sz="1200" b="1" i="0" u="none" strike="noStrike" cap="none" normalizeH="0" baseline="0" dirty="0">
                <a:ln>
                  <a:noFill/>
                </a:ln>
                <a:solidFill>
                  <a:schemeClr val="tx1"/>
                </a:solidFill>
                <a:effectLst/>
                <a:latin typeface="+mn-lt"/>
              </a:rPr>
              <a:t> 1:</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Biểu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đồ</a:t>
            </a:r>
            <a:r>
              <a:rPr kumimoji="0" lang="en-US" altLang="en-US" sz="1200" b="0" i="0" u="none" strike="noStrike" cap="none" normalizeH="0" baseline="0" dirty="0">
                <a:ln>
                  <a:noFill/>
                </a:ln>
                <a:solidFill>
                  <a:schemeClr val="tx1"/>
                </a:solidFill>
                <a:effectLst/>
                <a:latin typeface="+mn-lt"/>
              </a:rPr>
              <a:t> Feature Importance </a:t>
            </a:r>
            <a:r>
              <a:rPr kumimoji="0" lang="en-US" altLang="en-US" sz="1200" b="0" i="0" u="none" strike="noStrike" cap="none" normalizeH="0" baseline="0" err="1">
                <a:ln>
                  <a:noFill/>
                </a:ln>
                <a:solidFill>
                  <a:schemeClr val="tx1"/>
                </a:solidFill>
                <a:effectLst/>
                <a:latin typeface="+mn-lt"/>
              </a:rPr>
              <a:t>khẳng</a:t>
            </a:r>
            <a:r>
              <a:rPr kumimoji="0" lang="en-US" altLang="en-US" sz="1200" b="0" i="0" u="none" strike="noStrike" cap="none" normalizeH="0" baseline="0">
                <a:ln>
                  <a:noFill/>
                </a:ln>
                <a:solidFill>
                  <a:schemeClr val="tx1"/>
                </a:solidFill>
                <a:effectLst/>
                <a:latin typeface="+mn-lt"/>
              </a:rPr>
              <a:t> định formatted</a:t>
            </a:r>
            <a:r>
              <a:rPr kumimoji="0" lang="en-US" altLang="en-US" sz="1200" b="0" i="0" u="none" strike="noStrike" cap="none" normalizeH="0" baseline="0" dirty="0" err="1">
                <a:ln>
                  <a:noFill/>
                </a:ln>
                <a:solidFill>
                  <a:schemeClr val="tx1"/>
                </a:solidFill>
                <a:effectLst/>
                <a:latin typeface="+mn-lt"/>
              </a:rPr>
              <a:t>_experience_</a:t>
            </a:r>
            <a:r>
              <a:rPr kumimoji="0" lang="en-US" altLang="en-US" sz="1200" b="0" i="0" u="none" strike="noStrike" cap="none" normalizeH="0" baseline="0" err="1">
                <a:ln>
                  <a:noFill/>
                </a:ln>
                <a:solidFill>
                  <a:schemeClr val="tx1"/>
                </a:solidFill>
                <a:effectLst/>
                <a:latin typeface="+mn-lt"/>
              </a:rPr>
              <a:t>level</a:t>
            </a:r>
            <a:r>
              <a:rPr kumimoji="0" lang="en-US" altLang="en-US" sz="1200" b="0" i="0" u="none" strike="noStrike" cap="none" normalizeH="0" baseline="0">
                <a:ln>
                  <a:noFill/>
                </a:ln>
                <a:solidFill>
                  <a:schemeClr val="tx1"/>
                </a:solidFill>
                <a:effectLst/>
                <a:latin typeface="+mn-lt"/>
              </a:rPr>
              <a:t> là thanh </a:t>
            </a:r>
            <a:r>
              <a:rPr kumimoji="0" lang="en-US" altLang="en-US" sz="1200" b="0" i="0" u="none" strike="noStrike" cap="none" normalizeH="0" baseline="0" dirty="0" err="1">
                <a:ln>
                  <a:noFill/>
                </a:ln>
                <a:solidFill>
                  <a:schemeClr val="tx1"/>
                </a:solidFill>
                <a:effectLst/>
                <a:latin typeface="+mn-lt"/>
              </a:rPr>
              <a:t>dài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nhất</a:t>
            </a:r>
            <a:r>
              <a:rPr kumimoji="0" lang="en-US" altLang="en-US" sz="1200" b="0" i="0" u="none" strike="noStrike" cap="none" normalizeH="0" baseline="0" dirty="0">
                <a:ln>
                  <a:noFill/>
                </a:ln>
                <a:solidFill>
                  <a:schemeClr val="tx1"/>
                </a:solidFill>
                <a:effectLst/>
                <a:latin typeface="+mn-lt"/>
              </a:rPr>
              <a:t>, chi </a:t>
            </a:r>
            <a:r>
              <a:rPr kumimoji="0" lang="en-US" altLang="en-US" sz="1200" b="0" i="0" u="none" strike="noStrike" cap="none" normalizeH="0" baseline="0" dirty="0" err="1">
                <a:ln>
                  <a:noFill/>
                </a:ln>
                <a:solidFill>
                  <a:schemeClr val="tx1"/>
                </a:solidFill>
                <a:effectLst/>
                <a:latin typeface="+mn-lt"/>
              </a:rPr>
              <a:t>phối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mạnh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mẽ</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nhất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đến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mức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lương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Kinh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nghiệm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tích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lũy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vẫn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thước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giá</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trị</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chính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yếu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nhất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trên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thị</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trường</a:t>
            </a:r>
            <a:r>
              <a:rPr kumimoji="0" lang="en-US" altLang="en-US" sz="1200" b="0" i="0" u="none" strike="noStrike" cap="none" normalizeH="0" baseline="0" dirty="0">
                <a:ln>
                  <a:noFill/>
                </a:ln>
                <a:solidFill>
                  <a:schemeClr val="tx1"/>
                </a:solidFill>
                <a:effectLst/>
                <a:latin typeface="+mn-lt"/>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Tác</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động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của</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Thương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hiệu</a:t>
            </a:r>
            <a:r>
              <a:rPr kumimoji="0" lang="en-US" altLang="en-US" sz="1200" b="1" i="0" u="none" strike="noStrike" cap="none" normalizeH="0" baseline="0" dirty="0">
                <a:ln>
                  <a:noFill/>
                </a:ln>
                <a:solidFill>
                  <a:schemeClr val="tx1"/>
                </a:solidFill>
                <a:effectLst/>
                <a:latin typeface="+mn-lt"/>
              </a:rPr>
              <a:t> &amp; </a:t>
            </a:r>
            <a:r>
              <a:rPr kumimoji="0" lang="en-US" altLang="en-US" sz="1200" b="1" i="0" u="none" strike="noStrike" cap="none" normalizeH="0" baseline="0" dirty="0" err="1">
                <a:ln>
                  <a:noFill/>
                </a:ln>
                <a:solidFill>
                  <a:schemeClr val="tx1"/>
                </a:solidFill>
                <a:effectLst/>
                <a:latin typeface="+mn-lt"/>
              </a:rPr>
              <a:t>Quy</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mô</a:t>
            </a:r>
            <a:r>
              <a:rPr kumimoji="0" lang="en-US" altLang="en-US" sz="1200" b="1" i="0" u="none" strike="noStrike" cap="none" normalizeH="0" baseline="0" dirty="0">
                <a:ln>
                  <a:noFill/>
                </a:ln>
                <a:solidFill>
                  <a:schemeClr val="tx1"/>
                </a:solidFill>
                <a:effectLst/>
                <a:latin typeface="+mn-lt"/>
              </a:rPr>
              <a: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biến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về</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công</a:t>
            </a:r>
            <a:r>
              <a:rPr kumimoji="0" lang="en-US" altLang="en-US" sz="1200" b="0" i="0" u="none" strike="noStrike" cap="none" normalizeH="0" baseline="0" dirty="0">
                <a:ln>
                  <a:noFill/>
                </a:ln>
                <a:solidFill>
                  <a:schemeClr val="tx1"/>
                </a:solidFill>
                <a:effectLst/>
                <a:latin typeface="+mn-lt"/>
              </a:rPr>
              <a:t> ty (</a:t>
            </a:r>
            <a:r>
              <a:rPr kumimoji="0" lang="en-US" altLang="en-US" sz="1200" b="0" i="0" u="none" strike="noStrike" cap="none" normalizeH="0" baseline="0" dirty="0" err="1">
                <a:ln>
                  <a:noFill/>
                </a:ln>
                <a:solidFill>
                  <a:schemeClr val="tx1"/>
                </a:solidFill>
                <a:effectLst/>
                <a:latin typeface="+mn-lt"/>
              </a:rPr>
              <a:t>follower_count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employee_count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đứng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vị</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trí</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tiếp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theo.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Làm</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việc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tại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công</a:t>
            </a:r>
            <a:r>
              <a:rPr kumimoji="0" lang="en-US" altLang="en-US" sz="1200" b="0" i="0" u="none" strike="noStrike" cap="none" normalizeH="0" baseline="0" dirty="0">
                <a:ln>
                  <a:noFill/>
                </a:ln>
                <a:solidFill>
                  <a:schemeClr val="tx1"/>
                </a:solidFill>
                <a:effectLst/>
                <a:latin typeface="+mn-lt"/>
              </a:rPr>
              <a:t> ty </a:t>
            </a:r>
            <a:r>
              <a:rPr kumimoji="0" lang="en-US" altLang="en-US" sz="1200" b="0" i="0" u="none" strike="noStrike" cap="none" normalizeH="0" baseline="0" dirty="0" err="1">
                <a:ln>
                  <a:noFill/>
                </a:ln>
                <a:solidFill>
                  <a:schemeClr val="tx1"/>
                </a:solidFill>
                <a:effectLst/>
                <a:latin typeface="+mn-lt"/>
              </a:rPr>
              <a:t>lớn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có</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thương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hiệu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mạnh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trên</a:t>
            </a:r>
            <a:r>
              <a:rPr kumimoji="0" lang="en-US" altLang="en-US" sz="1200" b="0" i="0" u="none" strike="noStrike" cap="none" normalizeH="0" baseline="0" dirty="0">
                <a:ln>
                  <a:noFill/>
                </a:ln>
                <a:solidFill>
                  <a:schemeClr val="tx1"/>
                </a:solidFill>
                <a:effectLst/>
                <a:latin typeface="+mn-lt"/>
              </a:rPr>
              <a:t> LinkedIn </a:t>
            </a:r>
            <a:r>
              <a:rPr kumimoji="0" lang="en-US" altLang="en-US" sz="1200" b="0" i="0" u="none" strike="noStrike" cap="none" normalizeH="0" baseline="0" dirty="0" err="1">
                <a:ln>
                  <a:noFill/>
                </a:ln>
                <a:solidFill>
                  <a:schemeClr val="tx1"/>
                </a:solidFill>
                <a:effectLst/>
                <a:latin typeface="+mn-lt"/>
              </a:rPr>
              <a:t>đồng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nghĩa</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với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cơ</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hội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nhập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cao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hơn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đáng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kể</a:t>
            </a:r>
            <a:r>
              <a:rPr kumimoji="0" lang="en-US" altLang="en-US" sz="1200" b="0" i="0" u="none" strike="noStrike" cap="none" normalizeH="0" baseline="0" dirty="0">
                <a:ln>
                  <a:noFill/>
                </a:ln>
                <a:solidFill>
                  <a:schemeClr val="tx1"/>
                </a:solidFill>
                <a:effectLst/>
                <a:latin typeface="+mn-lt"/>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mn-lt"/>
              </a:rPr>
              <a:t>Độ</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phức</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tạp</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công</a:t>
            </a:r>
            <a:r>
              <a:rPr kumimoji="0" lang="en-US" altLang="en-US" sz="1200" b="1" i="0" u="none" strike="noStrike" cap="none" normalizeH="0" baseline="0" dirty="0">
                <a:ln>
                  <a:noFill/>
                </a:ln>
                <a:solidFill>
                  <a:schemeClr val="tx1"/>
                </a:solidFill>
                <a:effectLst/>
                <a:latin typeface="+mn-lt"/>
              </a:rPr>
              <a:t> </a:t>
            </a:r>
            <a:r>
              <a:rPr kumimoji="0" lang="en-US" altLang="en-US" sz="1200" b="1" i="0" u="none" strike="noStrike" cap="none" normalizeH="0" baseline="0" dirty="0" err="1">
                <a:ln>
                  <a:noFill/>
                </a:ln>
                <a:solidFill>
                  <a:schemeClr val="tx1"/>
                </a:solidFill>
                <a:effectLst/>
                <a:latin typeface="+mn-lt"/>
              </a:rPr>
              <a:t>việc</a:t>
            </a:r>
            <a:r>
              <a:rPr kumimoji="0" lang="en-US" altLang="en-US" sz="1200" b="1" i="0" u="none" strike="noStrike" cap="none" normalizeH="0" baseline="0" dirty="0">
                <a:ln>
                  <a:noFill/>
                </a:ln>
                <a:solidFill>
                  <a:schemeClr val="tx1"/>
                </a:solidFill>
                <a:effectLst/>
                <a:latin typeface="+mn-lt"/>
              </a:rPr>
              <a: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Số</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lượng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kỹ</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năng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num_skills</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và</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độ</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dài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mô</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tả</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desc_len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cũng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đóng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góp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quan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trọng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Ngược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lại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các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yếu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tố</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hành</a:t>
            </a:r>
            <a:r>
              <a:rPr kumimoji="0" lang="en-US" altLang="en-US" sz="1200" b="0" i="0" u="none" strike="noStrike" cap="none" normalizeH="0" baseline="0" dirty="0">
                <a:ln>
                  <a:noFill/>
                </a:ln>
                <a:solidFill>
                  <a:schemeClr val="tx1"/>
                </a:solidFill>
                <a:effectLst/>
                <a:latin typeface="+mn-lt"/>
              </a:rPr>
              <a:t> vi </a:t>
            </a:r>
            <a:r>
              <a:rPr kumimoji="0" lang="en-US" altLang="en-US" sz="1200" b="0" i="0" u="none" strike="noStrike" cap="none" normalizeH="0" baseline="0" dirty="0" err="1">
                <a:ln>
                  <a:noFill/>
                </a:ln>
                <a:solidFill>
                  <a:schemeClr val="tx1"/>
                </a:solidFill>
                <a:effectLst/>
                <a:latin typeface="+mn-lt"/>
              </a:rPr>
              <a:t>như</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lượt</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xem</a:t>
            </a:r>
            <a:r>
              <a:rPr kumimoji="0" lang="en-US" altLang="en-US" sz="1200" b="0" i="0" u="none" strike="noStrike" cap="none" normalizeH="0" baseline="0" dirty="0">
                <a:ln>
                  <a:noFill/>
                </a:ln>
                <a:solidFill>
                  <a:schemeClr val="tx1"/>
                </a:solidFill>
                <a:effectLst/>
                <a:latin typeface="+mn-lt"/>
              </a:rPr>
              <a:t> (views) hay </a:t>
            </a:r>
            <a:r>
              <a:rPr kumimoji="0" lang="en-US" altLang="en-US" sz="1200" b="0" i="0" u="none" strike="noStrike" cap="none" normalizeH="0" baseline="0" dirty="0" err="1">
                <a:ln>
                  <a:noFill/>
                </a:ln>
                <a:solidFill>
                  <a:schemeClr val="tx1"/>
                </a:solidFill>
                <a:effectLst/>
                <a:latin typeface="+mn-lt"/>
              </a:rPr>
              <a:t>nộp</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đơn</a:t>
            </a:r>
            <a:r>
              <a:rPr kumimoji="0" lang="en-US" altLang="en-US" sz="1200" b="0" i="0" u="none" strike="noStrike" cap="none" normalizeH="0" baseline="0" dirty="0">
                <a:ln>
                  <a:noFill/>
                </a:ln>
                <a:solidFill>
                  <a:schemeClr val="tx1"/>
                </a:solidFill>
                <a:effectLst/>
                <a:latin typeface="+mn-lt"/>
              </a:rPr>
              <a:t> (applies) </a:t>
            </a:r>
            <a:r>
              <a:rPr kumimoji="0" lang="en-US" altLang="en-US" sz="1200" b="0" i="0" u="none" strike="noStrike" cap="none" normalizeH="0" baseline="0" dirty="0" err="1">
                <a:ln>
                  <a:noFill/>
                </a:ln>
                <a:solidFill>
                  <a:schemeClr val="tx1"/>
                </a:solidFill>
                <a:effectLst/>
                <a:latin typeface="+mn-lt"/>
              </a:rPr>
              <a:t>nằm</a:t>
            </a:r>
            <a:r>
              <a:rPr kumimoji="0" lang="en-US" altLang="en-US" sz="1200" b="0" i="0" u="none" strike="noStrike" cap="none" normalizeH="0" baseline="0" dirty="0">
                <a:ln>
                  <a:noFill/>
                </a:ln>
                <a:solidFill>
                  <a:schemeClr val="tx1"/>
                </a:solidFill>
                <a:effectLst/>
                <a:latin typeface="+mn-lt"/>
              </a:rPr>
              <a:t> ở </a:t>
            </a:r>
            <a:r>
              <a:rPr kumimoji="0" lang="en-US" altLang="en-US" sz="1200" b="0" i="0" u="none" strike="noStrike" cap="none" normalizeH="0" baseline="0" dirty="0" err="1">
                <a:ln>
                  <a:noFill/>
                </a:ln>
                <a:solidFill>
                  <a:schemeClr val="tx1"/>
                </a:solidFill>
                <a:effectLst/>
                <a:latin typeface="+mn-lt"/>
              </a:rPr>
              <a:t>cuối</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biểu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đồ</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cho</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thấy</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chúng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không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ảnh</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hưởng</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đến</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cấu</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trúc</a:t>
            </a:r>
            <a:r>
              <a:rPr kumimoji="0" lang="en-US" altLang="en-US" sz="1200" b="0" i="0" u="none" strike="noStrike" cap="none" normalizeH="0" baseline="0" dirty="0">
                <a:ln>
                  <a:noFill/>
                </a:ln>
                <a:solidFill>
                  <a:schemeClr val="tx1"/>
                </a:solidFill>
                <a:effectLst/>
                <a:latin typeface="+mn-lt"/>
              </a:rPr>
              <a:t> </a:t>
            </a:r>
            <a:r>
              <a:rPr kumimoji="0" lang="en-US" altLang="en-US" sz="1200" b="0" i="0" u="none" strike="noStrike" cap="none" normalizeH="0" baseline="0" dirty="0" err="1">
                <a:ln>
                  <a:noFill/>
                </a:ln>
                <a:solidFill>
                  <a:schemeClr val="tx1"/>
                </a:solidFill>
                <a:effectLst/>
                <a:latin typeface="+mn-lt"/>
              </a:rPr>
              <a:t>lương</a:t>
            </a:r>
            <a:r>
              <a:rPr kumimoji="0" lang="en-US" altLang="en-US" sz="1200" b="0" i="0" u="none" strike="noStrike" cap="none" normalizeH="0" baseline="0" dirty="0">
                <a:ln>
                  <a:noFill/>
                </a:ln>
                <a:solidFill>
                  <a:schemeClr val="tx1"/>
                </a:solidFill>
                <a:effectLst/>
                <a:latin typeface="+mn-lt"/>
              </a:rPr>
              <a:t>.</a:t>
            </a:r>
          </a:p>
        </p:txBody>
      </p:sp>
      <p:pic>
        <p:nvPicPr>
          <p:cNvPr id="11" name="Picture 10">
            <a:extLst>
              <a:ext uri="{FF2B5EF4-FFF2-40B4-BE49-F238E27FC236}">
                <a16:creationId xmlns:a16="http://schemas.microsoft.com/office/drawing/2014/main" id="{07DA1F73-B381-417F-AB70-4BEB7A48730A}"/>
              </a:ext>
            </a:extLst>
          </p:cNvPr>
          <p:cNvPicPr/>
          <p:nvPr/>
        </p:nvPicPr>
        <p:blipFill>
          <a:blip r:embed="rId3"/>
          <a:stretch>
            <a:fillRect/>
          </a:stretch>
        </p:blipFill>
        <p:spPr>
          <a:xfrm>
            <a:off x="3871417" y="1474878"/>
            <a:ext cx="5065856" cy="2483568"/>
          </a:xfrm>
          <a:prstGeom prst="rect">
            <a:avLst/>
          </a:prstGeom>
        </p:spPr>
      </p:pic>
    </p:spTree>
    <p:extLst>
      <p:ext uri="{BB962C8B-B14F-4D97-AF65-F5344CB8AC3E}">
        <p14:creationId xmlns:p14="http://schemas.microsoft.com/office/powerpoint/2010/main" val="459481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40" name="Google Shape;740;p5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26</a:t>
            </a:fld>
            <a:endParaRPr/>
          </a:p>
        </p:txBody>
      </p:sp>
      <p:sp>
        <p:nvSpPr>
          <p:cNvPr id="731" name="Google Shape;731;p5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5. </a:t>
            </a:r>
            <a:r>
              <a:rPr lang="en-US" dirty="0" err="1"/>
              <a:t>Tổng</a:t>
            </a:r>
            <a:r>
              <a:rPr lang="en-US" dirty="0"/>
              <a:t> </a:t>
            </a:r>
            <a:r>
              <a:rPr lang="en-US" dirty="0" err="1"/>
              <a:t>kết</a:t>
            </a:r>
            <a:endParaRPr dirty="0"/>
          </a:p>
        </p:txBody>
      </p:sp>
      <p:sp>
        <p:nvSpPr>
          <p:cNvPr id="732" name="Google Shape;732;p53"/>
          <p:cNvSpPr txBox="1">
            <a:spLocks noGrp="1"/>
          </p:cNvSpPr>
          <p:nvPr>
            <p:ph type="subTitle" idx="1"/>
          </p:nvPr>
        </p:nvSpPr>
        <p:spPr>
          <a:xfrm>
            <a:off x="867495" y="1808371"/>
            <a:ext cx="2832525" cy="983738"/>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1000" dirty="0"/>
              <a:t> </a:t>
            </a:r>
            <a:r>
              <a:rPr lang="vi-VN" sz="1000" dirty="0"/>
              <a:t>Nghiên cứu đã vẽ nên bức tranh toàn cảnh: Một</a:t>
            </a:r>
            <a:r>
              <a:rPr lang="en-US" sz="1000" dirty="0"/>
              <a:t>  </a:t>
            </a:r>
            <a:r>
              <a:rPr lang="vi-VN" sz="1000" dirty="0"/>
              <a:t>công việc được định danh bằng nội dung chuyên</a:t>
            </a:r>
            <a:r>
              <a:rPr lang="en-US" sz="1000" dirty="0"/>
              <a:t> </a:t>
            </a:r>
            <a:r>
              <a:rPr lang="vi-VN" sz="1000" dirty="0"/>
              <a:t>môn (RQ1), đòi hỏi một gói kỹ năng phức hợp (RQ2) và được định giá dựa trên thâm niên cùng quy mô tổ chức (RQ3)</a:t>
            </a:r>
            <a:endParaRPr sz="1000" dirty="0"/>
          </a:p>
        </p:txBody>
      </p:sp>
      <p:sp>
        <p:nvSpPr>
          <p:cNvPr id="733" name="Google Shape;733;p53"/>
          <p:cNvSpPr txBox="1">
            <a:spLocks noGrp="1"/>
          </p:cNvSpPr>
          <p:nvPr>
            <p:ph type="subTitle" idx="2"/>
          </p:nvPr>
        </p:nvSpPr>
        <p:spPr>
          <a:xfrm>
            <a:off x="4956806" y="1808371"/>
            <a:ext cx="2832525" cy="105814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000" b="1" dirty="0"/>
              <a:t>Ý nghĩa thực tiễn:</a:t>
            </a:r>
            <a:r>
              <a:rPr lang="vi-VN" sz="1000" dirty="0"/>
              <a:t> Kết quả giúp ứng viên định hướng học tập theo </a:t>
            </a:r>
            <a:r>
              <a:rPr lang="en-US" sz="1000" dirty="0" err="1"/>
              <a:t>nhóm</a:t>
            </a:r>
            <a:r>
              <a:rPr lang="vi-VN" sz="1000" dirty="0"/>
              <a:t> kỹ năng thay vì học dàn trải. Đối với doanh nghiệp, đây là cơ sở dữ liệu để tối ưu hóa JD và xây dựng khung lương cạnh tranh dựa trên dữ liệu thực tế thay vì cảm tính .</a:t>
            </a:r>
            <a:endParaRPr sz="1000" dirty="0"/>
          </a:p>
        </p:txBody>
      </p:sp>
      <p:sp>
        <p:nvSpPr>
          <p:cNvPr id="734" name="Google Shape;734;p53"/>
          <p:cNvSpPr txBox="1">
            <a:spLocks noGrp="1"/>
          </p:cNvSpPr>
          <p:nvPr>
            <p:ph type="subTitle" idx="3"/>
          </p:nvPr>
        </p:nvSpPr>
        <p:spPr>
          <a:xfrm>
            <a:off x="8048106" y="589050"/>
            <a:ext cx="669524" cy="63862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736" name="Google Shape;736;p53"/>
          <p:cNvSpPr txBox="1">
            <a:spLocks noGrp="1"/>
          </p:cNvSpPr>
          <p:nvPr>
            <p:ph type="subTitle" idx="5"/>
          </p:nvPr>
        </p:nvSpPr>
        <p:spPr>
          <a:xfrm>
            <a:off x="867495" y="1068625"/>
            <a:ext cx="2832526" cy="73974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1600" dirty="0"/>
              <a:t>Mối liên kết chặt chẽ Nội dung - Kỹ năng - Lương</a:t>
            </a:r>
            <a:endParaRPr sz="1600" dirty="0"/>
          </a:p>
        </p:txBody>
      </p:sp>
      <p:sp>
        <p:nvSpPr>
          <p:cNvPr id="737" name="Google Shape;737;p53"/>
          <p:cNvSpPr txBox="1">
            <a:spLocks noGrp="1"/>
          </p:cNvSpPr>
          <p:nvPr>
            <p:ph type="subTitle" idx="6"/>
          </p:nvPr>
        </p:nvSpPr>
        <p:spPr>
          <a:xfrm>
            <a:off x="4956806" y="1057280"/>
            <a:ext cx="2832525" cy="75109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Ý </a:t>
            </a:r>
            <a:r>
              <a:rPr lang="en-US" dirty="0" err="1"/>
              <a:t>nghĩa</a:t>
            </a:r>
            <a:r>
              <a:rPr lang="en-US" dirty="0"/>
              <a:t> </a:t>
            </a:r>
            <a:r>
              <a:rPr lang="en-US" dirty="0" err="1"/>
              <a:t>thực</a:t>
            </a:r>
            <a:r>
              <a:rPr lang="en-US" dirty="0"/>
              <a:t> </a:t>
            </a:r>
            <a:r>
              <a:rPr lang="en-US" dirty="0" err="1"/>
              <a:t>tiễn</a:t>
            </a:r>
            <a:r>
              <a:rPr lang="en-US" dirty="0"/>
              <a:t>:</a:t>
            </a:r>
            <a:endParaRPr dirty="0"/>
          </a:p>
        </p:txBody>
      </p:sp>
      <p:sp>
        <p:nvSpPr>
          <p:cNvPr id="739" name="Google Shape;739;p53"/>
          <p:cNvSpPr txBox="1">
            <a:spLocks noGrp="1"/>
          </p:cNvSpPr>
          <p:nvPr>
            <p:ph type="subTitle" idx="8"/>
          </p:nvPr>
        </p:nvSpPr>
        <p:spPr>
          <a:xfrm>
            <a:off x="160256" y="2895743"/>
            <a:ext cx="8842342" cy="41848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t>Hướng</a:t>
            </a:r>
            <a:r>
              <a:rPr lang="en-US" dirty="0"/>
              <a:t> </a:t>
            </a:r>
            <a:r>
              <a:rPr lang="en-US" dirty="0" err="1"/>
              <a:t>phát</a:t>
            </a:r>
            <a:r>
              <a:rPr lang="en-US" dirty="0"/>
              <a:t> </a:t>
            </a:r>
            <a:r>
              <a:rPr lang="en-US" dirty="0" err="1"/>
              <a:t>triển</a:t>
            </a:r>
            <a:endParaRPr dirty="0"/>
          </a:p>
        </p:txBody>
      </p:sp>
      <p:sp>
        <p:nvSpPr>
          <p:cNvPr id="4" name="Rectangle 1">
            <a:extLst>
              <a:ext uri="{FF2B5EF4-FFF2-40B4-BE49-F238E27FC236}">
                <a16:creationId xmlns:a16="http://schemas.microsoft.com/office/drawing/2014/main" id="{9012FFE0-7ECE-420F-B265-9BBCA45D40B2}"/>
              </a:ext>
            </a:extLst>
          </p:cNvPr>
          <p:cNvSpPr>
            <a:spLocks noGrp="1" noChangeArrowheads="1"/>
          </p:cNvSpPr>
          <p:nvPr>
            <p:ph type="subTitle" idx="4"/>
          </p:nvPr>
        </p:nvSpPr>
        <p:spPr bwMode="auto">
          <a:xfrm>
            <a:off x="160338" y="3491081"/>
            <a:ext cx="884226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i="0" u="none" strike="noStrike" cap="none" normalizeH="0" baseline="0" dirty="0" err="1">
                <a:ln>
                  <a:noFill/>
                </a:ln>
                <a:solidFill>
                  <a:schemeClr val="tx1"/>
                </a:solidFill>
                <a:effectLst/>
                <a:latin typeface="+mn-lt"/>
              </a:rPr>
              <a:t>Ứng</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dụng</a:t>
            </a:r>
            <a:r>
              <a:rPr kumimoji="0" lang="en-US" altLang="en-US" sz="1000" i="0" u="none" strike="noStrike" cap="none" normalizeH="0" baseline="0" dirty="0">
                <a:ln>
                  <a:noFill/>
                </a:ln>
                <a:solidFill>
                  <a:schemeClr val="tx1"/>
                </a:solidFill>
                <a:effectLst/>
                <a:latin typeface="+mn-lt"/>
              </a:rPr>
              <a:t> Deep Learning (BERT/LLMs) </a:t>
            </a:r>
            <a:r>
              <a:rPr kumimoji="0" lang="en-US" altLang="en-US" sz="1000" b="0" i="0" u="none" strike="noStrike" cap="none" normalizeH="0" baseline="0" dirty="0" err="1">
                <a:ln>
                  <a:noFill/>
                </a:ln>
                <a:solidFill>
                  <a:schemeClr val="tx1"/>
                </a:solidFill>
                <a:effectLst/>
                <a:latin typeface="+mn-lt"/>
              </a:rPr>
              <a:t>Chuyển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từ</a:t>
            </a:r>
            <a:r>
              <a:rPr kumimoji="0" lang="en-US" altLang="en-US" sz="1000" b="0" i="0" u="none" strike="noStrike" cap="none" normalizeH="0" baseline="0" dirty="0">
                <a:ln>
                  <a:noFill/>
                </a:ln>
                <a:solidFill>
                  <a:schemeClr val="tx1"/>
                </a:solidFill>
                <a:effectLst/>
                <a:latin typeface="+mn-lt"/>
              </a:rPr>
              <a:t> TF-IDF sang </a:t>
            </a:r>
            <a:r>
              <a:rPr kumimoji="0" lang="en-US" altLang="en-US" sz="1000" b="0" i="0" u="none" strike="noStrike" cap="none" normalizeH="0" baseline="0" dirty="0" err="1">
                <a:ln>
                  <a:noFill/>
                </a:ln>
                <a:solidFill>
                  <a:schemeClr val="tx1"/>
                </a:solidFill>
                <a:effectLst/>
                <a:latin typeface="+mn-lt"/>
              </a:rPr>
              <a:t>các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mô</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hình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ngôn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ngữ</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lớn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để</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nắm</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bắt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chính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xác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ngữ</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nghĩa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và</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ngữ</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cảnh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phức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tạp</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của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mô</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tả</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công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việc</a:t>
            </a:r>
            <a:r>
              <a:rPr kumimoji="0" lang="en-US" altLang="en-US" sz="1000" b="0" i="0" u="none" strike="noStrike" cap="none" normalizeH="0" baseline="0" dirty="0">
                <a:ln>
                  <a:noFill/>
                </a:ln>
                <a:solidFill>
                  <a:schemeClr val="tx1"/>
                </a:solidFill>
                <a:effectLst/>
                <a:latin typeface="+mn-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i="0" u="none" strike="noStrike" cap="none" normalizeH="0" baseline="0" dirty="0" err="1">
                <a:ln>
                  <a:noFill/>
                </a:ln>
                <a:solidFill>
                  <a:schemeClr val="tx1"/>
                </a:solidFill>
                <a:effectLst/>
                <a:latin typeface="+mn-lt"/>
              </a:rPr>
              <a:t>Phân</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tích</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Chuỗi</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thời</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gian</a:t>
            </a:r>
            <a:r>
              <a:rPr kumimoji="0" lang="en-US" altLang="en-US" sz="1000" i="0" u="none" strike="noStrike" cap="none" normalizeH="0" baseline="0" dirty="0">
                <a:ln>
                  <a:noFill/>
                </a:ln>
                <a:solidFill>
                  <a:schemeClr val="tx1"/>
                </a:solidFill>
                <a:effectLst/>
                <a:latin typeface="+mn-lt"/>
              </a:rPr>
              <a:t> (Time-series)</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Mở</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rộng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thập</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dữ</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liệu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liên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tục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theo</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thời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gian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thực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để</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nhận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diện</a:t>
            </a:r>
            <a:r>
              <a:rPr kumimoji="0" lang="en-US" altLang="en-US" sz="1000" b="0" i="0" u="none" strike="noStrike" cap="none" normalizeH="0" baseline="0" dirty="0">
                <a:ln>
                  <a:noFill/>
                </a:ln>
                <a:solidFill>
                  <a:schemeClr val="tx1"/>
                </a:solidFill>
                <a:effectLst/>
                <a:latin typeface="+mn-lt"/>
              </a:rPr>
              <a:t> xu </a:t>
            </a:r>
            <a:r>
              <a:rPr kumimoji="0" lang="en-US" altLang="en-US" sz="1000" b="0" i="0" u="none" strike="noStrike" cap="none" normalizeH="0" baseline="0" dirty="0" err="1">
                <a:ln>
                  <a:noFill/>
                </a:ln>
                <a:solidFill>
                  <a:schemeClr val="tx1"/>
                </a:solidFill>
                <a:effectLst/>
                <a:latin typeface="+mn-lt"/>
              </a:rPr>
              <a:t>hướng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và</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dự</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báo</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sự</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thay</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đổi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của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cầu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i="0" u="none" strike="noStrike" cap="none" normalizeH="0" baseline="0" dirty="0" err="1">
                <a:ln>
                  <a:noFill/>
                </a:ln>
                <a:solidFill>
                  <a:schemeClr val="tx1"/>
                </a:solidFill>
                <a:effectLst/>
                <a:latin typeface="+mn-lt"/>
              </a:rPr>
              <a:t>Kết</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hợp</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Dữ</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liệu</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Ứng</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viên</a:t>
            </a:r>
            <a:r>
              <a:rPr kumimoji="0" lang="en-US" altLang="en-US" sz="1000" i="0" u="none" strike="noStrike" cap="none" normalizeH="0" baseline="0" dirty="0">
                <a:ln>
                  <a:noFill/>
                </a:ln>
                <a:solidFill>
                  <a:schemeClr val="tx1"/>
                </a:solidFill>
                <a:effectLst/>
                <a:latin typeface="+mn-lt"/>
              </a:rPr>
              <a:t> (Supply-side) </a:t>
            </a:r>
            <a:r>
              <a:rPr kumimoji="0" lang="en-US" altLang="en-US" sz="1000" b="0" i="0" u="none" strike="noStrike" cap="none" normalizeH="0" baseline="0" dirty="0" err="1">
                <a:ln>
                  <a:noFill/>
                </a:ln>
                <a:solidFill>
                  <a:schemeClr val="tx1"/>
                </a:solidFill>
                <a:effectLst/>
                <a:latin typeface="+mn-lt"/>
              </a:rPr>
              <a:t>Đối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chiếu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dữ</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liệu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tuyển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dụng</a:t>
            </a:r>
            <a:r>
              <a:rPr kumimoji="0" lang="en-US" altLang="en-US" sz="1000" b="0" i="0" u="none" strike="noStrike" cap="none" normalizeH="0" baseline="0" dirty="0">
                <a:ln>
                  <a:noFill/>
                </a:ln>
                <a:solidFill>
                  <a:schemeClr val="tx1"/>
                </a:solidFill>
                <a:effectLst/>
                <a:latin typeface="+mn-lt"/>
              </a:rPr>
              <a:t> (Job Postings) </a:t>
            </a:r>
            <a:r>
              <a:rPr kumimoji="0" lang="en-US" altLang="en-US" sz="1000" b="0" i="0" u="none" strike="noStrike" cap="none" normalizeH="0" baseline="0" dirty="0" err="1">
                <a:ln>
                  <a:noFill/>
                </a:ln>
                <a:solidFill>
                  <a:schemeClr val="tx1"/>
                </a:solidFill>
                <a:effectLst/>
                <a:latin typeface="+mn-lt"/>
              </a:rPr>
              <a:t>với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hồ</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sơ</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nhân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sự</a:t>
            </a:r>
            <a:r>
              <a:rPr kumimoji="0" lang="en-US" altLang="en-US" sz="1000" b="0" i="0" u="none" strike="noStrike" cap="none" normalizeH="0" baseline="0" dirty="0">
                <a:ln>
                  <a:noFill/>
                </a:ln>
                <a:solidFill>
                  <a:schemeClr val="tx1"/>
                </a:solidFill>
                <a:effectLst/>
                <a:latin typeface="+mn-lt"/>
              </a:rPr>
              <a:t> (Profiles) </a:t>
            </a:r>
            <a:r>
              <a:rPr kumimoji="0" lang="en-US" altLang="en-US" sz="1000" b="0" i="0" u="none" strike="noStrike" cap="none" normalizeH="0" baseline="0" dirty="0" err="1">
                <a:ln>
                  <a:noFill/>
                </a:ln>
                <a:solidFill>
                  <a:schemeClr val="tx1"/>
                </a:solidFill>
                <a:effectLst/>
                <a:latin typeface="+mn-lt"/>
              </a:rPr>
              <a:t>để</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phân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tích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khoảng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trống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kỹ</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năng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giữa</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Cung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và</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Cầu</a:t>
            </a:r>
            <a:r>
              <a:rPr kumimoji="0" lang="en-US" altLang="en-US" sz="1000" b="0" i="0" u="none" strike="noStrike" cap="none" normalizeH="0" baseline="0" dirty="0">
                <a:ln>
                  <a:noFill/>
                </a:ln>
                <a:solidFill>
                  <a:schemeClr val="tx1"/>
                </a:solidFill>
                <a:effectLst/>
                <a:latin typeface="+mn-lt"/>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i="0" u="none" strike="noStrike" cap="none" normalizeH="0" baseline="0" dirty="0" err="1">
                <a:ln>
                  <a:noFill/>
                </a:ln>
                <a:solidFill>
                  <a:schemeClr val="tx1"/>
                </a:solidFill>
                <a:effectLst/>
                <a:latin typeface="+mn-lt"/>
              </a:rPr>
              <a:t>Tối</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ưu</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hóa</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Mô</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hình</a:t>
            </a:r>
            <a:r>
              <a:rPr kumimoji="0" lang="en-US" altLang="en-US" sz="1000" i="0" u="none" strike="noStrike" cap="none" normalizeH="0" baseline="0" dirty="0">
                <a:ln>
                  <a:noFill/>
                </a:ln>
                <a:solidFill>
                  <a:schemeClr val="tx1"/>
                </a:solidFill>
                <a:effectLst/>
                <a:latin typeface="+mn-lt"/>
              </a:rPr>
              <a:t> </a:t>
            </a:r>
            <a:r>
              <a:rPr kumimoji="0" lang="en-US" altLang="en-US" sz="1000" i="0" u="none" strike="noStrike" cap="none" normalizeH="0" baseline="0" dirty="0" err="1">
                <a:ln>
                  <a:noFill/>
                </a:ln>
                <a:solidFill>
                  <a:schemeClr val="tx1"/>
                </a:solidFill>
                <a:effectLst/>
                <a:latin typeface="+mn-lt"/>
              </a:rPr>
              <a:t>Lương</a:t>
            </a:r>
            <a:r>
              <a:rPr kumimoji="0" lang="en-US" altLang="en-US" sz="100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Tích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hợp</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thêm</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dữ</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liệu</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vĩ</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mô</a:t>
            </a:r>
            <a:r>
              <a:rPr kumimoji="0" lang="en-US" altLang="en-US" sz="1000" b="0" i="0" u="none" strike="noStrike" cap="none" normalizeH="0" baseline="0" dirty="0">
                <a:ln>
                  <a:noFill/>
                </a:ln>
                <a:solidFill>
                  <a:schemeClr val="tx1"/>
                </a:solidFill>
                <a:effectLst/>
                <a:latin typeface="+mn-lt"/>
              </a:rPr>
              <a:t> (chi </a:t>
            </a:r>
            <a:r>
              <a:rPr kumimoji="0" lang="en-US" altLang="en-US" sz="1000" b="0" i="0" u="none" strike="noStrike" cap="none" normalizeH="0" baseline="0" dirty="0" err="1">
                <a:ln>
                  <a:noFill/>
                </a:ln>
                <a:solidFill>
                  <a:schemeClr val="tx1"/>
                </a:solidFill>
                <a:effectLst/>
                <a:latin typeface="+mn-lt"/>
              </a:rPr>
              <a:t>phí</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sinh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hoạt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lạm</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phát</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để</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cải</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thiện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độ</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chính</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xác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dự</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báo</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đặc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biệt</a:t>
            </a:r>
            <a:r>
              <a:rPr kumimoji="0" lang="en-US" altLang="en-US" sz="1000" b="0" i="0" u="none" strike="noStrike" cap="none" normalizeH="0" baseline="0" dirty="0">
                <a:ln>
                  <a:noFill/>
                </a:ln>
                <a:solidFill>
                  <a:schemeClr val="tx1"/>
                </a:solidFill>
                <a:effectLst/>
                <a:latin typeface="+mn-lt"/>
              </a:rPr>
              <a:t> ở </a:t>
            </a:r>
            <a:r>
              <a:rPr kumimoji="0" lang="en-US" altLang="en-US" sz="1000" b="0" i="0" u="none" strike="noStrike" cap="none" normalizeH="0" baseline="0" dirty="0" err="1">
                <a:ln>
                  <a:noFill/>
                </a:ln>
                <a:solidFill>
                  <a:schemeClr val="tx1"/>
                </a:solidFill>
                <a:effectLst/>
                <a:latin typeface="+mn-lt"/>
              </a:rPr>
              <a:t>phân</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khúc</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lương</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cao</a:t>
            </a:r>
            <a:r>
              <a:rPr kumimoji="0" lang="en-US" altLang="en-US" sz="1000" b="0" i="0" u="none" strike="noStrike" cap="none" normalizeH="0" baseline="0" dirty="0">
                <a:ln>
                  <a:noFill/>
                </a:ln>
                <a:solidFill>
                  <a:schemeClr val="tx1"/>
                </a:solidFill>
                <a:effectLst/>
                <a:latin typeface="+mn-lt"/>
              </a:rPr>
              <a:t> </a:t>
            </a:r>
            <a:r>
              <a:rPr kumimoji="0" lang="en-US" altLang="en-US" sz="1000" b="0" i="0" u="none" strike="noStrike" cap="none" normalizeH="0" baseline="0" dirty="0" err="1">
                <a:ln>
                  <a:noFill/>
                </a:ln>
                <a:solidFill>
                  <a:schemeClr val="tx1"/>
                </a:solidFill>
                <a:effectLst/>
                <a:latin typeface="+mn-lt"/>
              </a:rPr>
              <a:t>cấp</a:t>
            </a:r>
            <a:r>
              <a:rPr kumimoji="0" lang="en-US" altLang="en-US" sz="1000" b="0" i="0" u="none" strike="noStrike" cap="none" normalizeH="0" baseline="0" dirty="0">
                <a:ln>
                  <a:noFill/>
                </a:ln>
                <a:solidFill>
                  <a:schemeClr val="tx1"/>
                </a:solidFill>
                <a:effectLst/>
                <a:latin typeface="+mn-lt"/>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40" name="Google Shape;740;p5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27</a:t>
            </a:fld>
            <a:endParaRPr/>
          </a:p>
        </p:txBody>
      </p:sp>
      <p:sp>
        <p:nvSpPr>
          <p:cNvPr id="731" name="Google Shape;731;p53"/>
          <p:cNvSpPr txBox="1">
            <a:spLocks noGrp="1"/>
          </p:cNvSpPr>
          <p:nvPr>
            <p:ph type="title"/>
          </p:nvPr>
        </p:nvSpPr>
        <p:spPr>
          <a:xfrm>
            <a:off x="8048106" y="622014"/>
            <a:ext cx="63466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2" name="Google Shape;732;p53"/>
          <p:cNvSpPr txBox="1">
            <a:spLocks noGrp="1"/>
          </p:cNvSpPr>
          <p:nvPr>
            <p:ph type="subTitle" idx="1"/>
          </p:nvPr>
        </p:nvSpPr>
        <p:spPr>
          <a:xfrm>
            <a:off x="8048105" y="589049"/>
            <a:ext cx="634669" cy="605665"/>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sz="1000" dirty="0"/>
          </a:p>
        </p:txBody>
      </p:sp>
      <p:sp>
        <p:nvSpPr>
          <p:cNvPr id="733" name="Google Shape;733;p53"/>
          <p:cNvSpPr txBox="1">
            <a:spLocks noGrp="1"/>
          </p:cNvSpPr>
          <p:nvPr>
            <p:ph type="subTitle" idx="2"/>
          </p:nvPr>
        </p:nvSpPr>
        <p:spPr>
          <a:xfrm>
            <a:off x="160256" y="1808371"/>
            <a:ext cx="8837629" cy="105814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6000" dirty="0"/>
              <a:t>THANKS!</a:t>
            </a:r>
            <a:endParaRPr sz="6000" dirty="0"/>
          </a:p>
        </p:txBody>
      </p:sp>
      <p:sp>
        <p:nvSpPr>
          <p:cNvPr id="734" name="Google Shape;734;p53"/>
          <p:cNvSpPr txBox="1">
            <a:spLocks noGrp="1"/>
          </p:cNvSpPr>
          <p:nvPr>
            <p:ph type="subTitle" idx="3"/>
          </p:nvPr>
        </p:nvSpPr>
        <p:spPr>
          <a:xfrm>
            <a:off x="8048106" y="589050"/>
            <a:ext cx="669524" cy="63862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4" name="Rectangle 1">
            <a:extLst>
              <a:ext uri="{FF2B5EF4-FFF2-40B4-BE49-F238E27FC236}">
                <a16:creationId xmlns:a16="http://schemas.microsoft.com/office/drawing/2014/main" id="{9012FFE0-7ECE-420F-B265-9BBCA45D40B2}"/>
              </a:ext>
            </a:extLst>
          </p:cNvPr>
          <p:cNvSpPr>
            <a:spLocks noGrp="1" noChangeArrowheads="1"/>
          </p:cNvSpPr>
          <p:nvPr>
            <p:ph type="subTitle" idx="4"/>
          </p:nvPr>
        </p:nvSpPr>
        <p:spPr bwMode="auto">
          <a:xfrm>
            <a:off x="8032448" y="556084"/>
            <a:ext cx="66952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0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51714645"/>
      </p:ext>
    </p:extLst>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442</TotalTime>
  <Words>4021</Words>
  <Application>Microsoft Office PowerPoint</Application>
  <PresentationFormat>On-screen Show (16:9)</PresentationFormat>
  <Paragraphs>223</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Times New Roman</vt:lpstr>
      <vt:lpstr>Quicksand</vt:lpstr>
      <vt:lpstr>Arial</vt:lpstr>
      <vt:lpstr>The Serif Hand Light</vt:lpstr>
      <vt:lpstr>Bebas Neue</vt:lpstr>
      <vt:lpstr>Mulish</vt:lpstr>
      <vt:lpstr>Elegant Bachelor Thesis by Slidesgo</vt:lpstr>
      <vt:lpstr>KHAI PHÁ DỮ LIỆU TUYỂN DỤNG LINKEDIN  PHÂN TÍCH CẤU TRÚC MÔ TẢ CÔNG VIỆC, KỸ NĂNG VÀ MỨC LƯƠNG</vt:lpstr>
      <vt:lpstr>MỤC LỤC</vt:lpstr>
      <vt:lpstr>1. Giới thiệu</vt:lpstr>
      <vt:lpstr>1. Giới thiệu</vt:lpstr>
      <vt:lpstr>1. Giới thiệu</vt:lpstr>
      <vt:lpstr>1. Giới thiệu</vt:lpstr>
      <vt:lpstr>2. Cơ sở lý thuyết</vt:lpstr>
      <vt:lpstr>2. Cơ sở lý thuyết</vt:lpstr>
      <vt:lpstr>3. Dữ liệu và phương pháp</vt:lpstr>
      <vt:lpstr>3. Dữ liệu và phương pháp</vt:lpstr>
      <vt:lpstr>3. Dữ liệu và phương pháp</vt:lpstr>
      <vt:lpstr>3. Dữ liệu và phương pháp</vt:lpstr>
      <vt:lpstr>3. Dữ liệu và phương pháp</vt:lpstr>
      <vt:lpstr>3. Dữ liệu và phương pháp</vt:lpstr>
      <vt:lpstr>4. Kết quả thực nghiệm và phân tích </vt:lpstr>
      <vt:lpstr>4. Kết quả thực nghiệm và phân tích </vt:lpstr>
      <vt:lpstr>4. Kết quả thực nghiệm và phân tích </vt:lpstr>
      <vt:lpstr>4. Kết quả thực nghiệm và phân tích </vt:lpstr>
      <vt:lpstr>4. Kết quả thực nghiệm và phân tích </vt:lpstr>
      <vt:lpstr>4. Kết quả thực nghiệm và phân tích </vt:lpstr>
      <vt:lpstr>4. Kết quả thực nghiệm và phân tích </vt:lpstr>
      <vt:lpstr>4. Kết quả thực nghiệm và   phân tích  </vt:lpstr>
      <vt:lpstr>4. Kết quả thực nghiệm và phân tích</vt:lpstr>
      <vt:lpstr>4. Kết quả thực nghiệm và phân tích</vt:lpstr>
      <vt:lpstr>4. Kết quả thực nghiệm và phân tích</vt:lpstr>
      <vt:lpstr>5. Tổng kết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KHAI PHÁ DỮ LIỆU TUYỂN DỤNG LINKEDIN  PHÂN TÍCH CẤU TRÚC MÔ TẢ CÔNG VIỆC, KỸ NĂNG VÀ MỨC LƯƠNG</dc:title>
  <dc:creator>minh</dc:creator>
  <cp:lastModifiedBy>minh</cp:lastModifiedBy>
  <cp:revision>54</cp:revision>
  <dcterms:modified xsi:type="dcterms:W3CDTF">2025-12-25T16:45:15Z</dcterms:modified>
</cp:coreProperties>
</file>